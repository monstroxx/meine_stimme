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slides/slide13.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13.xml" ContentType="application/vnd.openxmlformats-officedocument.presentationml.notesSlide+xml"/>
  <Override PartName="/ppt/slides/slide23.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4857799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6271499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179846718"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1447472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5441973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13735278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5525928" name="Slide Image Placeholder 1"/>
          <p:cNvSpPr>
            <a:spLocks noChangeAspect="1" noGrp="1" noRot="1"/>
          </p:cNvSpPr>
          <p:nvPr>
            <p:ph type="sldImg"/>
          </p:nvPr>
        </p:nvSpPr>
        <p:spPr bwMode="auto"/>
      </p:sp>
      <p:sp>
        <p:nvSpPr>
          <p:cNvPr id="676699539" name="Notes Placeholder 2"/>
          <p:cNvSpPr>
            <a:spLocks noGrp="1"/>
          </p:cNvSpPr>
          <p:nvPr>
            <p:ph type="body" idx="1"/>
          </p:nvPr>
        </p:nvSpPr>
        <p:spPr bwMode="auto"/>
        <p:txBody>
          <a:bodyPr/>
          <a:lstStyle/>
          <a:p>
            <a:pPr>
              <a:defRPr/>
            </a:pPr>
            <a:r>
              <a:rPr lang="en-US"/>
              <a:t>Begrüßung. Wir sind Team Monstroxx/TagerTi. Unsere App 'Meine Stimme' gibt Menschen mit geistiger Behinderung in Wohnheimen eine barrierefreie, sprachbasierte Möglichkeit, sich zu beschweren. Live-Demo und Code sind verlinkt. KI-Einsatz offengelegt: Whisper in der App, Claude bei der Entwicklung.</a:t>
            </a:r>
            <a:endParaRPr lang="en-US"/>
          </a:p>
        </p:txBody>
      </p:sp>
      <p:sp>
        <p:nvSpPr>
          <p:cNvPr id="13938782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4135982" name="Slide Image Placeholder 1"/>
          <p:cNvSpPr>
            <a:spLocks noChangeAspect="1" noGrp="1" noRot="1"/>
          </p:cNvSpPr>
          <p:nvPr>
            <p:ph type="sldImg"/>
          </p:nvPr>
        </p:nvSpPr>
        <p:spPr bwMode="auto"/>
      </p:sp>
      <p:sp>
        <p:nvSpPr>
          <p:cNvPr id="499656445" name="Notes Placeholder 2"/>
          <p:cNvSpPr>
            <a:spLocks noGrp="1"/>
          </p:cNvSpPr>
          <p:nvPr>
            <p:ph type="body" idx="1"/>
          </p:nvPr>
        </p:nvSpPr>
        <p:spPr bwMode="auto"/>
        <p:txBody>
          <a:bodyPr/>
          <a:lstStyle/>
          <a:p>
            <a:pPr>
              <a:defRPr/>
            </a:pPr>
            <a:r>
              <a:rPr lang="en-US"/>
              <a:t>Das Kernproblem: ein starkes Machtgefälle. Sich zu beschweren ist doppelt schwer — erstens die Sprach- und Schreibbarriere (der Papierbogen setzt Lesen/Schreiben voraus), zweitens die soziale Hürde: man muss die Beschwerde ausgerechnet der Person geben, gegen die sie sich richtet. Rechtlich ist Barrierefreiheit hier Pflicht: §§ 7, 8 BTHG.</a:t>
            </a:r>
            <a:endParaRPr lang="en-US"/>
          </a:p>
        </p:txBody>
      </p:sp>
      <p:sp>
        <p:nvSpPr>
          <p:cNvPr id="46089146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2537113" name="Slide Image Placeholder 1"/>
          <p:cNvSpPr>
            <a:spLocks noChangeAspect="1" noGrp="1" noRot="1"/>
          </p:cNvSpPr>
          <p:nvPr>
            <p:ph type="sldImg"/>
          </p:nvPr>
        </p:nvSpPr>
        <p:spPr bwMode="auto"/>
      </p:sp>
      <p:sp>
        <p:nvSpPr>
          <p:cNvPr id="1618933577" name="Notes Placeholder 2"/>
          <p:cNvSpPr>
            <a:spLocks noGrp="1"/>
          </p:cNvSpPr>
          <p:nvPr>
            <p:ph type="body" idx="1"/>
          </p:nvPr>
        </p:nvSpPr>
        <p:spPr bwMode="auto"/>
        <p:txBody>
          <a:bodyPr/>
          <a:lstStyle/>
          <a:p>
            <a:pPr>
              <a:defRPr/>
            </a:pPr>
            <a:r>
              <a:rPr lang="en-US"/>
              <a:t>Gesellschaftlich stärkt die App drei Werte: Selbstbestimmung/Teilhabe (selbst äußern), Inklusion/Barrierefreiheit (Sprache statt Schrift), und Gewaltschutz (anonym, direkt an die Leitung). Skaliert auf 13 Einrichtungen des Trägers: zentral und nachverfolgbar statt Papier.</a:t>
            </a:r>
            <a:endParaRPr lang="en-US"/>
          </a:p>
        </p:txBody>
      </p:sp>
      <p:sp>
        <p:nvSpPr>
          <p:cNvPr id="145369282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2188657" name="Slide Image Placeholder 1"/>
          <p:cNvSpPr>
            <a:spLocks noChangeAspect="1" noGrp="1" noRot="1"/>
          </p:cNvSpPr>
          <p:nvPr>
            <p:ph type="sldImg"/>
          </p:nvPr>
        </p:nvSpPr>
        <p:spPr bwMode="auto"/>
      </p:sp>
      <p:sp>
        <p:nvSpPr>
          <p:cNvPr id="665418894" name="Notes Placeholder 2"/>
          <p:cNvSpPr>
            <a:spLocks noGrp="1"/>
          </p:cNvSpPr>
          <p:nvPr>
            <p:ph type="body" idx="1"/>
          </p:nvPr>
        </p:nvSpPr>
        <p:spPr bwMode="auto"/>
        <p:txBody>
          <a:bodyPr/>
          <a:lstStyle/>
          <a:p>
            <a:pPr>
              <a:defRPr/>
            </a:pPr>
            <a:r>
              <a:rPr lang="en-US"/>
              <a:t>Drei Rollen: Bewohner:innen geben ohne Login per Sprache ab. Die Leitung sieht alles, darf auch anonyme Audios hören. Betreuer:innen sehen nur die eigene Einrichtung und dürfen anonyme Audios NICHT hören. Wichtig: Diese Rechte erzwingt die Datenbank selbst.</a:t>
            </a:r>
            <a:endParaRPr lang="en-US"/>
          </a:p>
        </p:txBody>
      </p:sp>
      <p:sp>
        <p:nvSpPr>
          <p:cNvPr id="1039404203"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1968399" name="Slide Image Placeholder 1"/>
          <p:cNvSpPr>
            <a:spLocks noChangeAspect="1" noGrp="1" noRot="1"/>
          </p:cNvSpPr>
          <p:nvPr>
            <p:ph type="sldImg"/>
          </p:nvPr>
        </p:nvSpPr>
        <p:spPr bwMode="auto"/>
      </p:sp>
      <p:sp>
        <p:nvSpPr>
          <p:cNvPr id="831031200" name="Notes Placeholder 2"/>
          <p:cNvSpPr>
            <a:spLocks noGrp="1"/>
          </p:cNvSpPr>
          <p:nvPr>
            <p:ph type="body" idx="1"/>
          </p:nvPr>
        </p:nvSpPr>
        <p:spPr bwMode="auto"/>
        <p:txBody>
          <a:bodyPr/>
          <a:lstStyle/>
          <a:p>
            <a:pPr>
              <a:defRPr/>
            </a:pPr>
            <a:r>
              <a:rPr lang="en-US"/>
              <a:t>Die Idee in einem Satz: sprechen statt schreiben. Die App liest jede Frage vor, nimmt die Antwort auf, transkribiert per KI und schickt alles zentral raus. Der Streifen unten zeigt den ganzen Weg. Bedien-Vorbild ist Mebis: radikal reduziert.</a:t>
            </a:r>
            <a:endParaRPr lang="en-US"/>
          </a:p>
        </p:txBody>
      </p:sp>
      <p:sp>
        <p:nvSpPr>
          <p:cNvPr id="159890705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2161467" name="Slide Image Placeholder 1"/>
          <p:cNvSpPr>
            <a:spLocks noChangeAspect="1" noGrp="1" noRot="1"/>
          </p:cNvSpPr>
          <p:nvPr>
            <p:ph type="sldImg"/>
          </p:nvPr>
        </p:nvSpPr>
        <p:spPr bwMode="auto"/>
      </p:sp>
      <p:sp>
        <p:nvSpPr>
          <p:cNvPr id="671795293" name="Notes Placeholder 2"/>
          <p:cNvSpPr>
            <a:spLocks noGrp="1"/>
          </p:cNvSpPr>
          <p:nvPr>
            <p:ph type="body" idx="1"/>
          </p:nvPr>
        </p:nvSpPr>
        <p:spPr bwMode="auto"/>
        <p:txBody>
          <a:bodyPr/>
          <a:lstStyle/>
          <a:p>
            <a:pPr>
              <a:defRPr/>
            </a:pPr>
            <a:r>
              <a:rPr lang="en-US"/>
              <a:t>Hier die echte Oberfläche, sechs Ebenen: Start → Was ist los? → Deine Idee? → Dein Name? → Abschicken? → Fertig! Ein konsistentes Farbsystem: orange = vorlesen, rot = aufnehmen, grün = senden. Immer nur eine Frage pro Bildschirm, große Knöpfe, echte Symbole.</a:t>
            </a:r>
            <a:endParaRPr lang="en-US"/>
          </a:p>
        </p:txBody>
      </p:sp>
      <p:sp>
        <p:nvSpPr>
          <p:cNvPr id="1978628831"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588076" name="Slide Image Placeholder 1"/>
          <p:cNvSpPr>
            <a:spLocks noChangeAspect="1" noGrp="1" noRot="1"/>
          </p:cNvSpPr>
          <p:nvPr>
            <p:ph type="sldImg"/>
          </p:nvPr>
        </p:nvSpPr>
        <p:spPr bwMode="auto"/>
      </p:sp>
      <p:sp>
        <p:nvSpPr>
          <p:cNvPr id="1168536049" name="Notes Placeholder 2"/>
          <p:cNvSpPr>
            <a:spLocks noGrp="1"/>
          </p:cNvSpPr>
          <p:nvPr>
            <p:ph type="body" idx="1"/>
          </p:nvPr>
        </p:nvSpPr>
        <p:spPr bwMode="auto"/>
        <p:txBody>
          <a:bodyPr/>
          <a:lstStyle/>
          <a:p>
            <a:pPr>
              <a:defRPr/>
            </a:pPr>
            <a:r>
              <a:rPr lang="en-US"/>
              <a:t>Mehrere Ebenen plus die Verwaltung. Ohne Login gibt es weit mehr als drei Funktionen: aufnehmen, vorlesen, anhören, anonym-schalten, KI-Transkription, Tastatur-Alternative. Zusatzpunkte: Audio-Anhang, Login mit Rollen, Status-Verwaltung, Hintergrund-Transkription. Rechts die echte Verwaltungs-Ansicht der Leitung.</a:t>
            </a:r>
            <a:endParaRPr lang="en-US"/>
          </a:p>
        </p:txBody>
      </p:sp>
      <p:sp>
        <p:nvSpPr>
          <p:cNvPr id="2146905974"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9481706" name="Slide Image Placeholder 1"/>
          <p:cNvSpPr>
            <a:spLocks noChangeAspect="1" noGrp="1" noRot="1"/>
          </p:cNvSpPr>
          <p:nvPr>
            <p:ph type="sldImg"/>
          </p:nvPr>
        </p:nvSpPr>
        <p:spPr bwMode="auto"/>
      </p:sp>
      <p:sp>
        <p:nvSpPr>
          <p:cNvPr id="2139438923" name="Notes Placeholder 2"/>
          <p:cNvSpPr>
            <a:spLocks noGrp="1"/>
          </p:cNvSpPr>
          <p:nvPr>
            <p:ph type="body" idx="1"/>
          </p:nvPr>
        </p:nvSpPr>
        <p:spPr bwMode="auto"/>
        <p:txBody>
          <a:bodyPr/>
          <a:lstStyle/>
          <a:p>
            <a:pPr>
              <a:defRPr/>
            </a:pPr>
            <a:r>
              <a:rPr lang="en-US"/>
              <a:t>Die KI der App ist Whisper von OpenAI, die browser-lauffähige Variante über Transformers.js. Entscheidend: sie läuft komplett lokal im Browser per WebAssembly — die Audiodaten verlassen für die Erkennung nicht das Gerät. Lazy geladen für schnellen Start, kein externer Dienst, keine Kosten.</a:t>
            </a:r>
            <a:endParaRPr lang="en-US"/>
          </a:p>
        </p:txBody>
      </p:sp>
      <p:sp>
        <p:nvSpPr>
          <p:cNvPr id="541039931"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8528944" name="Slide Image Placeholder 1"/>
          <p:cNvSpPr>
            <a:spLocks noChangeAspect="1" noGrp="1" noRot="1"/>
          </p:cNvSpPr>
          <p:nvPr>
            <p:ph type="sldImg"/>
          </p:nvPr>
        </p:nvSpPr>
        <p:spPr bwMode="auto"/>
      </p:sp>
      <p:sp>
        <p:nvSpPr>
          <p:cNvPr id="1943589476" name="Notes Placeholder 2"/>
          <p:cNvSpPr>
            <a:spLocks noGrp="1"/>
          </p:cNvSpPr>
          <p:nvPr>
            <p:ph type="body" idx="1"/>
          </p:nvPr>
        </p:nvSpPr>
        <p:spPr bwMode="auto"/>
        <p:txBody>
          <a:bodyPr/>
          <a:lstStyle/>
          <a:p>
            <a:pPr>
              <a:defRPr/>
            </a:pPr>
            <a:r>
              <a:rPr lang="en-US"/>
              <a:t>Der Datenfluss: das Tablet nimmt auf, transkribiert lokal, schickt per POST an eine Serverless Function. Die validiert, lädt die Audios in den privaten Storage, schreibt die DB-Zeile und verschickt die E-Mail mit Anhang. Die Verwaltung liest per GET — aber nur, was die Row-Level-Security erlaubt. Zwei zentrale Entscheidungen: Identität über die URL und Hintergrund-Transkription.</a:t>
            </a:r>
            <a:endParaRPr lang="en-US"/>
          </a:p>
        </p:txBody>
      </p:sp>
      <p:sp>
        <p:nvSpPr>
          <p:cNvPr id="103399823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6208475" name="Slide Image Placeholder 1"/>
          <p:cNvSpPr>
            <a:spLocks noChangeAspect="1" noGrp="1" noRot="1"/>
          </p:cNvSpPr>
          <p:nvPr>
            <p:ph type="sldImg"/>
          </p:nvPr>
        </p:nvSpPr>
        <p:spPr bwMode="auto"/>
      </p:sp>
      <p:sp>
        <p:nvSpPr>
          <p:cNvPr id="388250748" name="Notes Placeholder 2"/>
          <p:cNvSpPr>
            <a:spLocks noGrp="1"/>
          </p:cNvSpPr>
          <p:nvPr>
            <p:ph type="body" idx="1"/>
          </p:nvPr>
        </p:nvSpPr>
        <p:spPr bwMode="auto"/>
        <p:txBody>
          <a:bodyPr/>
          <a:lstStyle/>
          <a:p>
            <a:pPr>
              <a:defRPr/>
            </a:pPr>
            <a:r>
              <a:rPr lang="en-US"/>
              <a:t>Das Herz ist die Tabelle complaints. Jede Design-Entscheidung hat einen Grund: UUID statt fortlaufender Zahl (nicht erratbar), immer Text UND Audio (die Aufnahme ist Beweismittel, falls die KI etwas verfälscht), anonym per Default (Datensparsamkeit), check-Constraint erzwingt gültige Status, und bewusst keine IP oder Geräte-ID — Datenminimierung.</a:t>
            </a:r>
            <a:endParaRPr lang="en-US"/>
          </a:p>
        </p:txBody>
      </p:sp>
      <p:sp>
        <p:nvSpPr>
          <p:cNvPr id="567514025"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3096174" name="Slide Image Placeholder 1"/>
          <p:cNvSpPr>
            <a:spLocks noChangeAspect="1" noGrp="1" noRot="1"/>
          </p:cNvSpPr>
          <p:nvPr>
            <p:ph type="sldImg"/>
          </p:nvPr>
        </p:nvSpPr>
        <p:spPr bwMode="auto"/>
      </p:sp>
      <p:sp>
        <p:nvSpPr>
          <p:cNvPr id="294865726" name="Notes Placeholder 2"/>
          <p:cNvSpPr>
            <a:spLocks noGrp="1"/>
          </p:cNvSpPr>
          <p:nvPr>
            <p:ph type="body" idx="1"/>
          </p:nvPr>
        </p:nvSpPr>
        <p:spPr bwMode="auto"/>
        <p:txBody>
          <a:bodyPr/>
          <a:lstStyle/>
          <a:p>
            <a:pPr>
              <a:defRPr/>
            </a:pPr>
            <a:r>
              <a:rPr lang="en-US"/>
              <a:t>Sicherheit steckt in der Datenbank selbst. Row-Level-Security heißt: die DB prüft bei jeder Abfrage die Berechtigung. Der Kiosk mit anonymer Rolle darf nur einreichen, nie lesen. Personal sieht nur die eigene Einrichtung, die Leitung alles. Und es gibt bewusst keine Delete-Policy — über die App kann niemand löschen.</a:t>
            </a:r>
            <a:endParaRPr lang="en-US"/>
          </a:p>
        </p:txBody>
      </p:sp>
      <p:sp>
        <p:nvSpPr>
          <p:cNvPr id="1517579592"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1539971" name="Slide Image Placeholder 1"/>
          <p:cNvSpPr>
            <a:spLocks noChangeAspect="1" noGrp="1" noRot="1"/>
          </p:cNvSpPr>
          <p:nvPr>
            <p:ph type="sldImg"/>
          </p:nvPr>
        </p:nvSpPr>
        <p:spPr bwMode="auto"/>
      </p:sp>
      <p:sp>
        <p:nvSpPr>
          <p:cNvPr id="1663359361" name="Notes Placeholder 2"/>
          <p:cNvSpPr>
            <a:spLocks noGrp="1"/>
          </p:cNvSpPr>
          <p:nvPr>
            <p:ph type="body" idx="1"/>
          </p:nvPr>
        </p:nvSpPr>
        <p:spPr bwMode="auto"/>
        <p:txBody>
          <a:bodyPr/>
          <a:lstStyle/>
          <a:p>
            <a:pPr>
              <a:defRPr/>
            </a:pPr>
            <a:r>
              <a:rPr lang="en-US"/>
              <a:t>Erste Architektur-Entscheidung im Code: Die Einrichtung kommt aus der URL. Jedes Tablet startet auf einer festen Adresse wie /wohnform-03. Wir lesen den ersten Pfad-Abschnitt frisch bei jedem Laden. Kiosk-Browser löschen Cookies beim Neustart — die URL nicht. localStorage ist nur ein Notnagel.</a:t>
            </a:r>
            <a:endParaRPr lang="en-US"/>
          </a:p>
        </p:txBody>
      </p:sp>
      <p:sp>
        <p:nvSpPr>
          <p:cNvPr id="40422169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36804" name="Slide Image Placeholder 1"/>
          <p:cNvSpPr>
            <a:spLocks noChangeAspect="1" noGrp="1" noRot="1"/>
          </p:cNvSpPr>
          <p:nvPr>
            <p:ph type="sldImg"/>
          </p:nvPr>
        </p:nvSpPr>
        <p:spPr bwMode="auto"/>
      </p:sp>
      <p:sp>
        <p:nvSpPr>
          <p:cNvPr id="1523095028" name="Notes Placeholder 2"/>
          <p:cNvSpPr>
            <a:spLocks noGrp="1"/>
          </p:cNvSpPr>
          <p:nvPr>
            <p:ph type="body" idx="1"/>
          </p:nvPr>
        </p:nvSpPr>
        <p:spPr bwMode="auto"/>
        <p:txBody>
          <a:bodyPr/>
          <a:lstStyle/>
          <a:p>
            <a:pPr>
              <a:defRPr/>
            </a:pPr>
            <a:r>
              <a:rPr lang="en-US"/>
              <a:t>Der KI-Aufruf: Das Whisper-Modell wird als Singleton nur einmal geladen und per dynamischem Import lazy nachgeladen, damit der Kiosk schnell startet. Wir erkennen auf Deutsch. Weil Spracherkennung nie perfekt ist — vor allem bei Namen — ist der Text editierbar, plus Tastatur als Alternative.</a:t>
            </a:r>
            <a:endParaRPr lang="en-US"/>
          </a:p>
        </p:txBody>
      </p:sp>
      <p:sp>
        <p:nvSpPr>
          <p:cNvPr id="179363153"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3858392" name="Slide Image Placeholder 1"/>
          <p:cNvSpPr>
            <a:spLocks noChangeAspect="1" noGrp="1" noRot="1"/>
          </p:cNvSpPr>
          <p:nvPr>
            <p:ph type="sldImg"/>
          </p:nvPr>
        </p:nvSpPr>
        <p:spPr bwMode="auto"/>
      </p:sp>
      <p:sp>
        <p:nvSpPr>
          <p:cNvPr id="277508083" name="Notes Placeholder 2"/>
          <p:cNvSpPr>
            <a:spLocks noGrp="1"/>
          </p:cNvSpPr>
          <p:nvPr>
            <p:ph type="body" idx="1"/>
          </p:nvPr>
        </p:nvSpPr>
        <p:spPr bwMode="auto"/>
        <p:txBody>
          <a:bodyPr/>
          <a:lstStyle/>
          <a:p>
            <a:pPr>
              <a:defRPr/>
            </a:pPr>
            <a:r>
              <a:rPr lang="en-US"/>
              <a:t>Damit niemand auf die KI warten muss, läuft die Erkennung im Hintergrund, während der Nutzer weiterklickt. Ein Token-System verhindert, dass ein spätes Ergebnis eine neue Aufnahme überschreibt. Erst beim Senden ruft awaitTranscriptions() auf und wartet kurz — so landen nie unfertige Texte in Mail oder Datenbank.</a:t>
            </a:r>
            <a:endParaRPr lang="en-US"/>
          </a:p>
        </p:txBody>
      </p:sp>
      <p:sp>
        <p:nvSpPr>
          <p:cNvPr id="260844822"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2834530" name="Slide Image Placeholder 1"/>
          <p:cNvSpPr>
            <a:spLocks noChangeAspect="1" noGrp="1" noRot="1"/>
          </p:cNvSpPr>
          <p:nvPr>
            <p:ph type="sldImg"/>
          </p:nvPr>
        </p:nvSpPr>
        <p:spPr bwMode="auto"/>
      </p:sp>
      <p:sp>
        <p:nvSpPr>
          <p:cNvPr id="1334750129" name="Notes Placeholder 2"/>
          <p:cNvSpPr>
            <a:spLocks noGrp="1"/>
          </p:cNvSpPr>
          <p:nvPr>
            <p:ph type="body" idx="1"/>
          </p:nvPr>
        </p:nvSpPr>
        <p:spPr bwMode="auto"/>
        <p:txBody>
          <a:bodyPr/>
          <a:lstStyle/>
          <a:p>
            <a:pPr>
              <a:defRPr/>
            </a:pPr>
            <a:r>
              <a:rPr lang="en-US"/>
              <a:t>Backend und Ethik zusammen: Wir validieren auch serverseitig, nicht nur in der UI. Geheimnisse wie die zentrale Mailadresse liegen in Umgebungsvariablen, nie im Frontend. Und der ethische Kern: eine Stimme ist erkennbar, also widerspricht ein Audio der Anonymität. Deshalb bekommt bei anonymen Beschwerden nur die Leitung Zugriff — über eine signierte URL, die nach 60 Sekunden abläuft.</a:t>
            </a:r>
            <a:endParaRPr lang="en-US"/>
          </a:p>
        </p:txBody>
      </p:sp>
      <p:sp>
        <p:nvSpPr>
          <p:cNvPr id="785856917"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4018143" name="Slide Image Placeholder 1"/>
          <p:cNvSpPr>
            <a:spLocks noChangeAspect="1" noGrp="1" noRot="1"/>
          </p:cNvSpPr>
          <p:nvPr>
            <p:ph type="sldImg"/>
          </p:nvPr>
        </p:nvSpPr>
        <p:spPr bwMode="auto"/>
      </p:sp>
      <p:sp>
        <p:nvSpPr>
          <p:cNvPr id="882731433" name="Notes Placeholder 2"/>
          <p:cNvSpPr>
            <a:spLocks noGrp="1"/>
          </p:cNvSpPr>
          <p:nvPr>
            <p:ph type="body" idx="1"/>
          </p:nvPr>
        </p:nvSpPr>
        <p:spPr bwMode="auto"/>
        <p:txBody>
          <a:bodyPr/>
          <a:lstStyle/>
          <a:p>
            <a:pPr>
              <a:defRPr/>
            </a:pPr>
            <a:r>
              <a:rPr lang="en-US"/>
              <a:t>Sicherheit auf einen Blick: TLS und verschlüsselte Speicherung, bcrypt-Hashing, Row-Level-Security, Geheimnisse nur in Env-Vars, Server-Validierung, privater Audio-Storage mit signierten URLs, Datenminimierung, die Anonym-Sperre für Stimmen, und EU-Hosting in Frankfurt. Dazu ein Löschkonzept: max. 12 Monate, anonyme Audios sofort nach Bearbeitung.</a:t>
            </a:r>
            <a:endParaRPr lang="en-US"/>
          </a:p>
        </p:txBody>
      </p:sp>
      <p:sp>
        <p:nvSpPr>
          <p:cNvPr id="287723566"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84505" name="Slide Image Placeholder 1"/>
          <p:cNvSpPr>
            <a:spLocks noChangeAspect="1" noGrp="1" noRot="1"/>
          </p:cNvSpPr>
          <p:nvPr>
            <p:ph type="sldImg"/>
          </p:nvPr>
        </p:nvSpPr>
        <p:spPr bwMode="auto"/>
      </p:sp>
      <p:sp>
        <p:nvSpPr>
          <p:cNvPr id="650594641" name="Notes Placeholder 2"/>
          <p:cNvSpPr>
            <a:spLocks noGrp="1"/>
          </p:cNvSpPr>
          <p:nvPr>
            <p:ph type="body" idx="1"/>
          </p:nvPr>
        </p:nvSpPr>
        <p:spPr bwMode="auto"/>
        <p:txBody>
          <a:bodyPr/>
          <a:lstStyle/>
          <a:p>
            <a:pPr>
              <a:defRPr/>
            </a:pPr>
            <a:r>
              <a:rPr lang="en-US"/>
              <a:t>Der Stack: Frontend in TypeScript mit React/Vite, Tailwind, Zustand, MediaRecorder und Web Speech. KI und Backend: Whisper über Transformers.js, Vercel Serverless. Daten: Supabase Postgres in Frankfurt mit RLS und privatem Storage, Resend für Mail. Wichtig und Pflicht: KI-Offenlegung — Whisper in der App, Claude bei der Entwicklung.</a:t>
            </a:r>
            <a:endParaRPr lang="en-US"/>
          </a:p>
        </p:txBody>
      </p:sp>
      <p:sp>
        <p:nvSpPr>
          <p:cNvPr id="1682768211"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3992991" name="Slide Image Placeholder 1"/>
          <p:cNvSpPr>
            <a:spLocks noChangeAspect="1" noGrp="1" noRot="1"/>
          </p:cNvSpPr>
          <p:nvPr>
            <p:ph type="sldImg"/>
          </p:nvPr>
        </p:nvSpPr>
        <p:spPr bwMode="auto"/>
      </p:sp>
      <p:sp>
        <p:nvSpPr>
          <p:cNvPr id="1289649604" name="Notes Placeholder 2"/>
          <p:cNvSpPr>
            <a:spLocks noGrp="1"/>
          </p:cNvSpPr>
          <p:nvPr>
            <p:ph type="body" idx="1"/>
          </p:nvPr>
        </p:nvSpPr>
        <p:spPr bwMode="auto"/>
        <p:txBody>
          <a:bodyPr/>
          <a:lstStyle/>
          <a:p>
            <a:pPr>
              <a:defRPr/>
            </a:pPr>
            <a:r>
              <a:rPr lang="en-US"/>
              <a:t>Der Prozess über die Woche, mit täglichem Logbuch und sauberer Git-Historie: Montag Setup und Konzept inkl. Schema und RLS. Dienstag Aufnahme und Whisper. Mittwoch das Backend end-to-end gegen echte Dienste. Donnerstag Verwaltung, Login und Sicherheit inkl. Anonym-Sperre. Freitag Live-Deploy, Hintergrund-Transkription, Doku und Retro.</a:t>
            </a:r>
            <a:endParaRPr lang="en-US"/>
          </a:p>
        </p:txBody>
      </p:sp>
      <p:sp>
        <p:nvSpPr>
          <p:cNvPr id="1498150283"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7471339" name="Slide Image Placeholder 1"/>
          <p:cNvSpPr>
            <a:spLocks noChangeAspect="1" noGrp="1" noRot="1"/>
          </p:cNvSpPr>
          <p:nvPr>
            <p:ph type="sldImg"/>
          </p:nvPr>
        </p:nvSpPr>
        <p:spPr bwMode="auto"/>
      </p:sp>
      <p:sp>
        <p:nvSpPr>
          <p:cNvPr id="107900344" name="Notes Placeholder 2"/>
          <p:cNvSpPr>
            <a:spLocks noGrp="1"/>
          </p:cNvSpPr>
          <p:nvPr>
            <p:ph type="body" idx="1"/>
          </p:nvPr>
        </p:nvSpPr>
        <p:spPr bwMode="auto"/>
        <p:txBody>
          <a:bodyPr/>
          <a:lstStyle/>
          <a:p>
            <a:pPr>
              <a:defRPr/>
            </a:pPr>
            <a:r>
              <a:rPr lang="en-US"/>
              <a:t>Ehrlich zu den Hürden: Whisper war ungenau bei Namen — wir wechselten das Modell und machten Text editierbar. Identität ohne Cookies lösten wir über die URL. Die DB war nur über IPv6 erreichbar — Migration über den Supabase-MCP-Server. Ein Login-Bug lag an fehlender instance_id bei SQL-Insert; Lehre: Accounts über Studio anlegen. Mail-Blacklist umgangen. Und die KI-Wartezeit haben wir mit Hintergrund-Transkription gelöst.</a:t>
            </a:r>
            <a:endParaRPr lang="en-US"/>
          </a:p>
        </p:txBody>
      </p:sp>
      <p:sp>
        <p:nvSpPr>
          <p:cNvPr id="1711566659"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778346" name="Slide Image Placeholder 1"/>
          <p:cNvSpPr>
            <a:spLocks noChangeAspect="1" noGrp="1" noRot="1"/>
          </p:cNvSpPr>
          <p:nvPr>
            <p:ph type="sldImg"/>
          </p:nvPr>
        </p:nvSpPr>
        <p:spPr bwMode="auto"/>
      </p:sp>
      <p:sp>
        <p:nvSpPr>
          <p:cNvPr id="1226107102" name="Notes Placeholder 2"/>
          <p:cNvSpPr>
            <a:spLocks noGrp="1"/>
          </p:cNvSpPr>
          <p:nvPr>
            <p:ph type="body" idx="1"/>
          </p:nvPr>
        </p:nvSpPr>
        <p:spPr bwMode="auto"/>
        <p:txBody>
          <a:bodyPr/>
          <a:lstStyle/>
          <a:p>
            <a:pPr>
              <a:defRPr/>
            </a:pPr>
            <a:r>
              <a:rPr lang="en-US"/>
              <a:t>Wir haben in drei parallelen Strängen gearbeitet: Bewohner-Frontend, Backend/DB/Mail, und Verwaltung/Sicherheit/Doku. Der Schlüssel war, den Daten-Vertrag — die Feldnamen zwischen Frontend und Backend — ganz früh einzufrieren. Dadurch konnte jeder unabhängig arbeiten. Abstimmung über Git und ein tägliches Board.</a:t>
            </a:r>
            <a:endParaRPr lang="en-US"/>
          </a:p>
        </p:txBody>
      </p:sp>
      <p:sp>
        <p:nvSpPr>
          <p:cNvPr id="986672403"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8751804" name="Slide Image Placeholder 1"/>
          <p:cNvSpPr>
            <a:spLocks noChangeAspect="1" noGrp="1" noRot="1"/>
          </p:cNvSpPr>
          <p:nvPr>
            <p:ph type="sldImg"/>
          </p:nvPr>
        </p:nvSpPr>
        <p:spPr bwMode="auto"/>
      </p:sp>
      <p:sp>
        <p:nvSpPr>
          <p:cNvPr id="1013492460" name="Notes Placeholder 2"/>
          <p:cNvSpPr>
            <a:spLocks noGrp="1"/>
          </p:cNvSpPr>
          <p:nvPr>
            <p:ph type="body" idx="1"/>
          </p:nvPr>
        </p:nvSpPr>
        <p:spPr bwMode="auto"/>
        <p:txBody>
          <a:bodyPr/>
          <a:lstStyle/>
          <a:p>
            <a:pPr>
              <a:defRPr/>
            </a:pPr>
            <a:r>
              <a:rPr lang="en-US"/>
              <a:t>Retrospektive. Gut lief: frühes klares Konzept, paralleles Arbeiten über feste Schnittstellen, lokale KI, und dass der komplette Weg live funktioniert. Weniger gut: Whisper bei Namen, die Mail-Blacklist, die Auth-Stolperfalle, wenig Zeit auf echter Hardware. Gelernt: Schnittstellen früh einfrieren, Barrierefreiheit heißt radikal reduzieren, Ethik gehört in den Code, und Accounts nie per rohem SQL anlegen.</a:t>
            </a:r>
            <a:endParaRPr lang="en-US"/>
          </a:p>
        </p:txBody>
      </p:sp>
      <p:sp>
        <p:nvSpPr>
          <p:cNvPr id="1700702173"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7041143" name="Slide Image Placeholder 1"/>
          <p:cNvSpPr>
            <a:spLocks noChangeAspect="1" noGrp="1" noRot="1"/>
          </p:cNvSpPr>
          <p:nvPr>
            <p:ph type="sldImg"/>
          </p:nvPr>
        </p:nvSpPr>
        <p:spPr bwMode="auto"/>
      </p:sp>
      <p:sp>
        <p:nvSpPr>
          <p:cNvPr id="589151050" name="Notes Placeholder 2"/>
          <p:cNvSpPr>
            <a:spLocks noGrp="1"/>
          </p:cNvSpPr>
          <p:nvPr>
            <p:ph type="body" idx="1"/>
          </p:nvPr>
        </p:nvSpPr>
        <p:spPr bwMode="auto"/>
        <p:txBody>
          <a:bodyPr/>
          <a:lstStyle/>
          <a:p>
            <a:pPr>
              <a:defRPr/>
            </a:pPr>
            <a:r>
              <a:rPr lang="en-US"/>
              <a:t>Ausblick: automatische Kategorisierung und Dringlichkeit per LLM, eigene verifizierte Mail-Domain, echte Kiosk-Hardware und Rollout auf alle 13 Einrichtungen — der URL-Mechanismus ist generisch. Dazu automatisierte Löschjobs, eine Kommentar- und Weiterleitungsfunktion, und Barrierefreiheits-Feinschliff auf echten Tablets.</a:t>
            </a:r>
            <a:endParaRPr lang="en-US"/>
          </a:p>
        </p:txBody>
      </p:sp>
      <p:sp>
        <p:nvSpPr>
          <p:cNvPr id="1135812080"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3271554" name="Slide Image Placeholder 1"/>
          <p:cNvSpPr>
            <a:spLocks noChangeAspect="1" noGrp="1" noRot="1"/>
          </p:cNvSpPr>
          <p:nvPr>
            <p:ph type="sldImg"/>
          </p:nvPr>
        </p:nvSpPr>
        <p:spPr bwMode="auto"/>
      </p:sp>
      <p:sp>
        <p:nvSpPr>
          <p:cNvPr id="1469847375" name="Notes Placeholder 2"/>
          <p:cNvSpPr>
            <a:spLocks noGrp="1"/>
          </p:cNvSpPr>
          <p:nvPr>
            <p:ph type="body" idx="1"/>
          </p:nvPr>
        </p:nvSpPr>
        <p:spPr bwMode="auto"/>
        <p:txBody>
          <a:bodyPr/>
          <a:lstStyle/>
          <a:p>
            <a:pPr>
              <a:defRPr/>
            </a:pPr>
            <a:r>
              <a:rPr lang="en-US"/>
              <a:t>Danke! Kernbotschaft zum Schluss: Meine Stimme gibt Menschen, die sonst überhört werden, eine niederschwellige, sichere und selbstbestimmte Beschwerdemöglichkeit. Hier die Links zur Live-Demo und zum Code, unsere Quellen und Vorbilder, und die KI-Offenlegung. Jetzt gerne Fragen — oder direkt die Live-Demo.</a:t>
            </a:r>
            <a:endParaRPr lang="en-US"/>
          </a:p>
        </p:txBody>
      </p:sp>
      <p:sp>
        <p:nvSpPr>
          <p:cNvPr id="499894223"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12A4E"/>
        </a:solidFill>
      </p:bgPr>
    </p:bg>
    <p:spTree>
      <p:nvGrpSpPr>
        <p:cNvPr id="1" name=""/>
        <p:cNvGrpSpPr/>
        <p:nvPr/>
      </p:nvGrpSpPr>
      <p:grpSpPr bwMode="auto">
        <a:xfrm>
          <a:off x="0" y="0"/>
          <a:ext cx="0" cy="0"/>
          <a:chOff x="0" y="0"/>
          <a:chExt cx="0" cy="0"/>
        </a:xfrm>
      </p:grpSpPr>
      <p:sp>
        <p:nvSpPr>
          <p:cNvPr id="55893931" name="Shape 0"/>
          <p:cNvSpPr/>
          <p:nvPr/>
        </p:nvSpPr>
        <p:spPr bwMode="auto">
          <a:xfrm>
            <a:off x="7955280" y="936346"/>
            <a:ext cx="101600" cy="230429"/>
          </a:xfrm>
          <a:prstGeom prst="roundRect">
            <a:avLst>
              <a:gd name="adj" fmla="val 50000"/>
            </a:avLst>
          </a:prstGeom>
          <a:solidFill>
            <a:srgbClr val="2563C9"/>
          </a:solidFill>
          <a:ln/>
        </p:spPr>
      </p:sp>
      <p:sp>
        <p:nvSpPr>
          <p:cNvPr id="1526981926" name="Shape 1"/>
          <p:cNvSpPr/>
          <p:nvPr/>
        </p:nvSpPr>
        <p:spPr bwMode="auto">
          <a:xfrm>
            <a:off x="8142438" y="825246"/>
            <a:ext cx="101600" cy="452628"/>
          </a:xfrm>
          <a:prstGeom prst="roundRect">
            <a:avLst>
              <a:gd name="adj" fmla="val 50000"/>
            </a:avLst>
          </a:prstGeom>
          <a:solidFill>
            <a:srgbClr val="F59E0B"/>
          </a:solidFill>
          <a:ln/>
        </p:spPr>
      </p:sp>
      <p:sp>
        <p:nvSpPr>
          <p:cNvPr id="655420625" name="Shape 2"/>
          <p:cNvSpPr/>
          <p:nvPr/>
        </p:nvSpPr>
        <p:spPr bwMode="auto">
          <a:xfrm>
            <a:off x="8329596" y="701802"/>
            <a:ext cx="101600" cy="699516"/>
          </a:xfrm>
          <a:prstGeom prst="roundRect">
            <a:avLst>
              <a:gd name="adj" fmla="val 50000"/>
            </a:avLst>
          </a:prstGeom>
          <a:solidFill>
            <a:srgbClr val="3E6FD1"/>
          </a:solidFill>
          <a:ln/>
        </p:spPr>
      </p:sp>
      <p:sp>
        <p:nvSpPr>
          <p:cNvPr id="1183997843" name="Shape 3"/>
          <p:cNvSpPr/>
          <p:nvPr/>
        </p:nvSpPr>
        <p:spPr bwMode="auto">
          <a:xfrm>
            <a:off x="8516754" y="866394"/>
            <a:ext cx="101600" cy="370332"/>
          </a:xfrm>
          <a:prstGeom prst="roundRect">
            <a:avLst>
              <a:gd name="adj" fmla="val 50000"/>
            </a:avLst>
          </a:prstGeom>
          <a:solidFill>
            <a:srgbClr val="2E8B57"/>
          </a:solidFill>
          <a:ln/>
        </p:spPr>
      </p:sp>
      <p:sp>
        <p:nvSpPr>
          <p:cNvPr id="69221809" name="Shape 4"/>
          <p:cNvSpPr/>
          <p:nvPr/>
        </p:nvSpPr>
        <p:spPr bwMode="auto">
          <a:xfrm>
            <a:off x="8703912" y="640080"/>
            <a:ext cx="101600" cy="822960"/>
          </a:xfrm>
          <a:prstGeom prst="roundRect">
            <a:avLst>
              <a:gd name="adj" fmla="val 50000"/>
            </a:avLst>
          </a:prstGeom>
          <a:solidFill>
            <a:srgbClr val="2563C9"/>
          </a:solidFill>
          <a:ln/>
        </p:spPr>
      </p:sp>
      <p:sp>
        <p:nvSpPr>
          <p:cNvPr id="810825819" name="Shape 5"/>
          <p:cNvSpPr/>
          <p:nvPr/>
        </p:nvSpPr>
        <p:spPr bwMode="auto">
          <a:xfrm>
            <a:off x="8891069" y="796442"/>
            <a:ext cx="101600" cy="510235"/>
          </a:xfrm>
          <a:prstGeom prst="roundRect">
            <a:avLst>
              <a:gd name="adj" fmla="val 50000"/>
            </a:avLst>
          </a:prstGeom>
          <a:solidFill>
            <a:srgbClr val="F59E0B"/>
          </a:solidFill>
          <a:ln/>
        </p:spPr>
      </p:sp>
      <p:sp>
        <p:nvSpPr>
          <p:cNvPr id="1715318518" name="Shape 6"/>
          <p:cNvSpPr/>
          <p:nvPr/>
        </p:nvSpPr>
        <p:spPr bwMode="auto">
          <a:xfrm>
            <a:off x="9078227" y="907542"/>
            <a:ext cx="101600" cy="288036"/>
          </a:xfrm>
          <a:prstGeom prst="roundRect">
            <a:avLst>
              <a:gd name="adj" fmla="val 50000"/>
            </a:avLst>
          </a:prstGeom>
          <a:solidFill>
            <a:srgbClr val="3E6FD1"/>
          </a:solidFill>
          <a:ln/>
        </p:spPr>
      </p:sp>
      <p:sp>
        <p:nvSpPr>
          <p:cNvPr id="1160088257" name="Shape 7"/>
          <p:cNvSpPr/>
          <p:nvPr/>
        </p:nvSpPr>
        <p:spPr bwMode="auto">
          <a:xfrm>
            <a:off x="9265385" y="742950"/>
            <a:ext cx="101600" cy="617220"/>
          </a:xfrm>
          <a:prstGeom prst="roundRect">
            <a:avLst>
              <a:gd name="adj" fmla="val 50000"/>
            </a:avLst>
          </a:prstGeom>
          <a:solidFill>
            <a:srgbClr val="2E8B57"/>
          </a:solidFill>
          <a:ln/>
        </p:spPr>
      </p:sp>
      <p:sp>
        <p:nvSpPr>
          <p:cNvPr id="556499742" name="Shape 8"/>
          <p:cNvSpPr/>
          <p:nvPr/>
        </p:nvSpPr>
        <p:spPr bwMode="auto">
          <a:xfrm>
            <a:off x="9452543" y="845820"/>
            <a:ext cx="101600" cy="411480"/>
          </a:xfrm>
          <a:prstGeom prst="roundRect">
            <a:avLst>
              <a:gd name="adj" fmla="val 50000"/>
            </a:avLst>
          </a:prstGeom>
          <a:solidFill>
            <a:srgbClr val="2563C9"/>
          </a:solidFill>
          <a:ln/>
        </p:spPr>
      </p:sp>
      <p:sp>
        <p:nvSpPr>
          <p:cNvPr id="2123542255" name="Shape 9"/>
          <p:cNvSpPr/>
          <p:nvPr/>
        </p:nvSpPr>
        <p:spPr bwMode="auto">
          <a:xfrm>
            <a:off x="9639701" y="681227"/>
            <a:ext cx="101600" cy="740664"/>
          </a:xfrm>
          <a:prstGeom prst="roundRect">
            <a:avLst>
              <a:gd name="adj" fmla="val 50000"/>
            </a:avLst>
          </a:prstGeom>
          <a:solidFill>
            <a:srgbClr val="F59E0B"/>
          </a:solidFill>
          <a:ln/>
        </p:spPr>
      </p:sp>
      <p:sp>
        <p:nvSpPr>
          <p:cNvPr id="423048451" name="Shape 10"/>
          <p:cNvSpPr/>
          <p:nvPr/>
        </p:nvSpPr>
        <p:spPr bwMode="auto">
          <a:xfrm>
            <a:off x="9826859" y="886968"/>
            <a:ext cx="101600" cy="329184"/>
          </a:xfrm>
          <a:prstGeom prst="roundRect">
            <a:avLst>
              <a:gd name="adj" fmla="val 50000"/>
            </a:avLst>
          </a:prstGeom>
          <a:solidFill>
            <a:srgbClr val="3E6FD1"/>
          </a:solidFill>
          <a:ln/>
        </p:spPr>
      </p:sp>
      <p:sp>
        <p:nvSpPr>
          <p:cNvPr id="392125306" name="Shape 11"/>
          <p:cNvSpPr/>
          <p:nvPr/>
        </p:nvSpPr>
        <p:spPr bwMode="auto">
          <a:xfrm>
            <a:off x="10014017" y="771754"/>
            <a:ext cx="101600" cy="559613"/>
          </a:xfrm>
          <a:prstGeom prst="roundRect">
            <a:avLst>
              <a:gd name="adj" fmla="val 50000"/>
            </a:avLst>
          </a:prstGeom>
          <a:solidFill>
            <a:srgbClr val="2E8B57"/>
          </a:solidFill>
          <a:ln/>
        </p:spPr>
      </p:sp>
      <p:sp>
        <p:nvSpPr>
          <p:cNvPr id="707166167" name="Shape 12"/>
          <p:cNvSpPr/>
          <p:nvPr/>
        </p:nvSpPr>
        <p:spPr bwMode="auto">
          <a:xfrm>
            <a:off x="10201175" y="928116"/>
            <a:ext cx="101600" cy="246888"/>
          </a:xfrm>
          <a:prstGeom prst="roundRect">
            <a:avLst>
              <a:gd name="adj" fmla="val 50000"/>
            </a:avLst>
          </a:prstGeom>
          <a:solidFill>
            <a:srgbClr val="2563C9"/>
          </a:solidFill>
          <a:ln/>
        </p:spPr>
      </p:sp>
      <p:sp>
        <p:nvSpPr>
          <p:cNvPr id="866927926" name="Shape 13"/>
          <p:cNvSpPr/>
          <p:nvPr/>
        </p:nvSpPr>
        <p:spPr bwMode="auto">
          <a:xfrm>
            <a:off x="10388333" y="714146"/>
            <a:ext cx="101600" cy="674827"/>
          </a:xfrm>
          <a:prstGeom prst="roundRect">
            <a:avLst>
              <a:gd name="adj" fmla="val 50000"/>
            </a:avLst>
          </a:prstGeom>
          <a:solidFill>
            <a:srgbClr val="F59E0B"/>
          </a:solidFill>
          <a:ln/>
        </p:spPr>
      </p:sp>
      <p:sp>
        <p:nvSpPr>
          <p:cNvPr id="1714537113" name="Shape 14"/>
          <p:cNvSpPr/>
          <p:nvPr/>
        </p:nvSpPr>
        <p:spPr bwMode="auto">
          <a:xfrm>
            <a:off x="10575491" y="837590"/>
            <a:ext cx="101600" cy="427939"/>
          </a:xfrm>
          <a:prstGeom prst="roundRect">
            <a:avLst>
              <a:gd name="adj" fmla="val 50000"/>
            </a:avLst>
          </a:prstGeom>
          <a:solidFill>
            <a:srgbClr val="3E6FD1"/>
          </a:solidFill>
          <a:ln/>
        </p:spPr>
      </p:sp>
      <p:sp>
        <p:nvSpPr>
          <p:cNvPr id="1790881904" name="Shape 15"/>
          <p:cNvSpPr/>
          <p:nvPr/>
        </p:nvSpPr>
        <p:spPr bwMode="auto">
          <a:xfrm>
            <a:off x="10762648" y="660654"/>
            <a:ext cx="101600" cy="781812"/>
          </a:xfrm>
          <a:prstGeom prst="roundRect">
            <a:avLst>
              <a:gd name="adj" fmla="val 50000"/>
            </a:avLst>
          </a:prstGeom>
          <a:solidFill>
            <a:srgbClr val="2E8B57"/>
          </a:solidFill>
          <a:ln/>
        </p:spPr>
      </p:sp>
      <p:sp>
        <p:nvSpPr>
          <p:cNvPr id="156510313" name="Shape 16"/>
          <p:cNvSpPr/>
          <p:nvPr/>
        </p:nvSpPr>
        <p:spPr bwMode="auto">
          <a:xfrm>
            <a:off x="10949806" y="870509"/>
            <a:ext cx="101600" cy="362102"/>
          </a:xfrm>
          <a:prstGeom prst="roundRect">
            <a:avLst>
              <a:gd name="adj" fmla="val 50000"/>
            </a:avLst>
          </a:prstGeom>
          <a:solidFill>
            <a:srgbClr val="2563C9"/>
          </a:solidFill>
          <a:ln/>
        </p:spPr>
      </p:sp>
      <p:sp>
        <p:nvSpPr>
          <p:cNvPr id="1761890437" name="Shape 17"/>
          <p:cNvSpPr/>
          <p:nvPr/>
        </p:nvSpPr>
        <p:spPr bwMode="auto">
          <a:xfrm>
            <a:off x="11136964" y="804672"/>
            <a:ext cx="101600" cy="493776"/>
          </a:xfrm>
          <a:prstGeom prst="roundRect">
            <a:avLst>
              <a:gd name="adj" fmla="val 50000"/>
            </a:avLst>
          </a:prstGeom>
          <a:solidFill>
            <a:srgbClr val="F59E0B"/>
          </a:solidFill>
          <a:ln/>
        </p:spPr>
      </p:sp>
      <p:sp>
        <p:nvSpPr>
          <p:cNvPr id="972621950" name="Shape 18"/>
          <p:cNvSpPr/>
          <p:nvPr/>
        </p:nvSpPr>
        <p:spPr bwMode="auto">
          <a:xfrm>
            <a:off x="11324122" y="911657"/>
            <a:ext cx="101600" cy="279806"/>
          </a:xfrm>
          <a:prstGeom prst="roundRect">
            <a:avLst>
              <a:gd name="adj" fmla="val 50000"/>
            </a:avLst>
          </a:prstGeom>
          <a:solidFill>
            <a:srgbClr val="3E6FD1"/>
          </a:solidFill>
          <a:ln/>
        </p:spPr>
      </p:sp>
      <p:sp>
        <p:nvSpPr>
          <p:cNvPr id="989861249" name="Shape 19"/>
          <p:cNvSpPr/>
          <p:nvPr/>
        </p:nvSpPr>
        <p:spPr bwMode="auto">
          <a:xfrm>
            <a:off x="11511280" y="763524"/>
            <a:ext cx="101600" cy="576072"/>
          </a:xfrm>
          <a:prstGeom prst="roundRect">
            <a:avLst>
              <a:gd name="adj" fmla="val 50000"/>
            </a:avLst>
          </a:prstGeom>
          <a:solidFill>
            <a:srgbClr val="2E8B57"/>
          </a:solidFill>
          <a:ln/>
        </p:spPr>
      </p:sp>
      <p:sp>
        <p:nvSpPr>
          <p:cNvPr id="527952341" name="Text 20"/>
          <p:cNvSpPr/>
          <p:nvPr/>
        </p:nvSpPr>
        <p:spPr bwMode="auto">
          <a:xfrm>
            <a:off x="777240" y="1417320"/>
            <a:ext cx="10058400" cy="365760"/>
          </a:xfrm>
          <a:prstGeom prst="rect">
            <a:avLst/>
          </a:prstGeom>
          <a:noFill/>
          <a:ln/>
        </p:spPr>
        <p:txBody>
          <a:bodyPr wrap="square" lIns="0" tIns="0" rIns="0" bIns="0" rtlCol="0" anchor="ctr"/>
          <a:lstStyle/>
          <a:p>
            <a:pPr marL="0" indent="0">
              <a:buNone/>
              <a:defRPr/>
            </a:pPr>
            <a:r>
              <a:rPr lang="en-US" sz="1500" b="1" spc="150">
                <a:solidFill>
                  <a:srgbClr val="F59E0B"/>
                </a:solidFill>
                <a:latin typeface="Calibri"/>
                <a:ea typeface="Calibri"/>
                <a:cs typeface="Calibri"/>
              </a:rPr>
              <a:t>HIT12 · Praktikumsersatzleistung — AWE mit KI</a:t>
            </a:r>
            <a:endParaRPr lang="en-US" sz="1500"/>
          </a:p>
        </p:txBody>
      </p:sp>
      <p:sp>
        <p:nvSpPr>
          <p:cNvPr id="1608615079" name="Text 21"/>
          <p:cNvSpPr/>
          <p:nvPr/>
        </p:nvSpPr>
        <p:spPr bwMode="auto">
          <a:xfrm>
            <a:off x="731520" y="1828800"/>
            <a:ext cx="10698480" cy="1371600"/>
          </a:xfrm>
          <a:prstGeom prst="rect">
            <a:avLst/>
          </a:prstGeom>
          <a:noFill/>
          <a:ln/>
        </p:spPr>
        <p:txBody>
          <a:bodyPr wrap="square" lIns="0" tIns="0" rIns="0" bIns="0" rtlCol="0" anchor="ctr"/>
          <a:lstStyle/>
          <a:p>
            <a:pPr marL="0" indent="0">
              <a:buNone/>
              <a:defRPr/>
            </a:pPr>
            <a:r>
              <a:rPr lang="en-US" sz="8200" b="1">
                <a:solidFill>
                  <a:srgbClr val="FFFFFF"/>
                </a:solidFill>
                <a:latin typeface="Cambria"/>
                <a:ea typeface="Cambria"/>
                <a:cs typeface="Cambria"/>
              </a:rPr>
              <a:t>Meine Stimme</a:t>
            </a:r>
            <a:endParaRPr lang="en-US" sz="8200"/>
          </a:p>
        </p:txBody>
      </p:sp>
      <p:sp>
        <p:nvSpPr>
          <p:cNvPr id="587114621" name="Text 22"/>
          <p:cNvSpPr/>
          <p:nvPr/>
        </p:nvSpPr>
        <p:spPr bwMode="auto">
          <a:xfrm>
            <a:off x="777240" y="3310127"/>
            <a:ext cx="10058400" cy="868680"/>
          </a:xfrm>
          <a:prstGeom prst="rect">
            <a:avLst/>
          </a:prstGeom>
          <a:noFill/>
          <a:ln/>
        </p:spPr>
        <p:txBody>
          <a:bodyPr wrap="square" lIns="0" tIns="0" rIns="0" bIns="0" rtlCol="0" anchor="ctr"/>
          <a:lstStyle/>
          <a:p>
            <a:pPr marL="0" indent="0">
              <a:lnSpc>
                <a:spcPct val="110000"/>
              </a:lnSpc>
              <a:buNone/>
              <a:defRPr/>
            </a:pPr>
            <a:r>
              <a:rPr lang="en-US" sz="1900">
                <a:solidFill>
                  <a:srgbClr val="C7D6EE"/>
                </a:solidFill>
                <a:latin typeface="Calibri"/>
                <a:ea typeface="Calibri"/>
                <a:cs typeface="Calibri"/>
              </a:rPr>
              <a:t>Barrierefreie, sprachbasierte Beschwerde-App für Menschen mit geistiger</a:t>
            </a:r>
            <a:endParaRPr lang="en-US" sz="1900"/>
          </a:p>
          <a:p>
            <a:pPr marL="0" indent="0">
              <a:lnSpc>
                <a:spcPct val="110000"/>
              </a:lnSpc>
              <a:buNone/>
              <a:defRPr/>
            </a:pPr>
            <a:r>
              <a:rPr lang="en-US" sz="1900">
                <a:solidFill>
                  <a:srgbClr val="C7D6EE"/>
                </a:solidFill>
                <a:latin typeface="Calibri"/>
                <a:ea typeface="Calibri"/>
                <a:cs typeface="Calibri"/>
              </a:rPr>
              <a:t>Behinderung in Besonderen Wohnformen</a:t>
            </a:r>
            <a:endParaRPr lang="en-US" sz="1900"/>
          </a:p>
        </p:txBody>
      </p:sp>
      <p:sp>
        <p:nvSpPr>
          <p:cNvPr id="429824092" name="Shape 23"/>
          <p:cNvSpPr/>
          <p:nvPr/>
        </p:nvSpPr>
        <p:spPr bwMode="auto">
          <a:xfrm>
            <a:off x="777240" y="4526280"/>
            <a:ext cx="4572000" cy="658368"/>
          </a:xfrm>
          <a:prstGeom prst="roundRect">
            <a:avLst>
              <a:gd name="adj" fmla="val 13889"/>
            </a:avLst>
          </a:prstGeom>
          <a:solidFill>
            <a:srgbClr val="1B3763"/>
          </a:solidFill>
          <a:ln w="12700">
            <a:solidFill>
              <a:srgbClr val="2E4F82"/>
            </a:solidFill>
            <a:prstDash val="solid"/>
          </a:ln>
        </p:spPr>
      </p:sp>
      <p:pic>
        <p:nvPicPr>
          <p:cNvPr id="1735999518" name="Image 0" descr="preencoded.png"/>
          <p:cNvPicPr>
            <a:picLocks noChangeAspect="1"/>
          </p:cNvPicPr>
          <p:nvPr/>
        </p:nvPicPr>
        <p:blipFill rotWithShape="1">
          <a:blip r:embed="rId3"/>
          <a:stretch/>
        </p:blipFill>
        <p:spPr bwMode="auto">
          <a:xfrm>
            <a:off x="996696" y="4690872"/>
            <a:ext cx="329184" cy="329184"/>
          </a:xfrm>
          <a:prstGeom prst="rect">
            <a:avLst/>
          </a:prstGeom>
        </p:spPr>
      </p:pic>
      <p:sp>
        <p:nvSpPr>
          <p:cNvPr id="1882239743" name="Text 24"/>
          <p:cNvSpPr/>
          <p:nvPr/>
        </p:nvSpPr>
        <p:spPr bwMode="auto">
          <a:xfrm>
            <a:off x="1453896" y="4526280"/>
            <a:ext cx="3749040" cy="658368"/>
          </a:xfrm>
          <a:prstGeom prst="rect">
            <a:avLst/>
          </a:prstGeom>
          <a:noFill/>
          <a:ln/>
        </p:spPr>
        <p:txBody>
          <a:bodyPr wrap="square" lIns="0" tIns="0" rIns="0" bIns="0" rtlCol="0" anchor="ctr"/>
          <a:lstStyle/>
          <a:p>
            <a:pPr marL="0" indent="0">
              <a:buNone/>
              <a:defRPr/>
            </a:pPr>
            <a:r>
              <a:rPr lang="en-US" sz="1250" b="1">
                <a:solidFill>
                  <a:srgbClr val="9FB6DD"/>
                </a:solidFill>
                <a:latin typeface="Calibri"/>
                <a:ea typeface="Calibri"/>
                <a:cs typeface="Calibri"/>
              </a:rPr>
              <a:t>Live-Demo  </a:t>
            </a:r>
            <a:r>
              <a:rPr lang="en-US" sz="1250">
                <a:solidFill>
                  <a:srgbClr val="FFFFFF"/>
                </a:solidFill>
                <a:latin typeface="Calibri"/>
                <a:ea typeface="Calibri"/>
                <a:cs typeface="Calibri"/>
              </a:rPr>
              <a:t>meine-stimme.jutio.org</a:t>
            </a:r>
            <a:r>
              <a:rPr lang="de-DE" sz="1250">
                <a:solidFill>
                  <a:srgbClr val="FFFFFF"/>
                </a:solidFill>
                <a:latin typeface="Calibri"/>
                <a:ea typeface="Calibri"/>
                <a:cs typeface="Calibri"/>
              </a:rPr>
              <a:t>/{Einrichtungsname}</a:t>
            </a:r>
            <a:endParaRPr lang="en-US" sz="1250"/>
          </a:p>
        </p:txBody>
      </p:sp>
      <p:sp>
        <p:nvSpPr>
          <p:cNvPr id="1849092295" name="Shape 25"/>
          <p:cNvSpPr/>
          <p:nvPr/>
        </p:nvSpPr>
        <p:spPr bwMode="auto">
          <a:xfrm>
            <a:off x="5532120" y="4526280"/>
            <a:ext cx="4572000" cy="658368"/>
          </a:xfrm>
          <a:prstGeom prst="roundRect">
            <a:avLst>
              <a:gd name="adj" fmla="val 13889"/>
            </a:avLst>
          </a:prstGeom>
          <a:solidFill>
            <a:srgbClr val="1B3763"/>
          </a:solidFill>
          <a:ln w="12700">
            <a:solidFill>
              <a:srgbClr val="2E4F82"/>
            </a:solidFill>
            <a:prstDash val="solid"/>
          </a:ln>
        </p:spPr>
      </p:sp>
      <p:pic>
        <p:nvPicPr>
          <p:cNvPr id="2056492718" name="Image 1" descr="preencoded.png"/>
          <p:cNvPicPr>
            <a:picLocks noChangeAspect="1"/>
          </p:cNvPicPr>
          <p:nvPr/>
        </p:nvPicPr>
        <p:blipFill rotWithShape="1">
          <a:blip r:embed="rId4"/>
          <a:stretch/>
        </p:blipFill>
        <p:spPr bwMode="auto">
          <a:xfrm>
            <a:off x="5751576" y="4690872"/>
            <a:ext cx="329184" cy="329184"/>
          </a:xfrm>
          <a:prstGeom prst="rect">
            <a:avLst/>
          </a:prstGeom>
        </p:spPr>
      </p:pic>
      <p:sp>
        <p:nvSpPr>
          <p:cNvPr id="1744164166" name="Text 26"/>
          <p:cNvSpPr/>
          <p:nvPr/>
        </p:nvSpPr>
        <p:spPr bwMode="auto">
          <a:xfrm>
            <a:off x="6208776" y="4526280"/>
            <a:ext cx="3749040" cy="658368"/>
          </a:xfrm>
          <a:prstGeom prst="rect">
            <a:avLst/>
          </a:prstGeom>
          <a:noFill/>
          <a:ln/>
        </p:spPr>
        <p:txBody>
          <a:bodyPr wrap="square" lIns="0" tIns="0" rIns="0" bIns="0" rtlCol="0" anchor="ctr"/>
          <a:lstStyle/>
          <a:p>
            <a:pPr marL="0" indent="0">
              <a:buNone/>
              <a:defRPr/>
            </a:pPr>
            <a:r>
              <a:rPr lang="en-US" sz="1250" b="1">
                <a:solidFill>
                  <a:srgbClr val="9FB6DD"/>
                </a:solidFill>
                <a:latin typeface="Calibri"/>
                <a:ea typeface="Calibri"/>
                <a:cs typeface="Calibri"/>
              </a:rPr>
              <a:t>Code  </a:t>
            </a:r>
            <a:r>
              <a:rPr lang="en-US" sz="1250">
                <a:solidFill>
                  <a:srgbClr val="FFFFFF"/>
                </a:solidFill>
                <a:latin typeface="Calibri"/>
                <a:ea typeface="Calibri"/>
                <a:cs typeface="Calibri"/>
              </a:rPr>
              <a:t>github.com/Monstroxx/Meine_Stimme</a:t>
            </a:r>
            <a:endParaRPr lang="en-US" sz="1250"/>
          </a:p>
        </p:txBody>
      </p:sp>
      <p:sp>
        <p:nvSpPr>
          <p:cNvPr id="1772039478" name="Text 27"/>
          <p:cNvSpPr/>
          <p:nvPr/>
        </p:nvSpPr>
        <p:spPr bwMode="auto">
          <a:xfrm>
            <a:off x="777240" y="5532120"/>
            <a:ext cx="10515600" cy="457200"/>
          </a:xfrm>
          <a:prstGeom prst="rect">
            <a:avLst/>
          </a:prstGeom>
          <a:noFill/>
          <a:ln/>
        </p:spPr>
        <p:txBody>
          <a:bodyPr wrap="square" lIns="0" tIns="0" rIns="0" bIns="0" rtlCol="0" anchor="ctr"/>
          <a:lstStyle/>
          <a:p>
            <a:pPr marL="0" indent="0">
              <a:buNone/>
              <a:defRPr/>
            </a:pPr>
            <a:r>
              <a:rPr lang="en-US" sz="1400" b="1">
                <a:solidFill>
                  <a:srgbClr val="F59E0B"/>
                </a:solidFill>
                <a:latin typeface="Calibri"/>
                <a:ea typeface="Calibri"/>
                <a:cs typeface="Calibri"/>
              </a:rPr>
              <a:t>Team   </a:t>
            </a:r>
            <a:r>
              <a:rPr lang="en-US" sz="1400">
                <a:solidFill>
                  <a:srgbClr val="C7D6EE"/>
                </a:solidFill>
                <a:latin typeface="Calibri"/>
                <a:ea typeface="Calibri"/>
                <a:cs typeface="Calibri"/>
              </a:rPr>
              <a:t>Monstroxx · TagerTi</a:t>
            </a:r>
            <a:r>
              <a:rPr lang="en-US" sz="1400" b="1">
                <a:solidFill>
                  <a:srgbClr val="F59E0B"/>
                </a:solidFill>
                <a:latin typeface="Calibri"/>
                <a:ea typeface="Calibri"/>
                <a:cs typeface="Calibri"/>
              </a:rPr>
              <a:t>        Projektwoche   </a:t>
            </a:r>
            <a:r>
              <a:rPr lang="en-US" sz="1400">
                <a:solidFill>
                  <a:srgbClr val="C7D6EE"/>
                </a:solidFill>
                <a:latin typeface="Calibri"/>
                <a:ea typeface="Calibri"/>
                <a:cs typeface="Calibri"/>
              </a:rPr>
              <a:t>29.06. – 03.07.2026</a:t>
            </a:r>
            <a:endParaRPr lang="en-US" sz="1400"/>
          </a:p>
        </p:txBody>
      </p:sp>
      <p:sp>
        <p:nvSpPr>
          <p:cNvPr id="469342795" name="Text 28"/>
          <p:cNvSpPr/>
          <p:nvPr/>
        </p:nvSpPr>
        <p:spPr bwMode="auto">
          <a:xfrm>
            <a:off x="777240" y="6053328"/>
            <a:ext cx="10515600" cy="365760"/>
          </a:xfrm>
          <a:prstGeom prst="rect">
            <a:avLst/>
          </a:prstGeom>
          <a:noFill/>
          <a:ln/>
        </p:spPr>
        <p:txBody>
          <a:bodyPr wrap="square" lIns="0" tIns="0" rIns="0" bIns="0" rtlCol="0" anchor="ctr"/>
          <a:lstStyle/>
          <a:p>
            <a:pPr marL="0" indent="0">
              <a:buNone/>
              <a:defRPr/>
            </a:pPr>
            <a:r>
              <a:rPr lang="en-US" sz="1150" b="1" i="1">
                <a:solidFill>
                  <a:srgbClr val="8FA6CE"/>
                </a:solidFill>
                <a:latin typeface="Calibri"/>
                <a:ea typeface="Calibri"/>
                <a:cs typeface="Calibri"/>
              </a:rPr>
              <a:t>KI-Offenlegung:  </a:t>
            </a:r>
            <a:r>
              <a:rPr lang="en-US" sz="1150" i="1">
                <a:solidFill>
                  <a:srgbClr val="8FA6CE"/>
                </a:solidFill>
                <a:latin typeface="Calibri"/>
                <a:ea typeface="Calibri"/>
                <a:cs typeface="Calibri"/>
              </a:rPr>
              <a:t>Whisper (OpenAI) als App-KI  ·  Claude (Anthropic) als Entwicklungs-Assistent</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5F8FC"/>
        </a:solidFill>
      </p:bgPr>
    </p:bg>
    <p:spTree>
      <p:nvGrpSpPr>
        <p:cNvPr id="1" name=""/>
        <p:cNvGrpSpPr/>
        <p:nvPr/>
      </p:nvGrpSpPr>
      <p:grpSpPr bwMode="auto">
        <a:xfrm>
          <a:off x="0" y="0"/>
          <a:ext cx="0" cy="0"/>
          <a:chOff x="0" y="0"/>
          <a:chExt cx="0" cy="0"/>
        </a:xfrm>
      </p:grpSpPr>
      <p:sp>
        <p:nvSpPr>
          <p:cNvPr id="305651118"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1 · DAS PROBLEM</a:t>
            </a:r>
            <a:endParaRPr lang="en-US" sz="1250"/>
          </a:p>
        </p:txBody>
      </p:sp>
      <p:sp>
        <p:nvSpPr>
          <p:cNvPr id="437864802"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Sich beschweren ist doppelt schwer</a:t>
            </a:r>
            <a:endParaRPr lang="en-US" sz="3300"/>
          </a:p>
        </p:txBody>
      </p:sp>
      <p:sp>
        <p:nvSpPr>
          <p:cNvPr id="875413503" name="Text 2"/>
          <p:cNvSpPr/>
          <p:nvPr/>
        </p:nvSpPr>
        <p:spPr bwMode="auto">
          <a:xfrm>
            <a:off x="566928" y="1572768"/>
            <a:ext cx="11064240" cy="685800"/>
          </a:xfrm>
          <a:prstGeom prst="rect">
            <a:avLst/>
          </a:prstGeom>
          <a:noFill/>
          <a:ln/>
        </p:spPr>
        <p:txBody>
          <a:bodyPr wrap="square" lIns="0" tIns="0" rIns="0" bIns="0" rtlCol="0" anchor="ctr"/>
          <a:lstStyle/>
          <a:p>
            <a:pPr marL="0" indent="0">
              <a:lnSpc>
                <a:spcPct val="105000"/>
              </a:lnSpc>
              <a:buNone/>
              <a:defRPr/>
            </a:pPr>
            <a:r>
              <a:rPr lang="en-US" sz="1550">
                <a:solidFill>
                  <a:srgbClr val="13233B"/>
                </a:solidFill>
                <a:latin typeface="Calibri"/>
                <a:ea typeface="Calibri"/>
                <a:cs typeface="Calibri"/>
              </a:rPr>
              <a:t>Menschen mit geistiger Behinderung leben in Besonderen Wohnformen in einem starken Abhängigkeits- und Machtgefälle gegenüber den Assistent:innen, die sie rund um die Uhr betreuen.</a:t>
            </a:r>
            <a:endParaRPr lang="en-US" sz="1550"/>
          </a:p>
        </p:txBody>
      </p:sp>
      <p:sp>
        <p:nvSpPr>
          <p:cNvPr id="1602907878" name="Shape 3"/>
          <p:cNvSpPr/>
          <p:nvPr/>
        </p:nvSpPr>
        <p:spPr bwMode="auto">
          <a:xfrm>
            <a:off x="566928" y="2423160"/>
            <a:ext cx="5486400" cy="1874520"/>
          </a:xfrm>
          <a:prstGeom prst="roundRect">
            <a:avLst>
              <a:gd name="adj" fmla="val 5854"/>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99073266" name="Shape 4"/>
          <p:cNvSpPr/>
          <p:nvPr/>
        </p:nvSpPr>
        <p:spPr bwMode="auto">
          <a:xfrm>
            <a:off x="932688" y="2807208"/>
            <a:ext cx="822960" cy="822960"/>
          </a:xfrm>
          <a:prstGeom prst="ellipse">
            <a:avLst/>
          </a:prstGeom>
          <a:solidFill>
            <a:srgbClr val="1B4F8F"/>
          </a:solidFill>
          <a:ln/>
          <a:effectLst>
            <a:outerShdw blurRad="76200" dist="25400" dir="5400000" sx="100000" sy="100000" kx="0" ky="0" algn="bl" rotWithShape="0">
              <a:srgbClr val="1B2A44">
                <a:alpha val="16000"/>
              </a:srgbClr>
            </a:outerShdw>
          </a:effectLst>
        </p:spPr>
      </p:sp>
      <p:pic>
        <p:nvPicPr>
          <p:cNvPr id="1495808891" name="Image 0" descr="preencoded.png"/>
          <p:cNvPicPr>
            <a:picLocks noChangeAspect="1"/>
          </p:cNvPicPr>
          <p:nvPr/>
        </p:nvPicPr>
        <p:blipFill rotWithShape="1">
          <a:blip r:embed="rId3"/>
          <a:stretch/>
        </p:blipFill>
        <p:spPr bwMode="auto">
          <a:xfrm>
            <a:off x="1138428" y="3012948"/>
            <a:ext cx="411480" cy="411480"/>
          </a:xfrm>
          <a:prstGeom prst="rect">
            <a:avLst/>
          </a:prstGeom>
        </p:spPr>
      </p:pic>
      <p:sp>
        <p:nvSpPr>
          <p:cNvPr id="833649968" name="Text 5"/>
          <p:cNvSpPr/>
          <p:nvPr/>
        </p:nvSpPr>
        <p:spPr bwMode="auto">
          <a:xfrm>
            <a:off x="1938528" y="2807208"/>
            <a:ext cx="3840480" cy="777240"/>
          </a:xfrm>
          <a:prstGeom prst="rect">
            <a:avLst/>
          </a:prstGeom>
          <a:noFill/>
          <a:ln/>
        </p:spPr>
        <p:txBody>
          <a:bodyPr wrap="square" lIns="0" tIns="0" rIns="0" bIns="0" rtlCol="0" anchor="ctr"/>
          <a:lstStyle/>
          <a:p>
            <a:pPr marL="0" indent="0">
              <a:buNone/>
              <a:defRPr/>
            </a:pPr>
            <a:r>
              <a:rPr lang="en-US" sz="1800" b="1">
                <a:solidFill>
                  <a:srgbClr val="13233B"/>
                </a:solidFill>
                <a:latin typeface="Calibri"/>
                <a:ea typeface="Calibri"/>
                <a:cs typeface="Calibri"/>
              </a:rPr>
              <a:t>Sprach- &amp; Schreibbarriere</a:t>
            </a:r>
            <a:endParaRPr lang="en-US" sz="1800"/>
          </a:p>
        </p:txBody>
      </p:sp>
      <p:sp>
        <p:nvSpPr>
          <p:cNvPr id="569313235" name="Text 6"/>
          <p:cNvSpPr/>
          <p:nvPr/>
        </p:nvSpPr>
        <p:spPr bwMode="auto">
          <a:xfrm>
            <a:off x="950976" y="3630168"/>
            <a:ext cx="4754880" cy="548640"/>
          </a:xfrm>
          <a:prstGeom prst="rect">
            <a:avLst/>
          </a:prstGeom>
          <a:noFill/>
          <a:ln/>
        </p:spPr>
        <p:txBody>
          <a:bodyPr wrap="square" lIns="0" tIns="0" rIns="0" bIns="0" rtlCol="0" anchor="t"/>
          <a:lstStyle/>
          <a:p>
            <a:pPr marL="0" indent="0">
              <a:lnSpc>
                <a:spcPct val="103000"/>
              </a:lnSpc>
              <a:buNone/>
              <a:defRPr/>
            </a:pPr>
            <a:r>
              <a:rPr lang="en-US" sz="1300">
                <a:solidFill>
                  <a:srgbClr val="5A6B82"/>
                </a:solidFill>
                <a:latin typeface="Calibri"/>
                <a:ea typeface="Calibri"/>
                <a:cs typeface="Calibri"/>
              </a:rPr>
              <a:t>Der bisherige Papierbogen „Besser werden“ setzt Lesen und Schreiben voraus — das schließt viele Bewohner:innen von vornherein aus.</a:t>
            </a:r>
            <a:endParaRPr lang="en-US" sz="1300"/>
          </a:p>
        </p:txBody>
      </p:sp>
      <p:sp>
        <p:nvSpPr>
          <p:cNvPr id="1627811814" name="Shape 7"/>
          <p:cNvSpPr/>
          <p:nvPr/>
        </p:nvSpPr>
        <p:spPr bwMode="auto">
          <a:xfrm>
            <a:off x="6144768" y="2423160"/>
            <a:ext cx="5486400" cy="1874520"/>
          </a:xfrm>
          <a:prstGeom prst="roundRect">
            <a:avLst>
              <a:gd name="adj" fmla="val 5854"/>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793626386" name="Shape 8"/>
          <p:cNvSpPr/>
          <p:nvPr/>
        </p:nvSpPr>
        <p:spPr bwMode="auto">
          <a:xfrm>
            <a:off x="6510528" y="2807208"/>
            <a:ext cx="822960" cy="822960"/>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981435828" name="Image 1" descr="preencoded.png"/>
          <p:cNvPicPr>
            <a:picLocks noChangeAspect="1"/>
          </p:cNvPicPr>
          <p:nvPr/>
        </p:nvPicPr>
        <p:blipFill rotWithShape="1">
          <a:blip r:embed="rId4"/>
          <a:stretch/>
        </p:blipFill>
        <p:spPr bwMode="auto">
          <a:xfrm>
            <a:off x="6716268" y="3012948"/>
            <a:ext cx="411480" cy="411480"/>
          </a:xfrm>
          <a:prstGeom prst="rect">
            <a:avLst/>
          </a:prstGeom>
        </p:spPr>
      </p:pic>
      <p:sp>
        <p:nvSpPr>
          <p:cNvPr id="584409620" name="Text 9"/>
          <p:cNvSpPr/>
          <p:nvPr/>
        </p:nvSpPr>
        <p:spPr bwMode="auto">
          <a:xfrm>
            <a:off x="7516368" y="2807208"/>
            <a:ext cx="3840480" cy="777240"/>
          </a:xfrm>
          <a:prstGeom prst="rect">
            <a:avLst/>
          </a:prstGeom>
          <a:noFill/>
          <a:ln/>
        </p:spPr>
        <p:txBody>
          <a:bodyPr wrap="square" lIns="0" tIns="0" rIns="0" bIns="0" rtlCol="0" anchor="ctr"/>
          <a:lstStyle/>
          <a:p>
            <a:pPr marL="0" indent="0">
              <a:buNone/>
              <a:defRPr/>
            </a:pPr>
            <a:r>
              <a:rPr lang="en-US" sz="1800" b="1">
                <a:solidFill>
                  <a:srgbClr val="13233B"/>
                </a:solidFill>
                <a:latin typeface="Calibri"/>
                <a:ea typeface="Calibri"/>
                <a:cs typeface="Calibri"/>
              </a:rPr>
              <a:t>Soziale Hürde (Gewaltschutz)</a:t>
            </a:r>
            <a:endParaRPr lang="en-US" sz="1800"/>
          </a:p>
        </p:txBody>
      </p:sp>
      <p:sp>
        <p:nvSpPr>
          <p:cNvPr id="1839189469" name="Text 10"/>
          <p:cNvSpPr/>
          <p:nvPr/>
        </p:nvSpPr>
        <p:spPr bwMode="auto">
          <a:xfrm>
            <a:off x="6528816" y="3630168"/>
            <a:ext cx="4754880" cy="548640"/>
          </a:xfrm>
          <a:prstGeom prst="rect">
            <a:avLst/>
          </a:prstGeom>
          <a:noFill/>
          <a:ln/>
        </p:spPr>
        <p:txBody>
          <a:bodyPr wrap="square" lIns="0" tIns="0" rIns="0" bIns="0" rtlCol="0" anchor="t"/>
          <a:lstStyle/>
          <a:p>
            <a:pPr marL="0" indent="0">
              <a:lnSpc>
                <a:spcPct val="103000"/>
              </a:lnSpc>
              <a:buNone/>
              <a:defRPr/>
            </a:pPr>
            <a:r>
              <a:rPr lang="en-US" sz="1300">
                <a:solidFill>
                  <a:srgbClr val="5A6B82"/>
                </a:solidFill>
                <a:latin typeface="Calibri"/>
                <a:ea typeface="Calibri"/>
                <a:cs typeface="Calibri"/>
              </a:rPr>
              <a:t>Die Beschwerde muss einer betreuenden Person persönlich übergeben werden — obwohl sie sich genau gegen diese Person richten kann.</a:t>
            </a:r>
            <a:endParaRPr lang="en-US" sz="1300"/>
          </a:p>
        </p:txBody>
      </p:sp>
      <p:sp>
        <p:nvSpPr>
          <p:cNvPr id="95178699" name="Shape 11"/>
          <p:cNvSpPr/>
          <p:nvPr/>
        </p:nvSpPr>
        <p:spPr bwMode="auto">
          <a:xfrm>
            <a:off x="566928" y="4572000"/>
            <a:ext cx="11064240" cy="1417320"/>
          </a:xfrm>
          <a:prstGeom prst="roundRect">
            <a:avLst>
              <a:gd name="adj" fmla="val 7742"/>
            </a:avLst>
          </a:prstGeom>
          <a:solidFill>
            <a:srgbClr val="0F2E58"/>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027353406" name="Shape 12"/>
          <p:cNvSpPr/>
          <p:nvPr/>
        </p:nvSpPr>
        <p:spPr bwMode="auto">
          <a:xfrm>
            <a:off x="932688" y="4956048"/>
            <a:ext cx="713232" cy="713232"/>
          </a:xfrm>
          <a:prstGeom prst="ellipse">
            <a:avLst/>
          </a:prstGeom>
          <a:solidFill>
            <a:srgbClr val="F59E0B"/>
          </a:solidFill>
          <a:ln/>
        </p:spPr>
      </p:sp>
      <p:pic>
        <p:nvPicPr>
          <p:cNvPr id="593615433" name="Image 2" descr="preencoded.png"/>
          <p:cNvPicPr>
            <a:picLocks noChangeAspect="1"/>
          </p:cNvPicPr>
          <p:nvPr/>
        </p:nvPicPr>
        <p:blipFill rotWithShape="1">
          <a:blip r:embed="rId5"/>
          <a:stretch/>
        </p:blipFill>
        <p:spPr bwMode="auto">
          <a:xfrm>
            <a:off x="1110996" y="5134356"/>
            <a:ext cx="356616" cy="356616"/>
          </a:xfrm>
          <a:prstGeom prst="rect">
            <a:avLst/>
          </a:prstGeom>
        </p:spPr>
      </p:pic>
      <p:sp>
        <p:nvSpPr>
          <p:cNvPr id="2036548427" name="Text 13"/>
          <p:cNvSpPr/>
          <p:nvPr/>
        </p:nvSpPr>
        <p:spPr bwMode="auto">
          <a:xfrm>
            <a:off x="1920240" y="4681728"/>
            <a:ext cx="9509760" cy="1188720"/>
          </a:xfrm>
          <a:prstGeom prst="rect">
            <a:avLst/>
          </a:prstGeom>
          <a:noFill/>
          <a:ln/>
        </p:spPr>
        <p:txBody>
          <a:bodyPr wrap="square" lIns="0" tIns="0" rIns="0" bIns="0" rtlCol="0" anchor="ctr"/>
          <a:lstStyle/>
          <a:p>
            <a:pPr marL="0" indent="0">
              <a:lnSpc>
                <a:spcPct val="105000"/>
              </a:lnSpc>
              <a:buNone/>
              <a:defRPr/>
            </a:pPr>
            <a:r>
              <a:rPr lang="en-US" sz="1500" b="1">
                <a:solidFill>
                  <a:srgbClr val="FFFFFF"/>
                </a:solidFill>
                <a:latin typeface="Calibri"/>
                <a:ea typeface="Calibri"/>
                <a:cs typeface="Calibri"/>
              </a:rPr>
              <a:t>Rechtlicher &amp; ethischer Auftrag   </a:t>
            </a:r>
            <a:br>
              <a:rPr lang="en-US" sz="1500">
                <a:solidFill>
                  <a:srgbClr val="000000"/>
                </a:solidFill>
                <a:latin typeface="Calibri"/>
                <a:ea typeface="Calibri"/>
                <a:cs typeface="Calibri"/>
              </a:rPr>
            </a:br>
            <a:endParaRPr lang="en-US" sz="1500"/>
          </a:p>
          <a:p>
            <a:pPr marL="0" indent="0">
              <a:lnSpc>
                <a:spcPct val="105000"/>
              </a:lnSpc>
              <a:buNone/>
              <a:defRPr/>
            </a:pPr>
            <a:r>
              <a:rPr lang="en-US" sz="1300">
                <a:solidFill>
                  <a:srgbClr val="CFE0F5"/>
                </a:solidFill>
                <a:latin typeface="Calibri"/>
                <a:ea typeface="Calibri"/>
                <a:cs typeface="Calibri"/>
              </a:rPr>
              <a:t>Das Recht auf Beschwerde ohne Nachteile ist in §§ 7, 8 BTHG und im Wohn- und Teilhaberecht verankert. Eine barrierefreie Umsetzung ist damit gesetzliche Pflicht der Einrichtungen — nicht nur „nice to have“.</a:t>
            </a:r>
            <a:endParaRPr lang="en-US" sz="1500"/>
          </a:p>
        </p:txBody>
      </p:sp>
      <p:sp>
        <p:nvSpPr>
          <p:cNvPr id="572651568" name="Text 14"/>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735982888" name="Text 15"/>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5F8FC"/>
        </a:solidFill>
      </p:bgPr>
    </p:bg>
    <p:spTree>
      <p:nvGrpSpPr>
        <p:cNvPr id="1" name=""/>
        <p:cNvGrpSpPr/>
        <p:nvPr/>
      </p:nvGrpSpPr>
      <p:grpSpPr bwMode="auto">
        <a:xfrm>
          <a:off x="0" y="0"/>
          <a:ext cx="0" cy="0"/>
          <a:chOff x="0" y="0"/>
          <a:chExt cx="0" cy="0"/>
        </a:xfrm>
      </p:grpSpPr>
      <p:sp>
        <p:nvSpPr>
          <p:cNvPr id="762430111"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1 · GESELLSCHAFTLICHE RELEVANZ</a:t>
            </a:r>
            <a:endParaRPr lang="en-US" sz="1250"/>
          </a:p>
        </p:txBody>
      </p:sp>
      <p:sp>
        <p:nvSpPr>
          <p:cNvPr id="1613812910"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Warum das zählt: drei zentrale Werte</a:t>
            </a:r>
            <a:endParaRPr lang="en-US" sz="3300"/>
          </a:p>
        </p:txBody>
      </p:sp>
      <p:sp>
        <p:nvSpPr>
          <p:cNvPr id="884375497" name="Shape 2"/>
          <p:cNvSpPr/>
          <p:nvPr/>
        </p:nvSpPr>
        <p:spPr bwMode="auto">
          <a:xfrm>
            <a:off x="566928" y="1783080"/>
            <a:ext cx="3584448" cy="3200400"/>
          </a:xfrm>
          <a:prstGeom prst="roundRect">
            <a:avLst>
              <a:gd name="adj" fmla="val 3429"/>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731842211" name="Shape 3"/>
          <p:cNvSpPr/>
          <p:nvPr/>
        </p:nvSpPr>
        <p:spPr bwMode="auto">
          <a:xfrm>
            <a:off x="1856232" y="2148840"/>
            <a:ext cx="1005840" cy="1005840"/>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1287598560" name="Image 0" descr="preencoded.png"/>
          <p:cNvPicPr>
            <a:picLocks noChangeAspect="1"/>
          </p:cNvPicPr>
          <p:nvPr/>
        </p:nvPicPr>
        <p:blipFill rotWithShape="1">
          <a:blip r:embed="rId3"/>
          <a:stretch/>
        </p:blipFill>
        <p:spPr bwMode="auto">
          <a:xfrm>
            <a:off x="2107692" y="2400300"/>
            <a:ext cx="502920" cy="502920"/>
          </a:xfrm>
          <a:prstGeom prst="rect">
            <a:avLst/>
          </a:prstGeom>
        </p:spPr>
      </p:pic>
      <p:sp>
        <p:nvSpPr>
          <p:cNvPr id="558192232" name="Text 4"/>
          <p:cNvSpPr/>
          <p:nvPr/>
        </p:nvSpPr>
        <p:spPr bwMode="auto">
          <a:xfrm>
            <a:off x="3374136" y="2057400"/>
            <a:ext cx="548640" cy="548640"/>
          </a:xfrm>
          <a:prstGeom prst="rect">
            <a:avLst/>
          </a:prstGeom>
          <a:noFill/>
          <a:ln/>
        </p:spPr>
        <p:txBody>
          <a:bodyPr wrap="square" lIns="0" tIns="0" rIns="0" bIns="0" rtlCol="0" anchor="t"/>
          <a:lstStyle/>
          <a:p>
            <a:pPr marL="0" indent="0" algn="r">
              <a:buNone/>
              <a:defRPr/>
            </a:pPr>
            <a:r>
              <a:rPr lang="en-US" sz="3000" b="1">
                <a:solidFill>
                  <a:srgbClr val="E1E8F1"/>
                </a:solidFill>
                <a:latin typeface="Cambria"/>
                <a:ea typeface="Cambria"/>
                <a:cs typeface="Cambria"/>
              </a:rPr>
              <a:t>1</a:t>
            </a:r>
            <a:endParaRPr lang="en-US" sz="3000"/>
          </a:p>
        </p:txBody>
      </p:sp>
      <p:sp>
        <p:nvSpPr>
          <p:cNvPr id="1976357842" name="Text 5"/>
          <p:cNvSpPr/>
          <p:nvPr/>
        </p:nvSpPr>
        <p:spPr bwMode="auto">
          <a:xfrm>
            <a:off x="841248" y="3355848"/>
            <a:ext cx="3035808" cy="640080"/>
          </a:xfrm>
          <a:prstGeom prst="rect">
            <a:avLst/>
          </a:prstGeom>
          <a:noFill/>
          <a:ln/>
        </p:spPr>
        <p:txBody>
          <a:bodyPr wrap="square" lIns="0" tIns="0" rIns="0" bIns="0" rtlCol="0" anchor="ctr"/>
          <a:lstStyle/>
          <a:p>
            <a:pPr marL="0" indent="0" algn="ctr">
              <a:buNone/>
              <a:defRPr/>
            </a:pPr>
            <a:r>
              <a:rPr lang="en-US" sz="1650" b="1">
                <a:solidFill>
                  <a:srgbClr val="13233B"/>
                </a:solidFill>
                <a:latin typeface="Calibri"/>
                <a:ea typeface="Calibri"/>
                <a:cs typeface="Calibri"/>
              </a:rPr>
              <a:t>Selbstbestimmung &amp; Teilhabe</a:t>
            </a:r>
            <a:endParaRPr lang="en-US" sz="1650"/>
          </a:p>
        </p:txBody>
      </p:sp>
      <p:sp>
        <p:nvSpPr>
          <p:cNvPr id="214537619" name="Text 6"/>
          <p:cNvSpPr/>
          <p:nvPr/>
        </p:nvSpPr>
        <p:spPr bwMode="auto">
          <a:xfrm>
            <a:off x="859536" y="3995928"/>
            <a:ext cx="2999232" cy="868680"/>
          </a:xfrm>
          <a:prstGeom prst="rect">
            <a:avLst/>
          </a:prstGeom>
          <a:noFill/>
          <a:ln/>
        </p:spPr>
        <p:txBody>
          <a:bodyPr wrap="square" lIns="0" tIns="0" rIns="0" bIns="0" rtlCol="0" anchor="t"/>
          <a:lstStyle/>
          <a:p>
            <a:pPr marL="0" indent="0" algn="ctr">
              <a:lnSpc>
                <a:spcPct val="105000"/>
              </a:lnSpc>
              <a:buNone/>
              <a:defRPr/>
            </a:pPr>
            <a:r>
              <a:rPr lang="en-US" sz="1250">
                <a:solidFill>
                  <a:srgbClr val="5A6B82"/>
                </a:solidFill>
                <a:latin typeface="Calibri"/>
                <a:ea typeface="Calibri"/>
                <a:cs typeface="Calibri"/>
              </a:rPr>
              <a:t>Betroffene äußern ihr Anliegen selbstständig — ohne fremde Hilfe und ohne Umweg über Dritte.</a:t>
            </a:r>
            <a:endParaRPr lang="en-US" sz="1250"/>
          </a:p>
        </p:txBody>
      </p:sp>
      <p:sp>
        <p:nvSpPr>
          <p:cNvPr id="1590836646" name="Shape 7"/>
          <p:cNvSpPr/>
          <p:nvPr/>
        </p:nvSpPr>
        <p:spPr bwMode="auto">
          <a:xfrm>
            <a:off x="4352544" y="1783080"/>
            <a:ext cx="3584448" cy="3200400"/>
          </a:xfrm>
          <a:prstGeom prst="roundRect">
            <a:avLst>
              <a:gd name="adj" fmla="val 3429"/>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84801151" name="Shape 8"/>
          <p:cNvSpPr/>
          <p:nvPr/>
        </p:nvSpPr>
        <p:spPr bwMode="auto">
          <a:xfrm>
            <a:off x="5641848" y="2148840"/>
            <a:ext cx="1005840" cy="1005840"/>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1409569924" name="Image 1" descr="preencoded.png"/>
          <p:cNvPicPr>
            <a:picLocks noChangeAspect="1"/>
          </p:cNvPicPr>
          <p:nvPr/>
        </p:nvPicPr>
        <p:blipFill rotWithShape="1">
          <a:blip r:embed="rId4"/>
          <a:stretch/>
        </p:blipFill>
        <p:spPr bwMode="auto">
          <a:xfrm>
            <a:off x="5893308" y="2400300"/>
            <a:ext cx="502920" cy="502920"/>
          </a:xfrm>
          <a:prstGeom prst="rect">
            <a:avLst/>
          </a:prstGeom>
        </p:spPr>
      </p:pic>
      <p:sp>
        <p:nvSpPr>
          <p:cNvPr id="1024544684" name="Text 9"/>
          <p:cNvSpPr/>
          <p:nvPr/>
        </p:nvSpPr>
        <p:spPr bwMode="auto">
          <a:xfrm>
            <a:off x="7159752" y="2057400"/>
            <a:ext cx="548640" cy="548640"/>
          </a:xfrm>
          <a:prstGeom prst="rect">
            <a:avLst/>
          </a:prstGeom>
          <a:noFill/>
          <a:ln/>
        </p:spPr>
        <p:txBody>
          <a:bodyPr wrap="square" lIns="0" tIns="0" rIns="0" bIns="0" rtlCol="0" anchor="t"/>
          <a:lstStyle/>
          <a:p>
            <a:pPr marL="0" indent="0" algn="r">
              <a:buNone/>
              <a:defRPr/>
            </a:pPr>
            <a:r>
              <a:rPr lang="en-US" sz="3000" b="1">
                <a:solidFill>
                  <a:srgbClr val="E1E8F1"/>
                </a:solidFill>
                <a:latin typeface="Cambria"/>
                <a:ea typeface="Cambria"/>
                <a:cs typeface="Cambria"/>
              </a:rPr>
              <a:t>2</a:t>
            </a:r>
            <a:endParaRPr lang="en-US" sz="3000"/>
          </a:p>
        </p:txBody>
      </p:sp>
      <p:sp>
        <p:nvSpPr>
          <p:cNvPr id="1548122954" name="Text 10"/>
          <p:cNvSpPr/>
          <p:nvPr/>
        </p:nvSpPr>
        <p:spPr bwMode="auto">
          <a:xfrm>
            <a:off x="4626864" y="3355848"/>
            <a:ext cx="3035808" cy="640080"/>
          </a:xfrm>
          <a:prstGeom prst="rect">
            <a:avLst/>
          </a:prstGeom>
          <a:noFill/>
          <a:ln/>
        </p:spPr>
        <p:txBody>
          <a:bodyPr wrap="square" lIns="0" tIns="0" rIns="0" bIns="0" rtlCol="0" anchor="ctr"/>
          <a:lstStyle/>
          <a:p>
            <a:pPr marL="0" indent="0" algn="ctr">
              <a:buNone/>
              <a:defRPr/>
            </a:pPr>
            <a:r>
              <a:rPr lang="en-US" sz="1650" b="1">
                <a:solidFill>
                  <a:srgbClr val="13233B"/>
                </a:solidFill>
                <a:latin typeface="Calibri"/>
                <a:ea typeface="Calibri"/>
                <a:cs typeface="Calibri"/>
              </a:rPr>
              <a:t>Inklusion &amp; Barrierefreiheit</a:t>
            </a:r>
            <a:endParaRPr lang="en-US" sz="1650"/>
          </a:p>
        </p:txBody>
      </p:sp>
      <p:sp>
        <p:nvSpPr>
          <p:cNvPr id="550992486" name="Text 11"/>
          <p:cNvSpPr/>
          <p:nvPr/>
        </p:nvSpPr>
        <p:spPr bwMode="auto">
          <a:xfrm>
            <a:off x="4645152" y="3995928"/>
            <a:ext cx="2999232" cy="868680"/>
          </a:xfrm>
          <a:prstGeom prst="rect">
            <a:avLst/>
          </a:prstGeom>
          <a:noFill/>
          <a:ln/>
        </p:spPr>
        <p:txBody>
          <a:bodyPr wrap="square" lIns="0" tIns="0" rIns="0" bIns="0" rtlCol="0" anchor="t"/>
          <a:lstStyle/>
          <a:p>
            <a:pPr marL="0" indent="0" algn="ctr">
              <a:lnSpc>
                <a:spcPct val="105000"/>
              </a:lnSpc>
              <a:buNone/>
              <a:defRPr/>
            </a:pPr>
            <a:r>
              <a:rPr lang="en-US" sz="1250">
                <a:solidFill>
                  <a:srgbClr val="5A6B82"/>
                </a:solidFill>
                <a:latin typeface="Calibri"/>
                <a:ea typeface="Calibri"/>
                <a:cs typeface="Calibri"/>
              </a:rPr>
              <a:t>Sprache statt Schrift, Vorlesen statt Lesen. Eine Frage pro Bildschirm, große Knöpfe, echte Symbole.</a:t>
            </a:r>
            <a:endParaRPr lang="en-US" sz="1250"/>
          </a:p>
        </p:txBody>
      </p:sp>
      <p:sp>
        <p:nvSpPr>
          <p:cNvPr id="910556823" name="Shape 12"/>
          <p:cNvSpPr/>
          <p:nvPr/>
        </p:nvSpPr>
        <p:spPr bwMode="auto">
          <a:xfrm>
            <a:off x="8138160" y="1783080"/>
            <a:ext cx="3584448" cy="3200400"/>
          </a:xfrm>
          <a:prstGeom prst="roundRect">
            <a:avLst>
              <a:gd name="adj" fmla="val 3429"/>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568731566" name="Shape 13"/>
          <p:cNvSpPr/>
          <p:nvPr/>
        </p:nvSpPr>
        <p:spPr bwMode="auto">
          <a:xfrm>
            <a:off x="9427464" y="2148840"/>
            <a:ext cx="1005840" cy="1005840"/>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1504371394" name="Image 2" descr="preencoded.png"/>
          <p:cNvPicPr>
            <a:picLocks noChangeAspect="1"/>
          </p:cNvPicPr>
          <p:nvPr/>
        </p:nvPicPr>
        <p:blipFill rotWithShape="1">
          <a:blip r:embed="rId5"/>
          <a:stretch/>
        </p:blipFill>
        <p:spPr bwMode="auto">
          <a:xfrm>
            <a:off x="9678924" y="2400300"/>
            <a:ext cx="502920" cy="502920"/>
          </a:xfrm>
          <a:prstGeom prst="rect">
            <a:avLst/>
          </a:prstGeom>
        </p:spPr>
      </p:pic>
      <p:sp>
        <p:nvSpPr>
          <p:cNvPr id="702482210" name="Text 14"/>
          <p:cNvSpPr/>
          <p:nvPr/>
        </p:nvSpPr>
        <p:spPr bwMode="auto">
          <a:xfrm>
            <a:off x="10945368" y="2057400"/>
            <a:ext cx="548640" cy="548640"/>
          </a:xfrm>
          <a:prstGeom prst="rect">
            <a:avLst/>
          </a:prstGeom>
          <a:noFill/>
          <a:ln/>
        </p:spPr>
        <p:txBody>
          <a:bodyPr wrap="square" lIns="0" tIns="0" rIns="0" bIns="0" rtlCol="0" anchor="t"/>
          <a:lstStyle/>
          <a:p>
            <a:pPr marL="0" indent="0" algn="r">
              <a:buNone/>
              <a:defRPr/>
            </a:pPr>
            <a:r>
              <a:rPr lang="en-US" sz="3000" b="1">
                <a:solidFill>
                  <a:srgbClr val="E1E8F1"/>
                </a:solidFill>
                <a:latin typeface="Cambria"/>
                <a:ea typeface="Cambria"/>
                <a:cs typeface="Cambria"/>
              </a:rPr>
              <a:t>3</a:t>
            </a:r>
            <a:endParaRPr lang="en-US" sz="3000"/>
          </a:p>
        </p:txBody>
      </p:sp>
      <p:sp>
        <p:nvSpPr>
          <p:cNvPr id="1138186883" name="Text 15"/>
          <p:cNvSpPr/>
          <p:nvPr/>
        </p:nvSpPr>
        <p:spPr bwMode="auto">
          <a:xfrm>
            <a:off x="8412480" y="3355848"/>
            <a:ext cx="3035808" cy="640080"/>
          </a:xfrm>
          <a:prstGeom prst="rect">
            <a:avLst/>
          </a:prstGeom>
          <a:noFill/>
          <a:ln/>
        </p:spPr>
        <p:txBody>
          <a:bodyPr wrap="square" lIns="0" tIns="0" rIns="0" bIns="0" rtlCol="0" anchor="ctr"/>
          <a:lstStyle/>
          <a:p>
            <a:pPr marL="0" indent="0" algn="ctr">
              <a:buNone/>
              <a:defRPr/>
            </a:pPr>
            <a:r>
              <a:rPr lang="en-US" sz="1650" b="1">
                <a:solidFill>
                  <a:srgbClr val="13233B"/>
                </a:solidFill>
                <a:latin typeface="Calibri"/>
                <a:ea typeface="Calibri"/>
                <a:cs typeface="Calibri"/>
              </a:rPr>
              <a:t>Gewaltschutz</a:t>
            </a:r>
            <a:endParaRPr lang="en-US" sz="1650"/>
          </a:p>
        </p:txBody>
      </p:sp>
      <p:sp>
        <p:nvSpPr>
          <p:cNvPr id="955131964" name="Text 16"/>
          <p:cNvSpPr/>
          <p:nvPr/>
        </p:nvSpPr>
        <p:spPr bwMode="auto">
          <a:xfrm>
            <a:off x="8430768" y="3995928"/>
            <a:ext cx="2999232" cy="868680"/>
          </a:xfrm>
          <a:prstGeom prst="rect">
            <a:avLst/>
          </a:prstGeom>
          <a:noFill/>
          <a:ln/>
        </p:spPr>
        <p:txBody>
          <a:bodyPr wrap="square" lIns="0" tIns="0" rIns="0" bIns="0" rtlCol="0" anchor="t"/>
          <a:lstStyle/>
          <a:p>
            <a:pPr marL="0" indent="0" algn="ctr">
              <a:lnSpc>
                <a:spcPct val="105000"/>
              </a:lnSpc>
              <a:buNone/>
              <a:defRPr/>
            </a:pPr>
            <a:r>
              <a:rPr lang="en-US" sz="1250">
                <a:solidFill>
                  <a:srgbClr val="5A6B82"/>
                </a:solidFill>
                <a:latin typeface="Calibri"/>
                <a:ea typeface="Calibri"/>
                <a:cs typeface="Calibri"/>
              </a:rPr>
              <a:t>Eine anonyme, niederschwellige Meldung, die das Machtgefälle umgeht und direkt die Leitung erreicht.</a:t>
            </a:r>
            <a:endParaRPr lang="en-US" sz="1250"/>
          </a:p>
        </p:txBody>
      </p:sp>
      <p:sp>
        <p:nvSpPr>
          <p:cNvPr id="1437487700" name="Shape 17"/>
          <p:cNvSpPr/>
          <p:nvPr/>
        </p:nvSpPr>
        <p:spPr bwMode="auto">
          <a:xfrm>
            <a:off x="566928" y="5230368"/>
            <a:ext cx="11064240" cy="786384"/>
          </a:xfrm>
          <a:prstGeom prst="roundRect">
            <a:avLst>
              <a:gd name="adj" fmla="val 11628"/>
            </a:avLst>
          </a:prstGeom>
          <a:solidFill>
            <a:srgbClr val="DDE9FB"/>
          </a:solidFill>
          <a:ln w="12700">
            <a:solidFill>
              <a:srgbClr val="E1E8F1"/>
            </a:solidFill>
            <a:prstDash val="solid"/>
          </a:ln>
        </p:spPr>
      </p:sp>
      <p:sp>
        <p:nvSpPr>
          <p:cNvPr id="1870455608" name="Text 18"/>
          <p:cNvSpPr/>
          <p:nvPr/>
        </p:nvSpPr>
        <p:spPr bwMode="auto">
          <a:xfrm>
            <a:off x="914400" y="5230368"/>
            <a:ext cx="10424160" cy="786384"/>
          </a:xfrm>
          <a:prstGeom prst="rect">
            <a:avLst/>
          </a:prstGeom>
          <a:noFill/>
          <a:ln/>
        </p:spPr>
        <p:txBody>
          <a:bodyPr wrap="square" lIns="0" tIns="0" rIns="0" bIns="0" rtlCol="0" anchor="ctr"/>
          <a:lstStyle/>
          <a:p>
            <a:pPr marL="0" indent="0">
              <a:buNone/>
              <a:defRPr/>
            </a:pPr>
            <a:r>
              <a:rPr lang="en-US" sz="1350" b="1">
                <a:solidFill>
                  <a:srgbClr val="1B4F8F"/>
                </a:solidFill>
                <a:latin typeface="Calibri"/>
                <a:ea typeface="Calibri"/>
                <a:cs typeface="Calibri"/>
              </a:rPr>
              <a:t>Der Träger im Vorbild betreibt 13 Einrichtungen. </a:t>
            </a:r>
            <a:r>
              <a:rPr lang="en-US" sz="1350">
                <a:solidFill>
                  <a:srgbClr val="13233B"/>
                </a:solidFill>
                <a:latin typeface="Calibri"/>
                <a:ea typeface="Calibri"/>
                <a:cs typeface="Calibri"/>
              </a:rPr>
              <a:t>Beschwerden kommen künftig zentral, strukturiert und nachverfolgbar an — statt verstreut auf Papierbögen.</a:t>
            </a:r>
            <a:endParaRPr lang="en-US" sz="1350"/>
          </a:p>
        </p:txBody>
      </p:sp>
      <p:sp>
        <p:nvSpPr>
          <p:cNvPr id="1296828062" name="Text 19"/>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485150957" name="Text 20"/>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5F8FC"/>
        </a:solidFill>
      </p:bgPr>
    </p:bg>
    <p:spTree>
      <p:nvGrpSpPr>
        <p:cNvPr id="1" name=""/>
        <p:cNvGrpSpPr/>
        <p:nvPr/>
      </p:nvGrpSpPr>
      <p:grpSpPr bwMode="auto">
        <a:xfrm>
          <a:off x="0" y="0"/>
          <a:ext cx="0" cy="0"/>
          <a:chOff x="0" y="0"/>
          <a:chExt cx="0" cy="0"/>
        </a:xfrm>
      </p:grpSpPr>
      <p:sp>
        <p:nvSpPr>
          <p:cNvPr id="1883653197"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1 · ZIELGRUPPE</a:t>
            </a:r>
            <a:endParaRPr lang="en-US" sz="1250"/>
          </a:p>
        </p:txBody>
      </p:sp>
      <p:sp>
        <p:nvSpPr>
          <p:cNvPr id="1219232936"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Wer die App nutzt — und was er darf</a:t>
            </a:r>
            <a:endParaRPr lang="en-US" sz="3300"/>
          </a:p>
        </p:txBody>
      </p:sp>
      <p:sp>
        <p:nvSpPr>
          <p:cNvPr id="624238161" name="Shape 2"/>
          <p:cNvSpPr/>
          <p:nvPr/>
        </p:nvSpPr>
        <p:spPr bwMode="auto">
          <a:xfrm>
            <a:off x="566928" y="1783080"/>
            <a:ext cx="3584448" cy="3063240"/>
          </a:xfrm>
          <a:prstGeom prst="roundRect">
            <a:avLst>
              <a:gd name="adj" fmla="val 358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832969562" name="Shape 3"/>
          <p:cNvSpPr/>
          <p:nvPr/>
        </p:nvSpPr>
        <p:spPr bwMode="auto">
          <a:xfrm>
            <a:off x="896112" y="2112264"/>
            <a:ext cx="868680" cy="868680"/>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764794778" name="Image 0" descr="preencoded.png"/>
          <p:cNvPicPr>
            <a:picLocks noChangeAspect="1"/>
          </p:cNvPicPr>
          <p:nvPr/>
        </p:nvPicPr>
        <p:blipFill rotWithShape="1">
          <a:blip r:embed="rId3"/>
          <a:stretch/>
        </p:blipFill>
        <p:spPr bwMode="auto">
          <a:xfrm>
            <a:off x="1113282" y="2329434"/>
            <a:ext cx="434340" cy="434340"/>
          </a:xfrm>
          <a:prstGeom prst="rect">
            <a:avLst/>
          </a:prstGeom>
        </p:spPr>
      </p:pic>
      <p:sp>
        <p:nvSpPr>
          <p:cNvPr id="1719136650" name="Text 4"/>
          <p:cNvSpPr/>
          <p:nvPr/>
        </p:nvSpPr>
        <p:spPr bwMode="auto">
          <a:xfrm>
            <a:off x="1892808" y="2167128"/>
            <a:ext cx="2121408" cy="411480"/>
          </a:xfrm>
          <a:prstGeom prst="rect">
            <a:avLst/>
          </a:prstGeom>
          <a:noFill/>
          <a:ln/>
        </p:spPr>
        <p:txBody>
          <a:bodyPr wrap="square" lIns="0" tIns="0" rIns="0" bIns="0" rtlCol="0" anchor="ctr"/>
          <a:lstStyle/>
          <a:p>
            <a:pPr marL="0" indent="0">
              <a:buNone/>
              <a:defRPr/>
            </a:pPr>
            <a:r>
              <a:rPr lang="en-US" sz="1750" b="1">
                <a:solidFill>
                  <a:srgbClr val="13233B"/>
                </a:solidFill>
                <a:latin typeface="Calibri"/>
                <a:ea typeface="Calibri"/>
                <a:cs typeface="Calibri"/>
              </a:rPr>
              <a:t>Bewohner:innen</a:t>
            </a:r>
            <a:endParaRPr lang="en-US" sz="1750"/>
          </a:p>
        </p:txBody>
      </p:sp>
      <p:sp>
        <p:nvSpPr>
          <p:cNvPr id="552229443" name="Shape 5"/>
          <p:cNvSpPr/>
          <p:nvPr/>
        </p:nvSpPr>
        <p:spPr bwMode="auto">
          <a:xfrm>
            <a:off x="1892808" y="2624328"/>
            <a:ext cx="1828800" cy="310896"/>
          </a:xfrm>
          <a:prstGeom prst="roundRect">
            <a:avLst>
              <a:gd name="adj" fmla="val 50000"/>
            </a:avLst>
          </a:prstGeom>
          <a:solidFill>
            <a:srgbClr val="DDE9FB"/>
          </a:solidFill>
          <a:ln/>
        </p:spPr>
      </p:sp>
      <p:sp>
        <p:nvSpPr>
          <p:cNvPr id="1420360519" name="Text 6"/>
          <p:cNvSpPr/>
          <p:nvPr/>
        </p:nvSpPr>
        <p:spPr bwMode="auto">
          <a:xfrm>
            <a:off x="1892808" y="2624328"/>
            <a:ext cx="1828800" cy="310896"/>
          </a:xfrm>
          <a:prstGeom prst="rect">
            <a:avLst/>
          </a:prstGeom>
          <a:noFill/>
          <a:ln/>
        </p:spPr>
        <p:txBody>
          <a:bodyPr wrap="square" lIns="0" tIns="0" rIns="0" bIns="0" rtlCol="0" anchor="ctr"/>
          <a:lstStyle/>
          <a:p>
            <a:pPr marL="0" indent="0" algn="ctr">
              <a:buNone/>
              <a:defRPr/>
            </a:pPr>
            <a:r>
              <a:rPr lang="en-US" sz="1050" b="1">
                <a:solidFill>
                  <a:srgbClr val="1B4F8F"/>
                </a:solidFill>
                <a:latin typeface="Calibri"/>
                <a:ea typeface="Calibri"/>
                <a:cs typeface="Calibri"/>
              </a:rPr>
              <a:t>Haupt-Zielgruppe</a:t>
            </a:r>
            <a:endParaRPr lang="en-US" sz="1050"/>
          </a:p>
        </p:txBody>
      </p:sp>
      <p:sp>
        <p:nvSpPr>
          <p:cNvPr id="565859317" name="Shape 7"/>
          <p:cNvSpPr/>
          <p:nvPr/>
        </p:nvSpPr>
        <p:spPr bwMode="auto">
          <a:xfrm>
            <a:off x="896112" y="3264408"/>
            <a:ext cx="2926080" cy="0"/>
          </a:xfrm>
          <a:prstGeom prst="line">
            <a:avLst/>
          </a:prstGeom>
          <a:noFill/>
          <a:ln w="12700">
            <a:solidFill>
              <a:srgbClr val="E1E8F1"/>
            </a:solidFill>
            <a:prstDash val="solid"/>
          </a:ln>
        </p:spPr>
      </p:sp>
      <p:sp>
        <p:nvSpPr>
          <p:cNvPr id="597021541" name="Text 8"/>
          <p:cNvSpPr/>
          <p:nvPr/>
        </p:nvSpPr>
        <p:spPr bwMode="auto">
          <a:xfrm>
            <a:off x="896112" y="3410712"/>
            <a:ext cx="2926080" cy="1280160"/>
          </a:xfrm>
          <a:prstGeom prst="rect">
            <a:avLst/>
          </a:prstGeom>
          <a:noFill/>
          <a:ln/>
        </p:spPr>
        <p:txBody>
          <a:bodyPr wrap="square" lIns="0" tIns="0" rIns="0" bIns="0" rtlCol="0" anchor="t"/>
          <a:lstStyle/>
          <a:p>
            <a:pPr marL="0" indent="0">
              <a:lnSpc>
                <a:spcPct val="108000"/>
              </a:lnSpc>
              <a:buNone/>
              <a:defRPr/>
            </a:pPr>
            <a:r>
              <a:rPr lang="en-US" sz="1300">
                <a:solidFill>
                  <a:srgbClr val="5A6B82"/>
                </a:solidFill>
                <a:latin typeface="Calibri"/>
                <a:ea typeface="Calibri"/>
                <a:cs typeface="Calibri"/>
              </a:rPr>
              <a:t>Geben Beschwerden per Sprache am Kiosk-Tablet ab — ganz ohne Login.</a:t>
            </a:r>
            <a:endParaRPr lang="en-US" sz="1300"/>
          </a:p>
        </p:txBody>
      </p:sp>
      <p:sp>
        <p:nvSpPr>
          <p:cNvPr id="410013538" name="Shape 9"/>
          <p:cNvSpPr/>
          <p:nvPr/>
        </p:nvSpPr>
        <p:spPr bwMode="auto">
          <a:xfrm>
            <a:off x="4352544" y="1783080"/>
            <a:ext cx="3584448" cy="3063240"/>
          </a:xfrm>
          <a:prstGeom prst="roundRect">
            <a:avLst>
              <a:gd name="adj" fmla="val 358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598576051" name="Shape 10"/>
          <p:cNvSpPr/>
          <p:nvPr/>
        </p:nvSpPr>
        <p:spPr bwMode="auto">
          <a:xfrm>
            <a:off x="4681728" y="2112264"/>
            <a:ext cx="868680" cy="868680"/>
          </a:xfrm>
          <a:prstGeom prst="ellipse">
            <a:avLst/>
          </a:prstGeom>
          <a:solidFill>
            <a:srgbClr val="1B4F8F"/>
          </a:solidFill>
          <a:ln/>
          <a:effectLst>
            <a:outerShdw blurRad="76200" dist="25400" dir="5400000" sx="100000" sy="100000" kx="0" ky="0" algn="bl" rotWithShape="0">
              <a:srgbClr val="1B2A44">
                <a:alpha val="16000"/>
              </a:srgbClr>
            </a:outerShdw>
          </a:effectLst>
        </p:spPr>
      </p:sp>
      <p:pic>
        <p:nvPicPr>
          <p:cNvPr id="1963914221" name="Image 1" descr="preencoded.png"/>
          <p:cNvPicPr>
            <a:picLocks noChangeAspect="1"/>
          </p:cNvPicPr>
          <p:nvPr/>
        </p:nvPicPr>
        <p:blipFill rotWithShape="1">
          <a:blip r:embed="rId4"/>
          <a:stretch/>
        </p:blipFill>
        <p:spPr bwMode="auto">
          <a:xfrm>
            <a:off x="4898898" y="2329434"/>
            <a:ext cx="434340" cy="434340"/>
          </a:xfrm>
          <a:prstGeom prst="rect">
            <a:avLst/>
          </a:prstGeom>
        </p:spPr>
      </p:pic>
      <p:sp>
        <p:nvSpPr>
          <p:cNvPr id="472726239" name="Text 11"/>
          <p:cNvSpPr/>
          <p:nvPr/>
        </p:nvSpPr>
        <p:spPr bwMode="auto">
          <a:xfrm>
            <a:off x="5678424" y="2167128"/>
            <a:ext cx="2121408" cy="411480"/>
          </a:xfrm>
          <a:prstGeom prst="rect">
            <a:avLst/>
          </a:prstGeom>
          <a:noFill/>
          <a:ln/>
        </p:spPr>
        <p:txBody>
          <a:bodyPr wrap="square" lIns="0" tIns="0" rIns="0" bIns="0" rtlCol="0" anchor="ctr"/>
          <a:lstStyle/>
          <a:p>
            <a:pPr marL="0" indent="0">
              <a:buNone/>
              <a:defRPr/>
            </a:pPr>
            <a:r>
              <a:rPr lang="en-US" sz="1750" b="1">
                <a:solidFill>
                  <a:srgbClr val="13233B"/>
                </a:solidFill>
                <a:latin typeface="Calibri"/>
                <a:ea typeface="Calibri"/>
                <a:cs typeface="Calibri"/>
              </a:rPr>
              <a:t>Leitung</a:t>
            </a:r>
            <a:endParaRPr lang="en-US" sz="1750"/>
          </a:p>
        </p:txBody>
      </p:sp>
      <p:sp>
        <p:nvSpPr>
          <p:cNvPr id="1739786228" name="Shape 12"/>
          <p:cNvSpPr/>
          <p:nvPr/>
        </p:nvSpPr>
        <p:spPr bwMode="auto">
          <a:xfrm>
            <a:off x="5678424" y="2624328"/>
            <a:ext cx="1828800" cy="310896"/>
          </a:xfrm>
          <a:prstGeom prst="roundRect">
            <a:avLst>
              <a:gd name="adj" fmla="val 50000"/>
            </a:avLst>
          </a:prstGeom>
          <a:solidFill>
            <a:srgbClr val="DDE9FB"/>
          </a:solidFill>
          <a:ln/>
        </p:spPr>
      </p:sp>
      <p:sp>
        <p:nvSpPr>
          <p:cNvPr id="341264977" name="Text 13"/>
          <p:cNvSpPr/>
          <p:nvPr/>
        </p:nvSpPr>
        <p:spPr bwMode="auto">
          <a:xfrm>
            <a:off x="5678424" y="2624328"/>
            <a:ext cx="1828800" cy="310896"/>
          </a:xfrm>
          <a:prstGeom prst="rect">
            <a:avLst/>
          </a:prstGeom>
          <a:noFill/>
          <a:ln/>
        </p:spPr>
        <p:txBody>
          <a:bodyPr wrap="square" lIns="0" tIns="0" rIns="0" bIns="0" rtlCol="0" anchor="ctr"/>
          <a:lstStyle/>
          <a:p>
            <a:pPr marL="0" indent="0" algn="ctr">
              <a:buNone/>
              <a:defRPr/>
            </a:pPr>
            <a:r>
              <a:rPr lang="en-US" sz="1050" b="1">
                <a:solidFill>
                  <a:srgbClr val="1B4F8F"/>
                </a:solidFill>
                <a:latin typeface="Calibri"/>
                <a:ea typeface="Calibri"/>
                <a:cs typeface="Calibri"/>
              </a:rPr>
              <a:t>Alle Einrichtungen</a:t>
            </a:r>
            <a:endParaRPr lang="en-US" sz="1050"/>
          </a:p>
        </p:txBody>
      </p:sp>
      <p:sp>
        <p:nvSpPr>
          <p:cNvPr id="273472543" name="Shape 14"/>
          <p:cNvSpPr/>
          <p:nvPr/>
        </p:nvSpPr>
        <p:spPr bwMode="auto">
          <a:xfrm>
            <a:off x="4681728" y="3264408"/>
            <a:ext cx="2926080" cy="0"/>
          </a:xfrm>
          <a:prstGeom prst="line">
            <a:avLst/>
          </a:prstGeom>
          <a:noFill/>
          <a:ln w="12700">
            <a:solidFill>
              <a:srgbClr val="E1E8F1"/>
            </a:solidFill>
            <a:prstDash val="solid"/>
          </a:ln>
        </p:spPr>
      </p:sp>
      <p:sp>
        <p:nvSpPr>
          <p:cNvPr id="2059298661" name="Text 15"/>
          <p:cNvSpPr/>
          <p:nvPr/>
        </p:nvSpPr>
        <p:spPr bwMode="auto">
          <a:xfrm>
            <a:off x="4681728" y="3410712"/>
            <a:ext cx="2926080" cy="1280160"/>
          </a:xfrm>
          <a:prstGeom prst="rect">
            <a:avLst/>
          </a:prstGeom>
          <a:noFill/>
          <a:ln/>
        </p:spPr>
        <p:txBody>
          <a:bodyPr wrap="square" lIns="0" tIns="0" rIns="0" bIns="0" rtlCol="0" anchor="t"/>
          <a:lstStyle/>
          <a:p>
            <a:pPr marL="0" indent="0">
              <a:lnSpc>
                <a:spcPct val="108000"/>
              </a:lnSpc>
              <a:buNone/>
              <a:defRPr/>
            </a:pPr>
            <a:r>
              <a:rPr lang="en-US" sz="1300">
                <a:solidFill>
                  <a:srgbClr val="5A6B82"/>
                </a:solidFill>
                <a:latin typeface="Calibri"/>
                <a:ea typeface="Calibri"/>
                <a:cs typeface="Calibri"/>
              </a:rPr>
              <a:t>Sieht alle Beschwerden, ändert den Status und darf auch anonyme Aufnahmen anhören.</a:t>
            </a:r>
            <a:endParaRPr lang="en-US" sz="1300"/>
          </a:p>
        </p:txBody>
      </p:sp>
      <p:sp>
        <p:nvSpPr>
          <p:cNvPr id="2110962331" name="Shape 16"/>
          <p:cNvSpPr/>
          <p:nvPr/>
        </p:nvSpPr>
        <p:spPr bwMode="auto">
          <a:xfrm>
            <a:off x="8138160" y="1783080"/>
            <a:ext cx="3584448" cy="3063240"/>
          </a:xfrm>
          <a:prstGeom prst="roundRect">
            <a:avLst>
              <a:gd name="adj" fmla="val 358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542208321" name="Shape 17"/>
          <p:cNvSpPr/>
          <p:nvPr/>
        </p:nvSpPr>
        <p:spPr bwMode="auto">
          <a:xfrm>
            <a:off x="8467344" y="2112264"/>
            <a:ext cx="868680" cy="868680"/>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2080433111" name="Image 2" descr="preencoded.png"/>
          <p:cNvPicPr>
            <a:picLocks noChangeAspect="1"/>
          </p:cNvPicPr>
          <p:nvPr/>
        </p:nvPicPr>
        <p:blipFill rotWithShape="1">
          <a:blip r:embed="rId5"/>
          <a:stretch/>
        </p:blipFill>
        <p:spPr bwMode="auto">
          <a:xfrm>
            <a:off x="8684514" y="2329434"/>
            <a:ext cx="434340" cy="434340"/>
          </a:xfrm>
          <a:prstGeom prst="rect">
            <a:avLst/>
          </a:prstGeom>
        </p:spPr>
      </p:pic>
      <p:sp>
        <p:nvSpPr>
          <p:cNvPr id="1707313953" name="Text 18"/>
          <p:cNvSpPr/>
          <p:nvPr/>
        </p:nvSpPr>
        <p:spPr bwMode="auto">
          <a:xfrm>
            <a:off x="9464040" y="2167128"/>
            <a:ext cx="2121408" cy="411480"/>
          </a:xfrm>
          <a:prstGeom prst="rect">
            <a:avLst/>
          </a:prstGeom>
          <a:noFill/>
          <a:ln/>
        </p:spPr>
        <p:txBody>
          <a:bodyPr wrap="square" lIns="0" tIns="0" rIns="0" bIns="0" rtlCol="0" anchor="ctr"/>
          <a:lstStyle/>
          <a:p>
            <a:pPr marL="0" indent="0">
              <a:buNone/>
              <a:defRPr/>
            </a:pPr>
            <a:r>
              <a:rPr lang="en-US" sz="1750" b="1">
                <a:solidFill>
                  <a:srgbClr val="13233B"/>
                </a:solidFill>
                <a:latin typeface="Calibri"/>
                <a:ea typeface="Calibri"/>
                <a:cs typeface="Calibri"/>
              </a:rPr>
              <a:t>Betreuer:innen</a:t>
            </a:r>
            <a:endParaRPr lang="en-US" sz="1750"/>
          </a:p>
        </p:txBody>
      </p:sp>
      <p:sp>
        <p:nvSpPr>
          <p:cNvPr id="774116875" name="Shape 19"/>
          <p:cNvSpPr/>
          <p:nvPr/>
        </p:nvSpPr>
        <p:spPr bwMode="auto">
          <a:xfrm>
            <a:off x="9464040" y="2624328"/>
            <a:ext cx="1828800" cy="310896"/>
          </a:xfrm>
          <a:prstGeom prst="roundRect">
            <a:avLst>
              <a:gd name="adj" fmla="val 50000"/>
            </a:avLst>
          </a:prstGeom>
          <a:solidFill>
            <a:srgbClr val="DDE9FB"/>
          </a:solidFill>
          <a:ln/>
        </p:spPr>
      </p:sp>
      <p:sp>
        <p:nvSpPr>
          <p:cNvPr id="1153616670" name="Text 20"/>
          <p:cNvSpPr/>
          <p:nvPr/>
        </p:nvSpPr>
        <p:spPr bwMode="auto">
          <a:xfrm>
            <a:off x="9464040" y="2624328"/>
            <a:ext cx="1828800" cy="310896"/>
          </a:xfrm>
          <a:prstGeom prst="rect">
            <a:avLst/>
          </a:prstGeom>
          <a:noFill/>
          <a:ln/>
        </p:spPr>
        <p:txBody>
          <a:bodyPr wrap="square" lIns="0" tIns="0" rIns="0" bIns="0" rtlCol="0" anchor="ctr"/>
          <a:lstStyle/>
          <a:p>
            <a:pPr marL="0" indent="0" algn="ctr">
              <a:buNone/>
              <a:defRPr/>
            </a:pPr>
            <a:r>
              <a:rPr lang="en-US" sz="1050" b="1">
                <a:solidFill>
                  <a:srgbClr val="1B4F8F"/>
                </a:solidFill>
                <a:latin typeface="Calibri"/>
                <a:ea typeface="Calibri"/>
                <a:cs typeface="Calibri"/>
              </a:rPr>
              <a:t>Eigene Einrichtung</a:t>
            </a:r>
            <a:endParaRPr lang="en-US" sz="1050"/>
          </a:p>
        </p:txBody>
      </p:sp>
      <p:sp>
        <p:nvSpPr>
          <p:cNvPr id="1198295641" name="Shape 21"/>
          <p:cNvSpPr/>
          <p:nvPr/>
        </p:nvSpPr>
        <p:spPr bwMode="auto">
          <a:xfrm>
            <a:off x="8467344" y="3264408"/>
            <a:ext cx="2926080" cy="0"/>
          </a:xfrm>
          <a:prstGeom prst="line">
            <a:avLst/>
          </a:prstGeom>
          <a:noFill/>
          <a:ln w="12700">
            <a:solidFill>
              <a:srgbClr val="E1E8F1"/>
            </a:solidFill>
            <a:prstDash val="solid"/>
          </a:ln>
        </p:spPr>
      </p:sp>
      <p:sp>
        <p:nvSpPr>
          <p:cNvPr id="1320423605" name="Text 22"/>
          <p:cNvSpPr/>
          <p:nvPr/>
        </p:nvSpPr>
        <p:spPr bwMode="auto">
          <a:xfrm>
            <a:off x="8467344" y="3410712"/>
            <a:ext cx="2926080" cy="1280160"/>
          </a:xfrm>
          <a:prstGeom prst="rect">
            <a:avLst/>
          </a:prstGeom>
          <a:noFill/>
          <a:ln/>
        </p:spPr>
        <p:txBody>
          <a:bodyPr wrap="square" lIns="0" tIns="0" rIns="0" bIns="0" rtlCol="0" anchor="t"/>
          <a:lstStyle/>
          <a:p>
            <a:pPr marL="0" indent="0">
              <a:lnSpc>
                <a:spcPct val="108000"/>
              </a:lnSpc>
              <a:buNone/>
              <a:defRPr/>
            </a:pPr>
            <a:r>
              <a:rPr lang="en-US" sz="1300">
                <a:solidFill>
                  <a:srgbClr val="5A6B82"/>
                </a:solidFill>
                <a:latin typeface="Calibri"/>
                <a:ea typeface="Calibri"/>
                <a:cs typeface="Calibri"/>
              </a:rPr>
              <a:t>Sehen Beschwerden der eigenen Einrichtung — anonyme Audios aber nicht.</a:t>
            </a:r>
            <a:endParaRPr lang="en-US" sz="1300"/>
          </a:p>
        </p:txBody>
      </p:sp>
      <p:sp>
        <p:nvSpPr>
          <p:cNvPr id="713439205" name="Shape 23"/>
          <p:cNvSpPr/>
          <p:nvPr/>
        </p:nvSpPr>
        <p:spPr bwMode="auto">
          <a:xfrm>
            <a:off x="566928" y="5138928"/>
            <a:ext cx="11064240" cy="877824"/>
          </a:xfrm>
          <a:prstGeom prst="roundRect">
            <a:avLst>
              <a:gd name="adj" fmla="val 10417"/>
            </a:avLst>
          </a:prstGeom>
          <a:solidFill>
            <a:srgbClr val="0F2E58"/>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21095268" name="Shape 24"/>
          <p:cNvSpPr/>
          <p:nvPr/>
        </p:nvSpPr>
        <p:spPr bwMode="auto">
          <a:xfrm>
            <a:off x="914400" y="5358384"/>
            <a:ext cx="457200" cy="457200"/>
          </a:xfrm>
          <a:prstGeom prst="ellipse">
            <a:avLst/>
          </a:prstGeom>
          <a:solidFill>
            <a:srgbClr val="F59E0B"/>
          </a:solidFill>
          <a:ln/>
        </p:spPr>
      </p:sp>
      <p:pic>
        <p:nvPicPr>
          <p:cNvPr id="965432409" name="Image 3" descr="preencoded.png"/>
          <p:cNvPicPr>
            <a:picLocks noChangeAspect="1"/>
          </p:cNvPicPr>
          <p:nvPr/>
        </p:nvPicPr>
        <p:blipFill rotWithShape="1">
          <a:blip r:embed="rId6"/>
          <a:stretch/>
        </p:blipFill>
        <p:spPr bwMode="auto">
          <a:xfrm>
            <a:off x="1028700" y="5472684"/>
            <a:ext cx="228600" cy="228600"/>
          </a:xfrm>
          <a:prstGeom prst="rect">
            <a:avLst/>
          </a:prstGeom>
        </p:spPr>
      </p:pic>
      <p:sp>
        <p:nvSpPr>
          <p:cNvPr id="763425853" name="Text 25"/>
          <p:cNvSpPr/>
          <p:nvPr/>
        </p:nvSpPr>
        <p:spPr bwMode="auto">
          <a:xfrm>
            <a:off x="1554480" y="5138928"/>
            <a:ext cx="9875520" cy="877824"/>
          </a:xfrm>
          <a:prstGeom prst="rect">
            <a:avLst/>
          </a:prstGeom>
          <a:noFill/>
          <a:ln/>
        </p:spPr>
        <p:txBody>
          <a:bodyPr wrap="square" lIns="0" tIns="0" rIns="0" bIns="0" rtlCol="0" anchor="ctr"/>
          <a:lstStyle/>
          <a:p>
            <a:pPr marL="0" indent="0">
              <a:lnSpc>
                <a:spcPct val="105000"/>
              </a:lnSpc>
              <a:buNone/>
              <a:defRPr/>
            </a:pPr>
            <a:r>
              <a:rPr lang="en-US" sz="1300" b="1">
                <a:solidFill>
                  <a:srgbClr val="FFFFFF"/>
                </a:solidFill>
                <a:latin typeface="Calibri"/>
                <a:ea typeface="Calibri"/>
                <a:cs typeface="Calibri"/>
              </a:rPr>
              <a:t>Rollenbasierter Zugriff:  </a:t>
            </a:r>
            <a:r>
              <a:rPr lang="en-US" sz="1300">
                <a:solidFill>
                  <a:srgbClr val="CFE0F5"/>
                </a:solidFill>
                <a:latin typeface="Calibri"/>
                <a:ea typeface="Calibri"/>
                <a:cs typeface="Calibri"/>
              </a:rPr>
              <a:t>Wer welche Beschwerden sieht, entscheidet nicht nur die Oberfläche, sondern die Datenbank selbst (Row-Level-Security) — dazu später mehr.</a:t>
            </a:r>
            <a:endParaRPr lang="en-US" sz="1300"/>
          </a:p>
        </p:txBody>
      </p:sp>
      <p:sp>
        <p:nvSpPr>
          <p:cNvPr id="453331452" name="Text 26"/>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859592870" name="Text 27"/>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5F8FC"/>
        </a:solidFill>
      </p:bgPr>
    </p:bg>
    <p:spTree>
      <p:nvGrpSpPr>
        <p:cNvPr id="1" name=""/>
        <p:cNvGrpSpPr/>
        <p:nvPr/>
      </p:nvGrpSpPr>
      <p:grpSpPr bwMode="auto">
        <a:xfrm>
          <a:off x="0" y="0"/>
          <a:ext cx="0" cy="0"/>
          <a:chOff x="0" y="0"/>
          <a:chExt cx="0" cy="0"/>
        </a:xfrm>
      </p:grpSpPr>
      <p:sp>
        <p:nvSpPr>
          <p:cNvPr id="317541941"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2 · UNSERE LÖSUNG</a:t>
            </a:r>
            <a:endParaRPr lang="en-US" sz="1250"/>
          </a:p>
        </p:txBody>
      </p:sp>
      <p:sp>
        <p:nvSpPr>
          <p:cNvPr id="1247508612"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Sprechen statt schreiben</a:t>
            </a:r>
            <a:endParaRPr lang="en-US" sz="3300"/>
          </a:p>
        </p:txBody>
      </p:sp>
      <p:sp>
        <p:nvSpPr>
          <p:cNvPr id="2085880849" name="Text 2"/>
          <p:cNvSpPr/>
          <p:nvPr/>
        </p:nvSpPr>
        <p:spPr bwMode="auto">
          <a:xfrm>
            <a:off x="566928" y="1572768"/>
            <a:ext cx="11064240" cy="777240"/>
          </a:xfrm>
          <a:prstGeom prst="rect">
            <a:avLst/>
          </a:prstGeom>
          <a:noFill/>
          <a:ln/>
        </p:spPr>
        <p:txBody>
          <a:bodyPr wrap="square" lIns="0" tIns="0" rIns="0" bIns="0" rtlCol="0" anchor="ctr"/>
          <a:lstStyle/>
          <a:p>
            <a:pPr marL="0" indent="0">
              <a:lnSpc>
                <a:spcPct val="108000"/>
              </a:lnSpc>
              <a:buNone/>
              <a:defRPr/>
            </a:pPr>
            <a:r>
              <a:rPr lang="en-US" sz="1550">
                <a:solidFill>
                  <a:srgbClr val="13233B"/>
                </a:solidFill>
                <a:latin typeface="Calibri"/>
                <a:ea typeface="Calibri"/>
                <a:cs typeface="Calibri"/>
              </a:rPr>
              <a:t>Statt zu schreiben, sprechen die Bewohner:innen ihr Anliegen auf ein Tablet. Die App liest jede Frage vor, nimmt die Antwort auf, wandelt sie per KI in Text um und schickt Beschwerde, Text und Audioaufnahme an eine zentrale Stelle.</a:t>
            </a:r>
            <a:endParaRPr lang="en-US" sz="1550"/>
          </a:p>
        </p:txBody>
      </p:sp>
      <p:sp>
        <p:nvSpPr>
          <p:cNvPr id="854488062" name="Shape 3"/>
          <p:cNvSpPr/>
          <p:nvPr/>
        </p:nvSpPr>
        <p:spPr bwMode="auto">
          <a:xfrm>
            <a:off x="566928" y="2487168"/>
            <a:ext cx="2697480" cy="841248"/>
          </a:xfrm>
          <a:prstGeom prst="roundRect">
            <a:avLst>
              <a:gd name="adj" fmla="val 1304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119571322" name="Shape 4"/>
          <p:cNvSpPr/>
          <p:nvPr/>
        </p:nvSpPr>
        <p:spPr bwMode="auto">
          <a:xfrm>
            <a:off x="786384" y="2688336"/>
            <a:ext cx="438912" cy="438912"/>
          </a:xfrm>
          <a:prstGeom prst="ellipse">
            <a:avLst/>
          </a:prstGeom>
          <a:solidFill>
            <a:srgbClr val="B9770A"/>
          </a:solidFill>
          <a:ln/>
        </p:spPr>
      </p:sp>
      <p:pic>
        <p:nvPicPr>
          <p:cNvPr id="747503250" name="Image 0" descr="preencoded.png"/>
          <p:cNvPicPr>
            <a:picLocks noChangeAspect="1"/>
          </p:cNvPicPr>
          <p:nvPr/>
        </p:nvPicPr>
        <p:blipFill rotWithShape="1">
          <a:blip r:embed="rId3"/>
          <a:stretch/>
        </p:blipFill>
        <p:spPr bwMode="auto">
          <a:xfrm>
            <a:off x="896112" y="2798064"/>
            <a:ext cx="219456" cy="219456"/>
          </a:xfrm>
          <a:prstGeom prst="rect">
            <a:avLst/>
          </a:prstGeom>
        </p:spPr>
      </p:pic>
      <p:sp>
        <p:nvSpPr>
          <p:cNvPr id="1663836644" name="Text 5"/>
          <p:cNvSpPr/>
          <p:nvPr/>
        </p:nvSpPr>
        <p:spPr bwMode="auto">
          <a:xfrm>
            <a:off x="1335024" y="2487168"/>
            <a:ext cx="1801367" cy="841248"/>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Jede Frage wird vorgelesen</a:t>
            </a:r>
            <a:endParaRPr lang="en-US" sz="1250"/>
          </a:p>
        </p:txBody>
      </p:sp>
      <p:sp>
        <p:nvSpPr>
          <p:cNvPr id="1020949358" name="Shape 6"/>
          <p:cNvSpPr/>
          <p:nvPr/>
        </p:nvSpPr>
        <p:spPr bwMode="auto">
          <a:xfrm>
            <a:off x="3383280" y="2487168"/>
            <a:ext cx="2697480" cy="841248"/>
          </a:xfrm>
          <a:prstGeom prst="roundRect">
            <a:avLst>
              <a:gd name="adj" fmla="val 1304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07847356" name="Shape 7"/>
          <p:cNvSpPr/>
          <p:nvPr/>
        </p:nvSpPr>
        <p:spPr bwMode="auto">
          <a:xfrm>
            <a:off x="3602735" y="2688336"/>
            <a:ext cx="438912" cy="438912"/>
          </a:xfrm>
          <a:prstGeom prst="ellipse">
            <a:avLst/>
          </a:prstGeom>
          <a:solidFill>
            <a:srgbClr val="D22F3A"/>
          </a:solidFill>
          <a:ln/>
        </p:spPr>
      </p:sp>
      <p:pic>
        <p:nvPicPr>
          <p:cNvPr id="571451999" name="Image 1" descr="preencoded.png"/>
          <p:cNvPicPr>
            <a:picLocks noChangeAspect="1"/>
          </p:cNvPicPr>
          <p:nvPr/>
        </p:nvPicPr>
        <p:blipFill rotWithShape="1">
          <a:blip r:embed="rId4"/>
          <a:stretch/>
        </p:blipFill>
        <p:spPr bwMode="auto">
          <a:xfrm>
            <a:off x="3712464" y="2798064"/>
            <a:ext cx="219456" cy="219456"/>
          </a:xfrm>
          <a:prstGeom prst="rect">
            <a:avLst/>
          </a:prstGeom>
        </p:spPr>
      </p:pic>
      <p:sp>
        <p:nvSpPr>
          <p:cNvPr id="966657766" name="Text 8"/>
          <p:cNvSpPr/>
          <p:nvPr/>
        </p:nvSpPr>
        <p:spPr bwMode="auto">
          <a:xfrm>
            <a:off x="4151376" y="2487168"/>
            <a:ext cx="1801367" cy="841248"/>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Antwort einfach einsprechen</a:t>
            </a:r>
            <a:endParaRPr lang="en-US" sz="1250"/>
          </a:p>
        </p:txBody>
      </p:sp>
      <p:sp>
        <p:nvSpPr>
          <p:cNvPr id="822913286" name="Shape 9"/>
          <p:cNvSpPr/>
          <p:nvPr/>
        </p:nvSpPr>
        <p:spPr bwMode="auto">
          <a:xfrm>
            <a:off x="6199632" y="2487168"/>
            <a:ext cx="2697480" cy="841248"/>
          </a:xfrm>
          <a:prstGeom prst="roundRect">
            <a:avLst>
              <a:gd name="adj" fmla="val 1304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41230912" name="Shape 10"/>
          <p:cNvSpPr/>
          <p:nvPr/>
        </p:nvSpPr>
        <p:spPr bwMode="auto">
          <a:xfrm>
            <a:off x="6419088" y="2688336"/>
            <a:ext cx="438912" cy="438912"/>
          </a:xfrm>
          <a:prstGeom prst="ellipse">
            <a:avLst/>
          </a:prstGeom>
          <a:solidFill>
            <a:srgbClr val="1B4F8F"/>
          </a:solidFill>
          <a:ln/>
        </p:spPr>
      </p:sp>
      <p:pic>
        <p:nvPicPr>
          <p:cNvPr id="1097800507" name="Image 2" descr="preencoded.png"/>
          <p:cNvPicPr>
            <a:picLocks noChangeAspect="1"/>
          </p:cNvPicPr>
          <p:nvPr/>
        </p:nvPicPr>
        <p:blipFill rotWithShape="1">
          <a:blip r:embed="rId5"/>
          <a:stretch/>
        </p:blipFill>
        <p:spPr bwMode="auto">
          <a:xfrm>
            <a:off x="6528816" y="2798064"/>
            <a:ext cx="219456" cy="219456"/>
          </a:xfrm>
          <a:prstGeom prst="rect">
            <a:avLst/>
          </a:prstGeom>
        </p:spPr>
      </p:pic>
      <p:sp>
        <p:nvSpPr>
          <p:cNvPr id="1636163076" name="Text 11"/>
          <p:cNvSpPr/>
          <p:nvPr/>
        </p:nvSpPr>
        <p:spPr bwMode="auto">
          <a:xfrm>
            <a:off x="6967728" y="2487168"/>
            <a:ext cx="1801367" cy="841248"/>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KI wandelt Sprache in Text</a:t>
            </a:r>
            <a:endParaRPr lang="en-US" sz="1250"/>
          </a:p>
        </p:txBody>
      </p:sp>
      <p:sp>
        <p:nvSpPr>
          <p:cNvPr id="1690925879" name="Shape 12"/>
          <p:cNvSpPr/>
          <p:nvPr/>
        </p:nvSpPr>
        <p:spPr bwMode="auto">
          <a:xfrm>
            <a:off x="9015984" y="2487168"/>
            <a:ext cx="2697480" cy="841248"/>
          </a:xfrm>
          <a:prstGeom prst="roundRect">
            <a:avLst>
              <a:gd name="adj" fmla="val 1304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62946215" name="Shape 13"/>
          <p:cNvSpPr/>
          <p:nvPr/>
        </p:nvSpPr>
        <p:spPr bwMode="auto">
          <a:xfrm>
            <a:off x="9235440" y="2688336"/>
            <a:ext cx="438912" cy="438912"/>
          </a:xfrm>
          <a:prstGeom prst="ellipse">
            <a:avLst/>
          </a:prstGeom>
          <a:solidFill>
            <a:srgbClr val="2E8B57"/>
          </a:solidFill>
          <a:ln/>
        </p:spPr>
      </p:sp>
      <p:pic>
        <p:nvPicPr>
          <p:cNvPr id="860243059" name="Image 3" descr="preencoded.png"/>
          <p:cNvPicPr>
            <a:picLocks noChangeAspect="1"/>
          </p:cNvPicPr>
          <p:nvPr/>
        </p:nvPicPr>
        <p:blipFill rotWithShape="1">
          <a:blip r:embed="rId6"/>
          <a:stretch/>
        </p:blipFill>
        <p:spPr bwMode="auto">
          <a:xfrm>
            <a:off x="9345168" y="2798064"/>
            <a:ext cx="219456" cy="219456"/>
          </a:xfrm>
          <a:prstGeom prst="rect">
            <a:avLst/>
          </a:prstGeom>
        </p:spPr>
      </p:pic>
      <p:sp>
        <p:nvSpPr>
          <p:cNvPr id="681301169" name="Text 14"/>
          <p:cNvSpPr/>
          <p:nvPr/>
        </p:nvSpPr>
        <p:spPr bwMode="auto">
          <a:xfrm>
            <a:off x="9784079" y="2487168"/>
            <a:ext cx="1801367" cy="841248"/>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Zentral: E-Mail + Datenbank</a:t>
            </a:r>
            <a:endParaRPr lang="en-US" sz="1250"/>
          </a:p>
        </p:txBody>
      </p:sp>
      <p:pic>
        <p:nvPicPr>
          <p:cNvPr id="879839116" name="Image 4" descr="/home/claude/assets/overview_r.png"/>
          <p:cNvPicPr>
            <a:picLocks noChangeAspect="1"/>
          </p:cNvPicPr>
          <p:nvPr/>
        </p:nvPicPr>
        <p:blipFill rotWithShape="1">
          <a:blip r:embed="rId7"/>
          <a:stretch/>
        </p:blipFill>
        <p:spPr bwMode="auto">
          <a:xfrm>
            <a:off x="566928" y="3703320"/>
            <a:ext cx="11064240" cy="1960559"/>
          </a:xfrm>
          <a:prstGeom prst="rect">
            <a:avLst/>
          </a:prstGeom>
        </p:spPr>
      </p:pic>
      <p:sp>
        <p:nvSpPr>
          <p:cNvPr id="698992132" name="Text 15"/>
          <p:cNvSpPr/>
          <p:nvPr/>
        </p:nvSpPr>
        <p:spPr bwMode="auto">
          <a:xfrm>
            <a:off x="566928" y="5828471"/>
            <a:ext cx="11064240" cy="457200"/>
          </a:xfrm>
          <a:prstGeom prst="rect">
            <a:avLst/>
          </a:prstGeom>
          <a:noFill/>
          <a:ln/>
        </p:spPr>
        <p:txBody>
          <a:bodyPr wrap="square" lIns="0" tIns="0" rIns="0" bIns="0" rtlCol="0" anchor="ctr"/>
          <a:lstStyle/>
          <a:p>
            <a:pPr marL="0" indent="0" algn="ctr">
              <a:buNone/>
              <a:defRPr/>
            </a:pPr>
            <a:r>
              <a:rPr lang="en-US" sz="1200" i="1">
                <a:solidFill>
                  <a:srgbClr val="5A6B82"/>
                </a:solidFill>
                <a:latin typeface="Calibri"/>
                <a:ea typeface="Calibri"/>
                <a:cs typeface="Calibri"/>
              </a:rPr>
              <a:t>Der komplette Weg der Bewohner:innen — bewusst auf das Nötigste reduziert. Vorbild für die Bedienung: das barrierefreie Lernsystem Mebis.</a:t>
            </a:r>
            <a:endParaRPr lang="en-US" sz="1200"/>
          </a:p>
        </p:txBody>
      </p:sp>
      <p:sp>
        <p:nvSpPr>
          <p:cNvPr id="383223127" name="Text 16"/>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177465090" name="Text 17"/>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5F8FC"/>
        </a:solidFill>
      </p:bgPr>
    </p:bg>
    <p:spTree>
      <p:nvGrpSpPr>
        <p:cNvPr id="1" name=""/>
        <p:cNvGrpSpPr/>
        <p:nvPr/>
      </p:nvGrpSpPr>
      <p:grpSpPr bwMode="auto">
        <a:xfrm>
          <a:off x="0" y="0"/>
          <a:ext cx="0" cy="0"/>
          <a:chOff x="0" y="0"/>
          <a:chExt cx="0" cy="0"/>
        </a:xfrm>
      </p:grpSpPr>
      <p:sp>
        <p:nvSpPr>
          <p:cNvPr id="31561208"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2 · OBERFLÄCHE</a:t>
            </a:r>
            <a:endParaRPr lang="en-US" sz="1250"/>
          </a:p>
        </p:txBody>
      </p:sp>
      <p:sp>
        <p:nvSpPr>
          <p:cNvPr id="1370059129"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Der Bewohner-Flow — 6 Ebenen</a:t>
            </a:r>
            <a:endParaRPr lang="en-US" sz="3300"/>
          </a:p>
        </p:txBody>
      </p:sp>
      <p:sp>
        <p:nvSpPr>
          <p:cNvPr id="1623288999" name="Shape 2"/>
          <p:cNvSpPr/>
          <p:nvPr/>
        </p:nvSpPr>
        <p:spPr bwMode="auto">
          <a:xfrm>
            <a:off x="521208"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1032353518" name="Image 0" descr="/home/claude/assets/1_start_r.png"/>
          <p:cNvPicPr>
            <a:picLocks noChangeAspect="1"/>
          </p:cNvPicPr>
          <p:nvPr/>
        </p:nvPicPr>
        <p:blipFill rotWithShape="1">
          <a:blip r:embed="rId3"/>
          <a:stretch/>
        </p:blipFill>
        <p:spPr bwMode="auto">
          <a:xfrm>
            <a:off x="566928" y="1737360"/>
            <a:ext cx="1664208" cy="2217843"/>
          </a:xfrm>
          <a:prstGeom prst="rect">
            <a:avLst/>
          </a:prstGeom>
        </p:spPr>
      </p:pic>
      <p:sp>
        <p:nvSpPr>
          <p:cNvPr id="1759228684" name="Shape 3"/>
          <p:cNvSpPr/>
          <p:nvPr/>
        </p:nvSpPr>
        <p:spPr bwMode="auto">
          <a:xfrm>
            <a:off x="585216" y="4083218"/>
            <a:ext cx="402336" cy="402336"/>
          </a:xfrm>
          <a:prstGeom prst="ellipse">
            <a:avLst/>
          </a:prstGeom>
          <a:solidFill>
            <a:srgbClr val="1B4F8F"/>
          </a:solidFill>
          <a:ln/>
        </p:spPr>
      </p:sp>
      <p:sp>
        <p:nvSpPr>
          <p:cNvPr id="2056052935" name="Text 4"/>
          <p:cNvSpPr/>
          <p:nvPr/>
        </p:nvSpPr>
        <p:spPr bwMode="auto">
          <a:xfrm>
            <a:off x="585216"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1</a:t>
            </a:r>
            <a:endParaRPr lang="en-US" sz="1400"/>
          </a:p>
        </p:txBody>
      </p:sp>
      <p:sp>
        <p:nvSpPr>
          <p:cNvPr id="1991381091" name="Text 5"/>
          <p:cNvSpPr/>
          <p:nvPr/>
        </p:nvSpPr>
        <p:spPr bwMode="auto">
          <a:xfrm>
            <a:off x="1042416"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Start</a:t>
            </a:r>
            <a:endParaRPr lang="en-US" sz="1250"/>
          </a:p>
        </p:txBody>
      </p:sp>
      <p:sp>
        <p:nvSpPr>
          <p:cNvPr id="612824641" name="Text 6"/>
          <p:cNvSpPr/>
          <p:nvPr/>
        </p:nvSpPr>
        <p:spPr bwMode="auto">
          <a:xfrm>
            <a:off x="1042416"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Ein großer Knopf</a:t>
            </a:r>
            <a:endParaRPr lang="en-US" sz="950"/>
          </a:p>
        </p:txBody>
      </p:sp>
      <p:sp>
        <p:nvSpPr>
          <p:cNvPr id="1493584733" name="Shape 7"/>
          <p:cNvSpPr/>
          <p:nvPr/>
        </p:nvSpPr>
        <p:spPr bwMode="auto">
          <a:xfrm>
            <a:off x="2400300"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2067097003" name="Image 1" descr="/home/claude/assets/2_problem_r.png"/>
          <p:cNvPicPr>
            <a:picLocks noChangeAspect="1"/>
          </p:cNvPicPr>
          <p:nvPr/>
        </p:nvPicPr>
        <p:blipFill rotWithShape="1">
          <a:blip r:embed="rId4"/>
          <a:stretch/>
        </p:blipFill>
        <p:spPr bwMode="auto">
          <a:xfrm>
            <a:off x="2446019" y="1737360"/>
            <a:ext cx="1664208" cy="2217843"/>
          </a:xfrm>
          <a:prstGeom prst="rect">
            <a:avLst/>
          </a:prstGeom>
        </p:spPr>
      </p:pic>
      <p:sp>
        <p:nvSpPr>
          <p:cNvPr id="672562652" name="Shape 8"/>
          <p:cNvSpPr/>
          <p:nvPr/>
        </p:nvSpPr>
        <p:spPr bwMode="auto">
          <a:xfrm>
            <a:off x="2464308" y="4083218"/>
            <a:ext cx="402336" cy="402336"/>
          </a:xfrm>
          <a:prstGeom prst="ellipse">
            <a:avLst/>
          </a:prstGeom>
          <a:solidFill>
            <a:srgbClr val="1B4F8F"/>
          </a:solidFill>
          <a:ln/>
        </p:spPr>
      </p:sp>
      <p:sp>
        <p:nvSpPr>
          <p:cNvPr id="2130677569" name="Text 9"/>
          <p:cNvSpPr/>
          <p:nvPr/>
        </p:nvSpPr>
        <p:spPr bwMode="auto">
          <a:xfrm>
            <a:off x="2464308"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2</a:t>
            </a:r>
            <a:endParaRPr lang="en-US" sz="1400"/>
          </a:p>
        </p:txBody>
      </p:sp>
      <p:sp>
        <p:nvSpPr>
          <p:cNvPr id="1874179857" name="Text 10"/>
          <p:cNvSpPr/>
          <p:nvPr/>
        </p:nvSpPr>
        <p:spPr bwMode="auto">
          <a:xfrm>
            <a:off x="2921508"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Was ist los?</a:t>
            </a:r>
            <a:endParaRPr lang="en-US" sz="1250"/>
          </a:p>
        </p:txBody>
      </p:sp>
      <p:sp>
        <p:nvSpPr>
          <p:cNvPr id="1693370424" name="Text 11"/>
          <p:cNvSpPr/>
          <p:nvPr/>
        </p:nvSpPr>
        <p:spPr bwMode="auto">
          <a:xfrm>
            <a:off x="2921508"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Problem einsprechen</a:t>
            </a:r>
            <a:endParaRPr lang="en-US" sz="950"/>
          </a:p>
        </p:txBody>
      </p:sp>
      <p:sp>
        <p:nvSpPr>
          <p:cNvPr id="1890722972" name="Shape 12"/>
          <p:cNvSpPr/>
          <p:nvPr/>
        </p:nvSpPr>
        <p:spPr bwMode="auto">
          <a:xfrm>
            <a:off x="4279392"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1086459554" name="Image 2" descr="/home/claude/assets/3_loesung_r.png"/>
          <p:cNvPicPr>
            <a:picLocks noChangeAspect="1"/>
          </p:cNvPicPr>
          <p:nvPr/>
        </p:nvPicPr>
        <p:blipFill rotWithShape="1">
          <a:blip r:embed="rId5"/>
          <a:stretch/>
        </p:blipFill>
        <p:spPr bwMode="auto">
          <a:xfrm>
            <a:off x="4325112" y="1737360"/>
            <a:ext cx="1664208" cy="2217843"/>
          </a:xfrm>
          <a:prstGeom prst="rect">
            <a:avLst/>
          </a:prstGeom>
        </p:spPr>
      </p:pic>
      <p:sp>
        <p:nvSpPr>
          <p:cNvPr id="1357786" name="Shape 13"/>
          <p:cNvSpPr/>
          <p:nvPr/>
        </p:nvSpPr>
        <p:spPr bwMode="auto">
          <a:xfrm>
            <a:off x="4343400" y="4083218"/>
            <a:ext cx="402336" cy="402336"/>
          </a:xfrm>
          <a:prstGeom prst="ellipse">
            <a:avLst/>
          </a:prstGeom>
          <a:solidFill>
            <a:srgbClr val="1B4F8F"/>
          </a:solidFill>
          <a:ln/>
        </p:spPr>
      </p:sp>
      <p:sp>
        <p:nvSpPr>
          <p:cNvPr id="868078361" name="Text 14"/>
          <p:cNvSpPr/>
          <p:nvPr/>
        </p:nvSpPr>
        <p:spPr bwMode="auto">
          <a:xfrm>
            <a:off x="4343400"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3</a:t>
            </a:r>
            <a:endParaRPr lang="en-US" sz="1400"/>
          </a:p>
        </p:txBody>
      </p:sp>
      <p:sp>
        <p:nvSpPr>
          <p:cNvPr id="1079182347" name="Text 15"/>
          <p:cNvSpPr/>
          <p:nvPr/>
        </p:nvSpPr>
        <p:spPr bwMode="auto">
          <a:xfrm>
            <a:off x="4800600"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Deine Idee?</a:t>
            </a:r>
            <a:endParaRPr lang="en-US" sz="1250"/>
          </a:p>
        </p:txBody>
      </p:sp>
      <p:sp>
        <p:nvSpPr>
          <p:cNvPr id="1202073678" name="Text 16"/>
          <p:cNvSpPr/>
          <p:nvPr/>
        </p:nvSpPr>
        <p:spPr bwMode="auto">
          <a:xfrm>
            <a:off x="4800600"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Lösung (optional)</a:t>
            </a:r>
            <a:endParaRPr lang="en-US" sz="950"/>
          </a:p>
        </p:txBody>
      </p:sp>
      <p:sp>
        <p:nvSpPr>
          <p:cNvPr id="1533565483" name="Shape 17"/>
          <p:cNvSpPr/>
          <p:nvPr/>
        </p:nvSpPr>
        <p:spPr bwMode="auto">
          <a:xfrm>
            <a:off x="6158484"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1010425106" name="Image 3" descr="/home/claude/assets/4_name_r.png"/>
          <p:cNvPicPr>
            <a:picLocks noChangeAspect="1"/>
          </p:cNvPicPr>
          <p:nvPr/>
        </p:nvPicPr>
        <p:blipFill rotWithShape="1">
          <a:blip r:embed="rId6"/>
          <a:stretch/>
        </p:blipFill>
        <p:spPr bwMode="auto">
          <a:xfrm>
            <a:off x="6204204" y="1737360"/>
            <a:ext cx="1664208" cy="2217843"/>
          </a:xfrm>
          <a:prstGeom prst="rect">
            <a:avLst/>
          </a:prstGeom>
        </p:spPr>
      </p:pic>
      <p:sp>
        <p:nvSpPr>
          <p:cNvPr id="1073300268" name="Shape 18"/>
          <p:cNvSpPr/>
          <p:nvPr/>
        </p:nvSpPr>
        <p:spPr bwMode="auto">
          <a:xfrm>
            <a:off x="6222492" y="4083218"/>
            <a:ext cx="402336" cy="402336"/>
          </a:xfrm>
          <a:prstGeom prst="ellipse">
            <a:avLst/>
          </a:prstGeom>
          <a:solidFill>
            <a:srgbClr val="1B4F8F"/>
          </a:solidFill>
          <a:ln/>
        </p:spPr>
      </p:sp>
      <p:sp>
        <p:nvSpPr>
          <p:cNvPr id="1353277841" name="Text 19"/>
          <p:cNvSpPr/>
          <p:nvPr/>
        </p:nvSpPr>
        <p:spPr bwMode="auto">
          <a:xfrm>
            <a:off x="6222492"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4</a:t>
            </a:r>
            <a:endParaRPr lang="en-US" sz="1400"/>
          </a:p>
        </p:txBody>
      </p:sp>
      <p:sp>
        <p:nvSpPr>
          <p:cNvPr id="1301570203" name="Text 20"/>
          <p:cNvSpPr/>
          <p:nvPr/>
        </p:nvSpPr>
        <p:spPr bwMode="auto">
          <a:xfrm>
            <a:off x="6679692"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Dein Name?</a:t>
            </a:r>
            <a:endParaRPr lang="en-US" sz="1250"/>
          </a:p>
        </p:txBody>
      </p:sp>
      <p:sp>
        <p:nvSpPr>
          <p:cNvPr id="1619774635" name="Text 21"/>
          <p:cNvSpPr/>
          <p:nvPr/>
        </p:nvSpPr>
        <p:spPr bwMode="auto">
          <a:xfrm>
            <a:off x="6679692"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Name oder anonym</a:t>
            </a:r>
            <a:endParaRPr lang="en-US" sz="950"/>
          </a:p>
        </p:txBody>
      </p:sp>
      <p:sp>
        <p:nvSpPr>
          <p:cNvPr id="1978852171" name="Shape 22"/>
          <p:cNvSpPr/>
          <p:nvPr/>
        </p:nvSpPr>
        <p:spPr bwMode="auto">
          <a:xfrm>
            <a:off x="8037576"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1420147989" name="Image 4" descr="/home/claude/assets/5_senden_r.png"/>
          <p:cNvPicPr>
            <a:picLocks noChangeAspect="1"/>
          </p:cNvPicPr>
          <p:nvPr/>
        </p:nvPicPr>
        <p:blipFill rotWithShape="1">
          <a:blip r:embed="rId7"/>
          <a:stretch/>
        </p:blipFill>
        <p:spPr bwMode="auto">
          <a:xfrm>
            <a:off x="8083296" y="1737360"/>
            <a:ext cx="1664208" cy="2217843"/>
          </a:xfrm>
          <a:prstGeom prst="rect">
            <a:avLst/>
          </a:prstGeom>
        </p:spPr>
      </p:pic>
      <p:sp>
        <p:nvSpPr>
          <p:cNvPr id="1616881075" name="Shape 23"/>
          <p:cNvSpPr/>
          <p:nvPr/>
        </p:nvSpPr>
        <p:spPr bwMode="auto">
          <a:xfrm>
            <a:off x="8101584" y="4083218"/>
            <a:ext cx="402336" cy="402336"/>
          </a:xfrm>
          <a:prstGeom prst="ellipse">
            <a:avLst/>
          </a:prstGeom>
          <a:solidFill>
            <a:srgbClr val="1B4F8F"/>
          </a:solidFill>
          <a:ln/>
        </p:spPr>
      </p:sp>
      <p:sp>
        <p:nvSpPr>
          <p:cNvPr id="713042446" name="Text 24"/>
          <p:cNvSpPr/>
          <p:nvPr/>
        </p:nvSpPr>
        <p:spPr bwMode="auto">
          <a:xfrm>
            <a:off x="8101584"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5</a:t>
            </a:r>
            <a:endParaRPr lang="en-US" sz="1400"/>
          </a:p>
        </p:txBody>
      </p:sp>
      <p:sp>
        <p:nvSpPr>
          <p:cNvPr id="828658815" name="Text 25"/>
          <p:cNvSpPr/>
          <p:nvPr/>
        </p:nvSpPr>
        <p:spPr bwMode="auto">
          <a:xfrm>
            <a:off x="8558784"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Abschicken?</a:t>
            </a:r>
            <a:endParaRPr lang="en-US" sz="1250"/>
          </a:p>
        </p:txBody>
      </p:sp>
      <p:sp>
        <p:nvSpPr>
          <p:cNvPr id="1681127497" name="Text 26"/>
          <p:cNvSpPr/>
          <p:nvPr/>
        </p:nvSpPr>
        <p:spPr bwMode="auto">
          <a:xfrm>
            <a:off x="8558784"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Anhören &amp; senden</a:t>
            </a:r>
            <a:endParaRPr lang="en-US" sz="950"/>
          </a:p>
        </p:txBody>
      </p:sp>
      <p:sp>
        <p:nvSpPr>
          <p:cNvPr id="1999068329" name="Shape 27"/>
          <p:cNvSpPr/>
          <p:nvPr/>
        </p:nvSpPr>
        <p:spPr bwMode="auto">
          <a:xfrm>
            <a:off x="9916668" y="1691640"/>
            <a:ext cx="1755648" cy="2309283"/>
          </a:xfrm>
          <a:prstGeom prst="roundRect">
            <a:avLst>
              <a:gd name="adj" fmla="val 5208"/>
            </a:avLst>
          </a:prstGeom>
          <a:solidFill>
            <a:srgbClr val="FFFFFF"/>
          </a:solidFill>
          <a:ln w="12700">
            <a:solidFill>
              <a:srgbClr val="E1E8F1"/>
            </a:solidFill>
            <a:prstDash val="solid"/>
          </a:ln>
          <a:effectLst>
            <a:outerShdw blurRad="101600" dist="38100" dir="5400000" sx="100000" sy="100000" kx="0" ky="0" algn="bl" rotWithShape="0">
              <a:srgbClr val="1B2A44">
                <a:alpha val="16000"/>
              </a:srgbClr>
            </a:outerShdw>
          </a:effectLst>
        </p:spPr>
      </p:sp>
      <p:pic>
        <p:nvPicPr>
          <p:cNvPr id="2022324635" name="Image 5" descr="/home/claude/assets/6_fertig_r.png"/>
          <p:cNvPicPr>
            <a:picLocks noChangeAspect="1"/>
          </p:cNvPicPr>
          <p:nvPr/>
        </p:nvPicPr>
        <p:blipFill rotWithShape="1">
          <a:blip r:embed="rId8"/>
          <a:stretch/>
        </p:blipFill>
        <p:spPr bwMode="auto">
          <a:xfrm>
            <a:off x="9962388" y="1737360"/>
            <a:ext cx="1664208" cy="2217843"/>
          </a:xfrm>
          <a:prstGeom prst="rect">
            <a:avLst/>
          </a:prstGeom>
        </p:spPr>
      </p:pic>
      <p:sp>
        <p:nvSpPr>
          <p:cNvPr id="1208445801" name="Shape 28"/>
          <p:cNvSpPr/>
          <p:nvPr/>
        </p:nvSpPr>
        <p:spPr bwMode="auto">
          <a:xfrm>
            <a:off x="9980676" y="4083218"/>
            <a:ext cx="402336" cy="402336"/>
          </a:xfrm>
          <a:prstGeom prst="ellipse">
            <a:avLst/>
          </a:prstGeom>
          <a:solidFill>
            <a:srgbClr val="1B4F8F"/>
          </a:solidFill>
          <a:ln/>
        </p:spPr>
      </p:sp>
      <p:sp>
        <p:nvSpPr>
          <p:cNvPr id="908926285" name="Text 29"/>
          <p:cNvSpPr/>
          <p:nvPr/>
        </p:nvSpPr>
        <p:spPr bwMode="auto">
          <a:xfrm>
            <a:off x="9980676" y="4083218"/>
            <a:ext cx="402336" cy="402336"/>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6</a:t>
            </a:r>
            <a:endParaRPr lang="en-US" sz="1400"/>
          </a:p>
        </p:txBody>
      </p:sp>
      <p:sp>
        <p:nvSpPr>
          <p:cNvPr id="492883467" name="Text 30"/>
          <p:cNvSpPr/>
          <p:nvPr/>
        </p:nvSpPr>
        <p:spPr bwMode="auto">
          <a:xfrm>
            <a:off x="10437875" y="4083218"/>
            <a:ext cx="1207008" cy="256032"/>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Fertig!</a:t>
            </a:r>
            <a:endParaRPr lang="en-US" sz="1250"/>
          </a:p>
        </p:txBody>
      </p:sp>
      <p:sp>
        <p:nvSpPr>
          <p:cNvPr id="182333577" name="Text 31"/>
          <p:cNvSpPr/>
          <p:nvPr/>
        </p:nvSpPr>
        <p:spPr bwMode="auto">
          <a:xfrm>
            <a:off x="10437875" y="4320963"/>
            <a:ext cx="1207008" cy="237744"/>
          </a:xfrm>
          <a:prstGeom prst="rect">
            <a:avLst/>
          </a:prstGeom>
          <a:noFill/>
          <a:ln/>
        </p:spPr>
        <p:txBody>
          <a:bodyPr wrap="square" lIns="0" tIns="0" rIns="0" bIns="0" rtlCol="0" anchor="ctr"/>
          <a:lstStyle/>
          <a:p>
            <a:pPr marL="0" indent="0">
              <a:buNone/>
              <a:defRPr/>
            </a:pPr>
            <a:r>
              <a:rPr lang="en-US" sz="950">
                <a:solidFill>
                  <a:srgbClr val="5A6B82"/>
                </a:solidFill>
                <a:latin typeface="Calibri"/>
                <a:ea typeface="Calibri"/>
                <a:cs typeface="Calibri"/>
              </a:rPr>
              <a:t>Freundliche Bestätigung</a:t>
            </a:r>
            <a:endParaRPr lang="en-US" sz="950"/>
          </a:p>
        </p:txBody>
      </p:sp>
      <p:sp>
        <p:nvSpPr>
          <p:cNvPr id="1931116301" name="Text 32"/>
          <p:cNvSpPr/>
          <p:nvPr/>
        </p:nvSpPr>
        <p:spPr bwMode="auto">
          <a:xfrm>
            <a:off x="566928" y="6172200"/>
            <a:ext cx="11064240" cy="365760"/>
          </a:xfrm>
          <a:prstGeom prst="rect">
            <a:avLst/>
          </a:prstGeom>
          <a:noFill/>
          <a:ln/>
        </p:spPr>
        <p:txBody>
          <a:bodyPr wrap="square" lIns="0" tIns="0" rIns="0" bIns="0" rtlCol="0" anchor="ctr"/>
          <a:lstStyle/>
          <a:p>
            <a:pPr marL="0" indent="0" algn="ctr">
              <a:buNone/>
              <a:defRPr/>
            </a:pPr>
            <a:r>
              <a:rPr lang="en-US" sz="1250" b="1">
                <a:solidFill>
                  <a:srgbClr val="1B4F8F"/>
                </a:solidFill>
                <a:latin typeface="Calibri"/>
                <a:ea typeface="Calibri"/>
                <a:cs typeface="Calibri"/>
              </a:rPr>
              <a:t>Design-Prinzip:  </a:t>
            </a:r>
            <a:r>
              <a:rPr lang="en-US" sz="1250">
                <a:solidFill>
                  <a:srgbClr val="13233B"/>
                </a:solidFill>
                <a:latin typeface="Calibri"/>
                <a:ea typeface="Calibri"/>
                <a:cs typeface="Calibri"/>
              </a:rPr>
              <a:t>eine Frage pro Bildschirm · große Knöpfe · echte Symbole (keine Emojis) · alles wird vorgelesen · orange = vorlesen, rot = aufnehmen, grün = senden.</a:t>
            </a:r>
            <a:endParaRPr lang="en-US" sz="1250"/>
          </a:p>
        </p:txBody>
      </p:sp>
      <p:sp>
        <p:nvSpPr>
          <p:cNvPr id="739704612" name="Text 3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213866470" name="Text 3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5F8FC"/>
        </a:solidFill>
      </p:bgPr>
    </p:bg>
    <p:spTree>
      <p:nvGrpSpPr>
        <p:cNvPr id="1" name=""/>
        <p:cNvGrpSpPr/>
        <p:nvPr/>
      </p:nvGrpSpPr>
      <p:grpSpPr bwMode="auto">
        <a:xfrm>
          <a:off x="0" y="0"/>
          <a:ext cx="0" cy="0"/>
          <a:chOff x="0" y="0"/>
          <a:chExt cx="0" cy="0"/>
        </a:xfrm>
      </p:grpSpPr>
      <p:sp>
        <p:nvSpPr>
          <p:cNvPr id="1816906329"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UMSETZUNG · FUNKTIONEN</a:t>
            </a:r>
            <a:endParaRPr lang="en-US" sz="1250"/>
          </a:p>
        </p:txBody>
      </p:sp>
      <p:sp>
        <p:nvSpPr>
          <p:cNvPr id="1628518424"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Mehrere Ebenen &amp; Funktionen</a:t>
            </a:r>
            <a:endParaRPr lang="en-US" sz="3300"/>
          </a:p>
        </p:txBody>
      </p:sp>
      <p:sp>
        <p:nvSpPr>
          <p:cNvPr id="1101834833" name="Shape 2"/>
          <p:cNvSpPr/>
          <p:nvPr/>
        </p:nvSpPr>
        <p:spPr bwMode="auto">
          <a:xfrm>
            <a:off x="566928" y="1691640"/>
            <a:ext cx="6126480" cy="457200"/>
          </a:xfrm>
          <a:prstGeom prst="roundRect">
            <a:avLst>
              <a:gd name="adj" fmla="val 20000"/>
            </a:avLst>
          </a:prstGeom>
          <a:solidFill>
            <a:srgbClr val="DCEFE4"/>
          </a:solidFill>
          <a:ln/>
        </p:spPr>
      </p:sp>
      <p:sp>
        <p:nvSpPr>
          <p:cNvPr id="1801184872" name="Text 3"/>
          <p:cNvSpPr/>
          <p:nvPr/>
        </p:nvSpPr>
        <p:spPr bwMode="auto">
          <a:xfrm>
            <a:off x="749808" y="1691640"/>
            <a:ext cx="5760720" cy="457200"/>
          </a:xfrm>
          <a:prstGeom prst="rect">
            <a:avLst/>
          </a:prstGeom>
          <a:noFill/>
          <a:ln/>
        </p:spPr>
        <p:txBody>
          <a:bodyPr wrap="square" lIns="0" tIns="0" rIns="0" bIns="0" rtlCol="0" anchor="ctr"/>
          <a:lstStyle/>
          <a:p>
            <a:pPr marL="0" indent="0">
              <a:buNone/>
              <a:defRPr/>
            </a:pPr>
            <a:r>
              <a:rPr lang="en-US" sz="1200" b="1" spc="100">
                <a:solidFill>
                  <a:srgbClr val="1E6B44"/>
                </a:solidFill>
                <a:latin typeface="Calibri"/>
                <a:ea typeface="Calibri"/>
                <a:cs typeface="Calibri"/>
              </a:rPr>
              <a:t>≥ 3 FUNKTIONEN OHNE LOGIN (BEWOHNER)</a:t>
            </a:r>
            <a:endParaRPr lang="en-US" sz="1200"/>
          </a:p>
        </p:txBody>
      </p:sp>
      <p:sp>
        <p:nvSpPr>
          <p:cNvPr id="1325290630" name="Shape 4"/>
          <p:cNvSpPr/>
          <p:nvPr/>
        </p:nvSpPr>
        <p:spPr bwMode="auto">
          <a:xfrm>
            <a:off x="566928" y="2286000"/>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9053888" name="Shape 5"/>
          <p:cNvSpPr/>
          <p:nvPr/>
        </p:nvSpPr>
        <p:spPr bwMode="auto">
          <a:xfrm>
            <a:off x="749808" y="2459735"/>
            <a:ext cx="384048" cy="384048"/>
          </a:xfrm>
          <a:prstGeom prst="ellipse">
            <a:avLst/>
          </a:prstGeom>
          <a:solidFill>
            <a:srgbClr val="D22F3A"/>
          </a:solidFill>
          <a:ln/>
        </p:spPr>
      </p:sp>
      <p:pic>
        <p:nvPicPr>
          <p:cNvPr id="1367342328" name="Image 0" descr="preencoded.png"/>
          <p:cNvPicPr>
            <a:picLocks noChangeAspect="1"/>
          </p:cNvPicPr>
          <p:nvPr/>
        </p:nvPicPr>
        <p:blipFill rotWithShape="1">
          <a:blip r:embed="rId3"/>
          <a:stretch/>
        </p:blipFill>
        <p:spPr bwMode="auto">
          <a:xfrm>
            <a:off x="845820" y="2555748"/>
            <a:ext cx="192024" cy="192024"/>
          </a:xfrm>
          <a:prstGeom prst="rect">
            <a:avLst/>
          </a:prstGeom>
        </p:spPr>
      </p:pic>
      <p:sp>
        <p:nvSpPr>
          <p:cNvPr id="2021875356" name="Text 6"/>
          <p:cNvSpPr/>
          <p:nvPr/>
        </p:nvSpPr>
        <p:spPr bwMode="auto">
          <a:xfrm>
            <a:off x="1243584" y="2377440"/>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Spracheingabe / -aufnahme</a:t>
            </a:r>
            <a:endParaRPr lang="en-US" sz="1250"/>
          </a:p>
        </p:txBody>
      </p:sp>
      <p:sp>
        <p:nvSpPr>
          <p:cNvPr id="973397134" name="Text 7"/>
          <p:cNvSpPr/>
          <p:nvPr/>
        </p:nvSpPr>
        <p:spPr bwMode="auto">
          <a:xfrm>
            <a:off x="1243584" y="2688336"/>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MediaRecorder</a:t>
            </a:r>
            <a:endParaRPr lang="en-US" sz="1000"/>
          </a:p>
        </p:txBody>
      </p:sp>
      <p:sp>
        <p:nvSpPr>
          <p:cNvPr id="1573592279" name="Shape 8"/>
          <p:cNvSpPr/>
          <p:nvPr/>
        </p:nvSpPr>
        <p:spPr bwMode="auto">
          <a:xfrm>
            <a:off x="3721608" y="2286000"/>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26929526" name="Shape 9"/>
          <p:cNvSpPr/>
          <p:nvPr/>
        </p:nvSpPr>
        <p:spPr bwMode="auto">
          <a:xfrm>
            <a:off x="3904488" y="2459735"/>
            <a:ext cx="384048" cy="384048"/>
          </a:xfrm>
          <a:prstGeom prst="ellipse">
            <a:avLst/>
          </a:prstGeom>
          <a:solidFill>
            <a:srgbClr val="B9770A"/>
          </a:solidFill>
          <a:ln/>
        </p:spPr>
      </p:sp>
      <p:pic>
        <p:nvPicPr>
          <p:cNvPr id="276303078" name="Image 1" descr="preencoded.png"/>
          <p:cNvPicPr>
            <a:picLocks noChangeAspect="1"/>
          </p:cNvPicPr>
          <p:nvPr/>
        </p:nvPicPr>
        <p:blipFill rotWithShape="1">
          <a:blip r:embed="rId4"/>
          <a:stretch/>
        </p:blipFill>
        <p:spPr bwMode="auto">
          <a:xfrm>
            <a:off x="4000500" y="2555748"/>
            <a:ext cx="192024" cy="192024"/>
          </a:xfrm>
          <a:prstGeom prst="rect">
            <a:avLst/>
          </a:prstGeom>
        </p:spPr>
      </p:pic>
      <p:sp>
        <p:nvSpPr>
          <p:cNvPr id="1375007316" name="Text 10"/>
          <p:cNvSpPr/>
          <p:nvPr/>
        </p:nvSpPr>
        <p:spPr bwMode="auto">
          <a:xfrm>
            <a:off x="4398264" y="2377440"/>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Automatisches Vorlesen</a:t>
            </a:r>
            <a:endParaRPr lang="en-US" sz="1250"/>
          </a:p>
        </p:txBody>
      </p:sp>
      <p:sp>
        <p:nvSpPr>
          <p:cNvPr id="1381188913" name="Text 11"/>
          <p:cNvSpPr/>
          <p:nvPr/>
        </p:nvSpPr>
        <p:spPr bwMode="auto">
          <a:xfrm>
            <a:off x="4398264" y="2688336"/>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jeder Frage</a:t>
            </a:r>
            <a:endParaRPr lang="en-US" sz="1000"/>
          </a:p>
        </p:txBody>
      </p:sp>
      <p:sp>
        <p:nvSpPr>
          <p:cNvPr id="1713474744" name="Shape 12"/>
          <p:cNvSpPr/>
          <p:nvPr/>
        </p:nvSpPr>
        <p:spPr bwMode="auto">
          <a:xfrm>
            <a:off x="566928" y="3145536"/>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69897494" name="Shape 13"/>
          <p:cNvSpPr/>
          <p:nvPr/>
        </p:nvSpPr>
        <p:spPr bwMode="auto">
          <a:xfrm>
            <a:off x="749808" y="3319272"/>
            <a:ext cx="384048" cy="384048"/>
          </a:xfrm>
          <a:prstGeom prst="ellipse">
            <a:avLst/>
          </a:prstGeom>
          <a:solidFill>
            <a:srgbClr val="1B4F8F"/>
          </a:solidFill>
          <a:ln/>
        </p:spPr>
      </p:sp>
      <p:pic>
        <p:nvPicPr>
          <p:cNvPr id="30371817" name="Image 2" descr="preencoded.png"/>
          <p:cNvPicPr>
            <a:picLocks noChangeAspect="1"/>
          </p:cNvPicPr>
          <p:nvPr/>
        </p:nvPicPr>
        <p:blipFill rotWithShape="1">
          <a:blip r:embed="rId5"/>
          <a:stretch/>
        </p:blipFill>
        <p:spPr bwMode="auto">
          <a:xfrm>
            <a:off x="845820" y="3415284"/>
            <a:ext cx="192024" cy="192024"/>
          </a:xfrm>
          <a:prstGeom prst="rect">
            <a:avLst/>
          </a:prstGeom>
        </p:spPr>
      </p:pic>
      <p:sp>
        <p:nvSpPr>
          <p:cNvPr id="1083469366" name="Text 14"/>
          <p:cNvSpPr/>
          <p:nvPr/>
        </p:nvSpPr>
        <p:spPr bwMode="auto">
          <a:xfrm>
            <a:off x="1243584" y="3236976"/>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Eigene Antwort anhören</a:t>
            </a:r>
            <a:endParaRPr lang="en-US" sz="1250"/>
          </a:p>
        </p:txBody>
      </p:sp>
      <p:sp>
        <p:nvSpPr>
          <p:cNvPr id="1162762396" name="Text 15"/>
          <p:cNvSpPr/>
          <p:nvPr/>
        </p:nvSpPr>
        <p:spPr bwMode="auto">
          <a:xfrm>
            <a:off x="1243584" y="3547872"/>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vor dem Senden</a:t>
            </a:r>
            <a:endParaRPr lang="en-US" sz="1000"/>
          </a:p>
        </p:txBody>
      </p:sp>
      <p:sp>
        <p:nvSpPr>
          <p:cNvPr id="677217074" name="Shape 16"/>
          <p:cNvSpPr/>
          <p:nvPr/>
        </p:nvSpPr>
        <p:spPr bwMode="auto">
          <a:xfrm>
            <a:off x="3721608" y="3145536"/>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84435007" name="Shape 17"/>
          <p:cNvSpPr/>
          <p:nvPr/>
        </p:nvSpPr>
        <p:spPr bwMode="auto">
          <a:xfrm>
            <a:off x="3904488" y="3319272"/>
            <a:ext cx="384048" cy="384048"/>
          </a:xfrm>
          <a:prstGeom prst="ellipse">
            <a:avLst/>
          </a:prstGeom>
          <a:solidFill>
            <a:srgbClr val="6B5BD2"/>
          </a:solidFill>
          <a:ln/>
        </p:spPr>
      </p:sp>
      <p:pic>
        <p:nvPicPr>
          <p:cNvPr id="871266548" name="Image 3" descr="preencoded.png"/>
          <p:cNvPicPr>
            <a:picLocks noChangeAspect="1"/>
          </p:cNvPicPr>
          <p:nvPr/>
        </p:nvPicPr>
        <p:blipFill rotWithShape="1">
          <a:blip r:embed="rId6"/>
          <a:stretch/>
        </p:blipFill>
        <p:spPr bwMode="auto">
          <a:xfrm>
            <a:off x="4000500" y="3415284"/>
            <a:ext cx="192024" cy="192024"/>
          </a:xfrm>
          <a:prstGeom prst="rect">
            <a:avLst/>
          </a:prstGeom>
        </p:spPr>
      </p:pic>
      <p:sp>
        <p:nvSpPr>
          <p:cNvPr id="64241566" name="Text 18"/>
          <p:cNvSpPr/>
          <p:nvPr/>
        </p:nvSpPr>
        <p:spPr bwMode="auto">
          <a:xfrm>
            <a:off x="4398264" y="3236976"/>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Anonym-Umschalter</a:t>
            </a:r>
            <a:endParaRPr lang="en-US" sz="1250"/>
          </a:p>
        </p:txBody>
      </p:sp>
      <p:sp>
        <p:nvSpPr>
          <p:cNvPr id="1141556207" name="Text 19"/>
          <p:cNvSpPr/>
          <p:nvPr/>
        </p:nvSpPr>
        <p:spPr bwMode="auto">
          <a:xfrm>
            <a:off x="4398264" y="3547872"/>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Name oder anonym</a:t>
            </a:r>
            <a:endParaRPr lang="en-US" sz="1000"/>
          </a:p>
        </p:txBody>
      </p:sp>
      <p:sp>
        <p:nvSpPr>
          <p:cNvPr id="507746266" name="Shape 20"/>
          <p:cNvSpPr/>
          <p:nvPr/>
        </p:nvSpPr>
        <p:spPr bwMode="auto">
          <a:xfrm>
            <a:off x="566928" y="4005072"/>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137516253" name="Shape 21"/>
          <p:cNvSpPr/>
          <p:nvPr/>
        </p:nvSpPr>
        <p:spPr bwMode="auto">
          <a:xfrm>
            <a:off x="749808" y="4178808"/>
            <a:ext cx="384048" cy="384048"/>
          </a:xfrm>
          <a:prstGeom prst="ellipse">
            <a:avLst/>
          </a:prstGeom>
          <a:solidFill>
            <a:srgbClr val="2E8B57"/>
          </a:solidFill>
          <a:ln/>
        </p:spPr>
      </p:sp>
      <p:pic>
        <p:nvPicPr>
          <p:cNvPr id="7099819" name="Image 4" descr="preencoded.png"/>
          <p:cNvPicPr>
            <a:picLocks noChangeAspect="1"/>
          </p:cNvPicPr>
          <p:nvPr/>
        </p:nvPicPr>
        <p:blipFill rotWithShape="1">
          <a:blip r:embed="rId7"/>
          <a:stretch/>
        </p:blipFill>
        <p:spPr bwMode="auto">
          <a:xfrm>
            <a:off x="845820" y="4274820"/>
            <a:ext cx="192024" cy="192024"/>
          </a:xfrm>
          <a:prstGeom prst="rect">
            <a:avLst/>
          </a:prstGeom>
        </p:spPr>
      </p:pic>
      <p:sp>
        <p:nvSpPr>
          <p:cNvPr id="1781716004" name="Text 22"/>
          <p:cNvSpPr/>
          <p:nvPr/>
        </p:nvSpPr>
        <p:spPr bwMode="auto">
          <a:xfrm>
            <a:off x="1243584" y="4096512"/>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KI-Transkription</a:t>
            </a:r>
            <a:endParaRPr lang="en-US" sz="1250"/>
          </a:p>
        </p:txBody>
      </p:sp>
      <p:sp>
        <p:nvSpPr>
          <p:cNvPr id="1373821156" name="Text 23"/>
          <p:cNvSpPr/>
          <p:nvPr/>
        </p:nvSpPr>
        <p:spPr bwMode="auto">
          <a:xfrm>
            <a:off x="1243584" y="4407408"/>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editierbar</a:t>
            </a:r>
            <a:endParaRPr lang="en-US" sz="1000"/>
          </a:p>
        </p:txBody>
      </p:sp>
      <p:sp>
        <p:nvSpPr>
          <p:cNvPr id="1807912207" name="Shape 24"/>
          <p:cNvSpPr/>
          <p:nvPr/>
        </p:nvSpPr>
        <p:spPr bwMode="auto">
          <a:xfrm>
            <a:off x="3721608" y="4005072"/>
            <a:ext cx="2971800" cy="731520"/>
          </a:xfrm>
          <a:prstGeom prst="roundRect">
            <a:avLst>
              <a:gd name="adj" fmla="val 125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89789863" name="Shape 25"/>
          <p:cNvSpPr/>
          <p:nvPr/>
        </p:nvSpPr>
        <p:spPr bwMode="auto">
          <a:xfrm>
            <a:off x="3904488" y="4178808"/>
            <a:ext cx="384048" cy="384048"/>
          </a:xfrm>
          <a:prstGeom prst="ellipse">
            <a:avLst/>
          </a:prstGeom>
          <a:solidFill>
            <a:srgbClr val="2563C9"/>
          </a:solidFill>
          <a:ln/>
        </p:spPr>
      </p:sp>
      <p:pic>
        <p:nvPicPr>
          <p:cNvPr id="831667607" name="Image 5" descr="preencoded.png"/>
          <p:cNvPicPr>
            <a:picLocks noChangeAspect="1"/>
          </p:cNvPicPr>
          <p:nvPr/>
        </p:nvPicPr>
        <p:blipFill rotWithShape="1">
          <a:blip r:embed="rId8"/>
          <a:stretch/>
        </p:blipFill>
        <p:spPr bwMode="auto">
          <a:xfrm>
            <a:off x="4000500" y="4274820"/>
            <a:ext cx="192024" cy="192024"/>
          </a:xfrm>
          <a:prstGeom prst="rect">
            <a:avLst/>
          </a:prstGeom>
        </p:spPr>
      </p:pic>
      <p:sp>
        <p:nvSpPr>
          <p:cNvPr id="1483254751" name="Text 26"/>
          <p:cNvSpPr/>
          <p:nvPr/>
        </p:nvSpPr>
        <p:spPr bwMode="auto">
          <a:xfrm>
            <a:off x="4398264" y="4096512"/>
            <a:ext cx="2194560" cy="329184"/>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Tastatur-Eingabe</a:t>
            </a:r>
            <a:endParaRPr lang="en-US" sz="1250"/>
          </a:p>
        </p:txBody>
      </p:sp>
      <p:sp>
        <p:nvSpPr>
          <p:cNvPr id="2014818992" name="Text 27"/>
          <p:cNvSpPr/>
          <p:nvPr/>
        </p:nvSpPr>
        <p:spPr bwMode="auto">
          <a:xfrm>
            <a:off x="4398264" y="4407408"/>
            <a:ext cx="2194560" cy="256032"/>
          </a:xfrm>
          <a:prstGeom prst="rect">
            <a:avLst/>
          </a:prstGeom>
          <a:noFill/>
          <a:ln/>
        </p:spPr>
        <p:txBody>
          <a:bodyPr wrap="square" lIns="0" tIns="0" rIns="0" bIns="0" rtlCol="0" anchor="ctr"/>
          <a:lstStyle/>
          <a:p>
            <a:pPr marL="0" indent="0">
              <a:buNone/>
              <a:defRPr/>
            </a:pPr>
            <a:r>
              <a:rPr lang="en-US" sz="1000">
                <a:solidFill>
                  <a:srgbClr val="5A6B82"/>
                </a:solidFill>
                <a:latin typeface="Calibri"/>
                <a:ea typeface="Calibri"/>
                <a:cs typeface="Calibri"/>
              </a:rPr>
              <a:t>gleichwertige Alternative</a:t>
            </a:r>
            <a:endParaRPr lang="en-US" sz="1000"/>
          </a:p>
        </p:txBody>
      </p:sp>
      <p:sp>
        <p:nvSpPr>
          <p:cNvPr id="1709024826" name="Shape 28"/>
          <p:cNvSpPr/>
          <p:nvPr/>
        </p:nvSpPr>
        <p:spPr bwMode="auto">
          <a:xfrm>
            <a:off x="566928" y="4956048"/>
            <a:ext cx="6126480" cy="1051560"/>
          </a:xfrm>
          <a:prstGeom prst="roundRect">
            <a:avLst>
              <a:gd name="adj" fmla="val 8696"/>
            </a:avLst>
          </a:prstGeom>
          <a:solidFill>
            <a:srgbClr val="DDE9FB"/>
          </a:solidFill>
          <a:ln/>
        </p:spPr>
      </p:sp>
      <p:sp>
        <p:nvSpPr>
          <p:cNvPr id="1467324134" name="Text 29"/>
          <p:cNvSpPr/>
          <p:nvPr/>
        </p:nvSpPr>
        <p:spPr bwMode="auto">
          <a:xfrm>
            <a:off x="749808" y="5029200"/>
            <a:ext cx="5760720" cy="274320"/>
          </a:xfrm>
          <a:prstGeom prst="rect">
            <a:avLst/>
          </a:prstGeom>
          <a:noFill/>
          <a:ln/>
        </p:spPr>
        <p:txBody>
          <a:bodyPr wrap="square" lIns="0" tIns="0" rIns="0" bIns="0" rtlCol="0" anchor="ctr"/>
          <a:lstStyle/>
          <a:p>
            <a:pPr marL="0" indent="0">
              <a:buNone/>
              <a:defRPr/>
            </a:pPr>
            <a:r>
              <a:rPr lang="en-US" sz="1100" b="1" spc="100">
                <a:solidFill>
                  <a:srgbClr val="1B4F8F"/>
                </a:solidFill>
                <a:latin typeface="Calibri"/>
                <a:ea typeface="Calibri"/>
                <a:cs typeface="Calibri"/>
              </a:rPr>
              <a:t>ZUSATZFUNKTIONEN (ZP)</a:t>
            </a:r>
            <a:endParaRPr lang="en-US" sz="1100"/>
          </a:p>
        </p:txBody>
      </p:sp>
      <p:sp>
        <p:nvSpPr>
          <p:cNvPr id="1255390106" name="Text 30"/>
          <p:cNvSpPr/>
          <p:nvPr/>
        </p:nvSpPr>
        <p:spPr bwMode="auto">
          <a:xfrm>
            <a:off x="749808" y="5321808"/>
            <a:ext cx="5760720" cy="658368"/>
          </a:xfrm>
          <a:prstGeom prst="rect">
            <a:avLst/>
          </a:prstGeom>
          <a:noFill/>
          <a:ln/>
        </p:spPr>
        <p:txBody>
          <a:bodyPr wrap="square" lIns="0" tIns="0" rIns="0" bIns="0" rtlCol="0" anchor="t"/>
          <a:lstStyle/>
          <a:p>
            <a:pPr marL="0" indent="0">
              <a:lnSpc>
                <a:spcPct val="105000"/>
              </a:lnSpc>
              <a:buNone/>
              <a:defRPr/>
            </a:pPr>
            <a:r>
              <a:rPr lang="en-US" sz="1250">
                <a:solidFill>
                  <a:srgbClr val="13233B"/>
                </a:solidFill>
                <a:latin typeface="Calibri"/>
                <a:ea typeface="Calibri"/>
                <a:cs typeface="Calibri"/>
              </a:rPr>
              <a:t>Audio-Anhang an die E-Mail  ·  Login &amp; rollenbasierter Zugriff  ·  Status-Verwaltung (offen / in Bearbeitung / erledigt)  ·  Hintergrund-Transkription (durchklicken ohne Warten)</a:t>
            </a:r>
            <a:endParaRPr lang="en-US" sz="1250"/>
          </a:p>
        </p:txBody>
      </p:sp>
      <p:sp>
        <p:nvSpPr>
          <p:cNvPr id="1657832645" name="Shape 31"/>
          <p:cNvSpPr/>
          <p:nvPr/>
        </p:nvSpPr>
        <p:spPr bwMode="auto">
          <a:xfrm>
            <a:off x="6858000" y="2103120"/>
            <a:ext cx="4828032" cy="3459944"/>
          </a:xfrm>
          <a:prstGeom prst="roundRect">
            <a:avLst>
              <a:gd name="adj" fmla="val 2114"/>
            </a:avLst>
          </a:prstGeom>
          <a:solidFill>
            <a:srgbClr val="FFFFFF"/>
          </a:solidFill>
          <a:ln w="12700">
            <a:solidFill>
              <a:srgbClr val="E1E8F1"/>
            </a:solidFill>
            <a:prstDash val="solid"/>
          </a:ln>
          <a:effectLst>
            <a:outerShdw blurRad="114300" dist="38100" dir="5400000" sx="100000" sy="100000" kx="0" ky="0" algn="bl" rotWithShape="0">
              <a:srgbClr val="1B2A44">
                <a:alpha val="16000"/>
              </a:srgbClr>
            </a:outerShdw>
          </a:effectLst>
        </p:spPr>
      </p:sp>
      <p:pic>
        <p:nvPicPr>
          <p:cNvPr id="1842869621" name="Image 6" descr="/home/claude/assets/7_verwaltung_r.png"/>
          <p:cNvPicPr>
            <a:picLocks noChangeAspect="1"/>
          </p:cNvPicPr>
          <p:nvPr/>
        </p:nvPicPr>
        <p:blipFill rotWithShape="1">
          <a:blip r:embed="rId9"/>
          <a:stretch/>
        </p:blipFill>
        <p:spPr bwMode="auto">
          <a:xfrm>
            <a:off x="6903720" y="2148840"/>
            <a:ext cx="4736592" cy="3368504"/>
          </a:xfrm>
          <a:prstGeom prst="rect">
            <a:avLst/>
          </a:prstGeom>
        </p:spPr>
      </p:pic>
      <p:sp>
        <p:nvSpPr>
          <p:cNvPr id="621886449" name="Text 32"/>
          <p:cNvSpPr/>
          <p:nvPr/>
        </p:nvSpPr>
        <p:spPr bwMode="auto">
          <a:xfrm>
            <a:off x="6903720" y="5654504"/>
            <a:ext cx="4736592" cy="548640"/>
          </a:xfrm>
          <a:prstGeom prst="rect">
            <a:avLst/>
          </a:prstGeom>
          <a:noFill/>
          <a:ln/>
        </p:spPr>
        <p:txBody>
          <a:bodyPr wrap="square" lIns="0" tIns="0" rIns="0" bIns="0" rtlCol="0" anchor="ctr"/>
          <a:lstStyle/>
          <a:p>
            <a:pPr marL="0" indent="0" algn="ctr">
              <a:lnSpc>
                <a:spcPct val="103000"/>
              </a:lnSpc>
              <a:buNone/>
              <a:defRPr/>
            </a:pPr>
            <a:r>
              <a:rPr lang="en-US" sz="1150" i="1">
                <a:solidFill>
                  <a:srgbClr val="5A6B82"/>
                </a:solidFill>
                <a:latin typeface="Calibri"/>
                <a:ea typeface="Calibri"/>
                <a:cs typeface="Calibri"/>
              </a:rPr>
              <a:t>Die geschützte Verwaltungs-Ansicht: filtern nach Status, Detail anhören, Status setzen, weiterleiten.</a:t>
            </a:r>
            <a:endParaRPr lang="en-US" sz="1150"/>
          </a:p>
        </p:txBody>
      </p:sp>
      <p:sp>
        <p:nvSpPr>
          <p:cNvPr id="1119168075" name="Text 33"/>
          <p:cNvSpPr/>
          <p:nvPr/>
        </p:nvSpPr>
        <p:spPr bwMode="auto">
          <a:xfrm>
            <a:off x="6903720" y="1737360"/>
            <a:ext cx="4736592" cy="365760"/>
          </a:xfrm>
          <a:prstGeom prst="rect">
            <a:avLst/>
          </a:prstGeom>
          <a:noFill/>
          <a:ln/>
        </p:spPr>
        <p:txBody>
          <a:bodyPr wrap="square" lIns="0" tIns="0" rIns="0" bIns="0" rtlCol="0" anchor="ctr"/>
          <a:lstStyle/>
          <a:p>
            <a:pPr marL="0" indent="0" algn="ctr">
              <a:buNone/>
              <a:defRPr/>
            </a:pPr>
            <a:r>
              <a:rPr lang="en-US" sz="1100" b="1">
                <a:solidFill>
                  <a:srgbClr val="1B4F8F"/>
                </a:solidFill>
                <a:latin typeface="Calibri"/>
                <a:ea typeface="Calibri"/>
                <a:cs typeface="Calibri"/>
              </a:rPr>
              <a:t>Ebenen:  Start → Problem → Lösung → Name → Bestätigen → Fertig  +  Verwaltung</a:t>
            </a:r>
            <a:endParaRPr lang="en-US" sz="1100"/>
          </a:p>
        </p:txBody>
      </p:sp>
      <p:sp>
        <p:nvSpPr>
          <p:cNvPr id="975831951" name="Text 34"/>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648064418" name="Text 35"/>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5F8FC"/>
        </a:solidFill>
      </p:bgPr>
    </p:bg>
    <p:spTree>
      <p:nvGrpSpPr>
        <p:cNvPr id="1" name=""/>
        <p:cNvGrpSpPr/>
        <p:nvPr/>
      </p:nvGrpSpPr>
      <p:grpSpPr bwMode="auto">
        <a:xfrm>
          <a:off x="0" y="0"/>
          <a:ext cx="0" cy="0"/>
          <a:chOff x="0" y="0"/>
          <a:chExt cx="0" cy="0"/>
        </a:xfrm>
      </p:grpSpPr>
      <p:sp>
        <p:nvSpPr>
          <p:cNvPr id="1423479068"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3 · DIE VERWENDETE KI</a:t>
            </a:r>
            <a:endParaRPr lang="en-US" sz="1250"/>
          </a:p>
        </p:txBody>
      </p:sp>
      <p:sp>
        <p:nvSpPr>
          <p:cNvPr id="1962756630"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Whisper — Spracherkennung im Browser</a:t>
            </a:r>
            <a:endParaRPr lang="en-US" sz="3300"/>
          </a:p>
        </p:txBody>
      </p:sp>
      <p:sp>
        <p:nvSpPr>
          <p:cNvPr id="1380879668" name="Shape 2"/>
          <p:cNvSpPr/>
          <p:nvPr/>
        </p:nvSpPr>
        <p:spPr bwMode="auto">
          <a:xfrm>
            <a:off x="566928" y="1737360"/>
            <a:ext cx="4572000" cy="4251960"/>
          </a:xfrm>
          <a:prstGeom prst="roundRect">
            <a:avLst>
              <a:gd name="adj" fmla="val 3011"/>
            </a:avLst>
          </a:prstGeom>
          <a:solidFill>
            <a:srgbClr val="112A4E"/>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534424870" name="Shape 3"/>
          <p:cNvSpPr/>
          <p:nvPr/>
        </p:nvSpPr>
        <p:spPr bwMode="auto">
          <a:xfrm>
            <a:off x="914400" y="2103120"/>
            <a:ext cx="1005840" cy="1005840"/>
          </a:xfrm>
          <a:prstGeom prst="ellipse">
            <a:avLst/>
          </a:prstGeom>
          <a:solidFill>
            <a:srgbClr val="F59E0B"/>
          </a:solidFill>
          <a:ln/>
        </p:spPr>
      </p:sp>
      <p:pic>
        <p:nvPicPr>
          <p:cNvPr id="374171996" name="Image 0" descr="preencoded.png"/>
          <p:cNvPicPr>
            <a:picLocks noChangeAspect="1"/>
          </p:cNvPicPr>
          <p:nvPr/>
        </p:nvPicPr>
        <p:blipFill rotWithShape="1">
          <a:blip r:embed="rId3"/>
          <a:stretch/>
        </p:blipFill>
        <p:spPr bwMode="auto">
          <a:xfrm>
            <a:off x="1165860" y="2354580"/>
            <a:ext cx="502920" cy="502920"/>
          </a:xfrm>
          <a:prstGeom prst="rect">
            <a:avLst/>
          </a:prstGeom>
        </p:spPr>
      </p:pic>
      <p:sp>
        <p:nvSpPr>
          <p:cNvPr id="2129738764" name="Text 4"/>
          <p:cNvSpPr/>
          <p:nvPr/>
        </p:nvSpPr>
        <p:spPr bwMode="auto">
          <a:xfrm>
            <a:off x="2148840" y="2148840"/>
            <a:ext cx="2834640" cy="50292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Whisper</a:t>
            </a:r>
            <a:endParaRPr lang="en-US" sz="3000"/>
          </a:p>
        </p:txBody>
      </p:sp>
      <p:sp>
        <p:nvSpPr>
          <p:cNvPr id="1616821788" name="Text 5"/>
          <p:cNvSpPr/>
          <p:nvPr/>
        </p:nvSpPr>
        <p:spPr bwMode="auto">
          <a:xfrm>
            <a:off x="2148840" y="2651760"/>
            <a:ext cx="2834640" cy="320040"/>
          </a:xfrm>
          <a:prstGeom prst="rect">
            <a:avLst/>
          </a:prstGeom>
          <a:noFill/>
          <a:ln/>
        </p:spPr>
        <p:txBody>
          <a:bodyPr wrap="square" lIns="0" tIns="0" rIns="0" bIns="0" rtlCol="0" anchor="ctr"/>
          <a:lstStyle/>
          <a:p>
            <a:pPr marL="0" indent="0">
              <a:buNone/>
              <a:defRPr/>
            </a:pPr>
            <a:r>
              <a:rPr lang="en-US" sz="1100">
                <a:solidFill>
                  <a:srgbClr val="9FB6DD"/>
                </a:solidFill>
                <a:latin typeface="Consolas"/>
                <a:ea typeface="Consolas"/>
                <a:cs typeface="Consolas"/>
              </a:rPr>
              <a:t>Xenova/whisper-base  ·  Transformers.js</a:t>
            </a:r>
            <a:endParaRPr lang="en-US" sz="1100"/>
          </a:p>
        </p:txBody>
      </p:sp>
      <p:sp>
        <p:nvSpPr>
          <p:cNvPr id="1591267933" name="Shape 6"/>
          <p:cNvSpPr/>
          <p:nvPr/>
        </p:nvSpPr>
        <p:spPr bwMode="auto">
          <a:xfrm>
            <a:off x="914400" y="3291840"/>
            <a:ext cx="3877056" cy="0"/>
          </a:xfrm>
          <a:prstGeom prst="line">
            <a:avLst/>
          </a:prstGeom>
          <a:noFill/>
          <a:ln w="12700">
            <a:solidFill>
              <a:srgbClr val="2E4F82"/>
            </a:solidFill>
            <a:prstDash val="solid"/>
          </a:ln>
        </p:spPr>
      </p:sp>
      <p:sp>
        <p:nvSpPr>
          <p:cNvPr id="1122287430" name="Text 7"/>
          <p:cNvSpPr/>
          <p:nvPr/>
        </p:nvSpPr>
        <p:spPr bwMode="auto">
          <a:xfrm>
            <a:off x="914400" y="3474720"/>
            <a:ext cx="3931920" cy="914400"/>
          </a:xfrm>
          <a:prstGeom prst="rect">
            <a:avLst/>
          </a:prstGeom>
          <a:noFill/>
          <a:ln/>
        </p:spPr>
        <p:txBody>
          <a:bodyPr wrap="square" lIns="0" tIns="0" rIns="0" bIns="0" rtlCol="0" anchor="t"/>
          <a:lstStyle/>
          <a:p>
            <a:pPr marL="0" indent="0">
              <a:lnSpc>
                <a:spcPct val="106000"/>
              </a:lnSpc>
              <a:buNone/>
              <a:defRPr/>
            </a:pPr>
            <a:r>
              <a:rPr lang="en-US" sz="1500" b="1">
                <a:solidFill>
                  <a:srgbClr val="FFFFFF"/>
                </a:solidFill>
                <a:latin typeface="Calibri"/>
                <a:ea typeface="Calibri"/>
                <a:cs typeface="Calibri"/>
              </a:rPr>
              <a:t>Automatic Speech Recognition</a:t>
            </a:r>
            <a:br>
              <a:rPr lang="en-US" sz="1500" b="1">
                <a:solidFill>
                  <a:srgbClr val="FFFFFF"/>
                </a:solidFill>
                <a:latin typeface="Calibri"/>
                <a:ea typeface="Calibri"/>
                <a:cs typeface="Calibri"/>
              </a:rPr>
            </a:br>
            <a:endParaRPr lang="en-US" sz="1500"/>
          </a:p>
          <a:p>
            <a:pPr marL="0" indent="0">
              <a:lnSpc>
                <a:spcPct val="106000"/>
              </a:lnSpc>
              <a:buNone/>
              <a:defRPr/>
            </a:pPr>
            <a:r>
              <a:rPr lang="en-US" sz="1300">
                <a:solidFill>
                  <a:srgbClr val="CFE0F5"/>
                </a:solidFill>
                <a:latin typeface="Calibri"/>
                <a:ea typeface="Calibri"/>
                <a:cs typeface="Calibri"/>
              </a:rPr>
              <a:t>Wandelt gesprochene Sprache in Text um — auf Deutsch.</a:t>
            </a:r>
            <a:endParaRPr lang="en-US" sz="1500"/>
          </a:p>
        </p:txBody>
      </p:sp>
      <p:sp>
        <p:nvSpPr>
          <p:cNvPr id="1330580503" name="Shape 8"/>
          <p:cNvSpPr/>
          <p:nvPr/>
        </p:nvSpPr>
        <p:spPr bwMode="auto">
          <a:xfrm>
            <a:off x="914400" y="4939589"/>
            <a:ext cx="106680" cy="179222"/>
          </a:xfrm>
          <a:prstGeom prst="roundRect">
            <a:avLst>
              <a:gd name="adj" fmla="val 50000"/>
            </a:avLst>
          </a:prstGeom>
          <a:solidFill>
            <a:srgbClr val="2563C9"/>
          </a:solidFill>
          <a:ln/>
        </p:spPr>
      </p:sp>
      <p:sp>
        <p:nvSpPr>
          <p:cNvPr id="843130259" name="Shape 9"/>
          <p:cNvSpPr/>
          <p:nvPr/>
        </p:nvSpPr>
        <p:spPr bwMode="auto">
          <a:xfrm>
            <a:off x="1110916" y="4853178"/>
            <a:ext cx="106680" cy="352044"/>
          </a:xfrm>
          <a:prstGeom prst="roundRect">
            <a:avLst>
              <a:gd name="adj" fmla="val 50000"/>
            </a:avLst>
          </a:prstGeom>
          <a:solidFill>
            <a:srgbClr val="F59E0B"/>
          </a:solidFill>
          <a:ln/>
        </p:spPr>
      </p:sp>
      <p:sp>
        <p:nvSpPr>
          <p:cNvPr id="278309806" name="Shape 10"/>
          <p:cNvSpPr/>
          <p:nvPr/>
        </p:nvSpPr>
        <p:spPr bwMode="auto">
          <a:xfrm>
            <a:off x="1307432" y="4757166"/>
            <a:ext cx="106680" cy="544068"/>
          </a:xfrm>
          <a:prstGeom prst="roundRect">
            <a:avLst>
              <a:gd name="adj" fmla="val 50000"/>
            </a:avLst>
          </a:prstGeom>
          <a:solidFill>
            <a:srgbClr val="3E6FD1"/>
          </a:solidFill>
          <a:ln/>
        </p:spPr>
      </p:sp>
      <p:sp>
        <p:nvSpPr>
          <p:cNvPr id="728826299" name="Shape 11"/>
          <p:cNvSpPr/>
          <p:nvPr/>
        </p:nvSpPr>
        <p:spPr bwMode="auto">
          <a:xfrm>
            <a:off x="1503947" y="4885182"/>
            <a:ext cx="106680" cy="288036"/>
          </a:xfrm>
          <a:prstGeom prst="roundRect">
            <a:avLst>
              <a:gd name="adj" fmla="val 50000"/>
            </a:avLst>
          </a:prstGeom>
          <a:solidFill>
            <a:srgbClr val="2E8B57"/>
          </a:solidFill>
          <a:ln/>
        </p:spPr>
      </p:sp>
      <p:sp>
        <p:nvSpPr>
          <p:cNvPr id="1205258110" name="Shape 12"/>
          <p:cNvSpPr/>
          <p:nvPr/>
        </p:nvSpPr>
        <p:spPr bwMode="auto">
          <a:xfrm>
            <a:off x="1700463" y="4709160"/>
            <a:ext cx="106680" cy="640080"/>
          </a:xfrm>
          <a:prstGeom prst="roundRect">
            <a:avLst>
              <a:gd name="adj" fmla="val 50000"/>
            </a:avLst>
          </a:prstGeom>
          <a:solidFill>
            <a:srgbClr val="2563C9"/>
          </a:solidFill>
          <a:ln/>
        </p:spPr>
      </p:sp>
      <p:sp>
        <p:nvSpPr>
          <p:cNvPr id="317166287" name="Shape 13"/>
          <p:cNvSpPr/>
          <p:nvPr/>
        </p:nvSpPr>
        <p:spPr bwMode="auto">
          <a:xfrm>
            <a:off x="1896979" y="4830775"/>
            <a:ext cx="106680" cy="396850"/>
          </a:xfrm>
          <a:prstGeom prst="roundRect">
            <a:avLst>
              <a:gd name="adj" fmla="val 50000"/>
            </a:avLst>
          </a:prstGeom>
          <a:solidFill>
            <a:srgbClr val="F59E0B"/>
          </a:solidFill>
          <a:ln/>
        </p:spPr>
      </p:sp>
      <p:sp>
        <p:nvSpPr>
          <p:cNvPr id="1430813971" name="Shape 14"/>
          <p:cNvSpPr/>
          <p:nvPr/>
        </p:nvSpPr>
        <p:spPr bwMode="auto">
          <a:xfrm>
            <a:off x="2093495" y="4917186"/>
            <a:ext cx="106680" cy="224028"/>
          </a:xfrm>
          <a:prstGeom prst="roundRect">
            <a:avLst>
              <a:gd name="adj" fmla="val 50000"/>
            </a:avLst>
          </a:prstGeom>
          <a:solidFill>
            <a:srgbClr val="3E6FD1"/>
          </a:solidFill>
          <a:ln/>
        </p:spPr>
      </p:sp>
      <p:sp>
        <p:nvSpPr>
          <p:cNvPr id="919532940" name="Shape 15"/>
          <p:cNvSpPr/>
          <p:nvPr/>
        </p:nvSpPr>
        <p:spPr bwMode="auto">
          <a:xfrm>
            <a:off x="2290011" y="4789170"/>
            <a:ext cx="106680" cy="480060"/>
          </a:xfrm>
          <a:prstGeom prst="roundRect">
            <a:avLst>
              <a:gd name="adj" fmla="val 50000"/>
            </a:avLst>
          </a:prstGeom>
          <a:solidFill>
            <a:srgbClr val="2E8B57"/>
          </a:solidFill>
          <a:ln/>
        </p:spPr>
      </p:sp>
      <p:sp>
        <p:nvSpPr>
          <p:cNvPr id="378308916" name="Shape 16"/>
          <p:cNvSpPr/>
          <p:nvPr/>
        </p:nvSpPr>
        <p:spPr bwMode="auto">
          <a:xfrm>
            <a:off x="2486526" y="4869180"/>
            <a:ext cx="106680" cy="320040"/>
          </a:xfrm>
          <a:prstGeom prst="roundRect">
            <a:avLst>
              <a:gd name="adj" fmla="val 50000"/>
            </a:avLst>
          </a:prstGeom>
          <a:solidFill>
            <a:srgbClr val="2563C9"/>
          </a:solidFill>
          <a:ln/>
        </p:spPr>
      </p:sp>
      <p:sp>
        <p:nvSpPr>
          <p:cNvPr id="877095120" name="Shape 17"/>
          <p:cNvSpPr/>
          <p:nvPr/>
        </p:nvSpPr>
        <p:spPr bwMode="auto">
          <a:xfrm>
            <a:off x="2683042" y="4741164"/>
            <a:ext cx="106680" cy="576072"/>
          </a:xfrm>
          <a:prstGeom prst="roundRect">
            <a:avLst>
              <a:gd name="adj" fmla="val 50000"/>
            </a:avLst>
          </a:prstGeom>
          <a:solidFill>
            <a:srgbClr val="F59E0B"/>
          </a:solidFill>
          <a:ln/>
        </p:spPr>
      </p:sp>
      <p:sp>
        <p:nvSpPr>
          <p:cNvPr id="8481972" name="Shape 18"/>
          <p:cNvSpPr/>
          <p:nvPr/>
        </p:nvSpPr>
        <p:spPr bwMode="auto">
          <a:xfrm>
            <a:off x="2879558" y="4901184"/>
            <a:ext cx="106680" cy="256032"/>
          </a:xfrm>
          <a:prstGeom prst="roundRect">
            <a:avLst>
              <a:gd name="adj" fmla="val 50000"/>
            </a:avLst>
          </a:prstGeom>
          <a:solidFill>
            <a:srgbClr val="3E6FD1"/>
          </a:solidFill>
          <a:ln/>
        </p:spPr>
      </p:sp>
      <p:sp>
        <p:nvSpPr>
          <p:cNvPr id="1024676606" name="Shape 19"/>
          <p:cNvSpPr/>
          <p:nvPr/>
        </p:nvSpPr>
        <p:spPr bwMode="auto">
          <a:xfrm>
            <a:off x="3076074" y="4811573"/>
            <a:ext cx="106680" cy="435254"/>
          </a:xfrm>
          <a:prstGeom prst="roundRect">
            <a:avLst>
              <a:gd name="adj" fmla="val 50000"/>
            </a:avLst>
          </a:prstGeom>
          <a:solidFill>
            <a:srgbClr val="2E8B57"/>
          </a:solidFill>
          <a:ln/>
        </p:spPr>
      </p:sp>
      <p:sp>
        <p:nvSpPr>
          <p:cNvPr id="316857526" name="Shape 20"/>
          <p:cNvSpPr/>
          <p:nvPr/>
        </p:nvSpPr>
        <p:spPr bwMode="auto">
          <a:xfrm>
            <a:off x="3272589" y="4933187"/>
            <a:ext cx="106680" cy="192024"/>
          </a:xfrm>
          <a:prstGeom prst="roundRect">
            <a:avLst>
              <a:gd name="adj" fmla="val 50000"/>
            </a:avLst>
          </a:prstGeom>
          <a:solidFill>
            <a:srgbClr val="2563C9"/>
          </a:solidFill>
          <a:ln/>
        </p:spPr>
      </p:sp>
      <p:sp>
        <p:nvSpPr>
          <p:cNvPr id="107682951" name="Shape 21"/>
          <p:cNvSpPr/>
          <p:nvPr/>
        </p:nvSpPr>
        <p:spPr bwMode="auto">
          <a:xfrm>
            <a:off x="3469105" y="4766767"/>
            <a:ext cx="106680" cy="524866"/>
          </a:xfrm>
          <a:prstGeom prst="roundRect">
            <a:avLst>
              <a:gd name="adj" fmla="val 50000"/>
            </a:avLst>
          </a:prstGeom>
          <a:solidFill>
            <a:srgbClr val="F59E0B"/>
          </a:solidFill>
          <a:ln/>
        </p:spPr>
      </p:sp>
      <p:sp>
        <p:nvSpPr>
          <p:cNvPr id="1034949127" name="Shape 22"/>
          <p:cNvSpPr/>
          <p:nvPr/>
        </p:nvSpPr>
        <p:spPr bwMode="auto">
          <a:xfrm>
            <a:off x="3665621" y="4862779"/>
            <a:ext cx="106680" cy="332842"/>
          </a:xfrm>
          <a:prstGeom prst="roundRect">
            <a:avLst>
              <a:gd name="adj" fmla="val 50000"/>
            </a:avLst>
          </a:prstGeom>
          <a:solidFill>
            <a:srgbClr val="3E6FD1"/>
          </a:solidFill>
          <a:ln/>
        </p:spPr>
      </p:sp>
      <p:sp>
        <p:nvSpPr>
          <p:cNvPr id="1224529048" name="Shape 23"/>
          <p:cNvSpPr/>
          <p:nvPr/>
        </p:nvSpPr>
        <p:spPr bwMode="auto">
          <a:xfrm>
            <a:off x="3862137" y="4725162"/>
            <a:ext cx="106680" cy="608075"/>
          </a:xfrm>
          <a:prstGeom prst="roundRect">
            <a:avLst>
              <a:gd name="adj" fmla="val 50000"/>
            </a:avLst>
          </a:prstGeom>
          <a:solidFill>
            <a:srgbClr val="2E8B57"/>
          </a:solidFill>
          <a:ln/>
        </p:spPr>
      </p:sp>
      <p:sp>
        <p:nvSpPr>
          <p:cNvPr id="2100805936" name="Shape 24"/>
          <p:cNvSpPr/>
          <p:nvPr/>
        </p:nvSpPr>
        <p:spPr bwMode="auto">
          <a:xfrm>
            <a:off x="4058653" y="4888381"/>
            <a:ext cx="106680" cy="281635"/>
          </a:xfrm>
          <a:prstGeom prst="roundRect">
            <a:avLst>
              <a:gd name="adj" fmla="val 50000"/>
            </a:avLst>
          </a:prstGeom>
          <a:solidFill>
            <a:srgbClr val="2563C9"/>
          </a:solidFill>
          <a:ln/>
        </p:spPr>
      </p:sp>
      <p:sp>
        <p:nvSpPr>
          <p:cNvPr id="1684262872" name="Shape 25"/>
          <p:cNvSpPr/>
          <p:nvPr/>
        </p:nvSpPr>
        <p:spPr bwMode="auto">
          <a:xfrm>
            <a:off x="4255168" y="4837176"/>
            <a:ext cx="106680" cy="384048"/>
          </a:xfrm>
          <a:prstGeom prst="roundRect">
            <a:avLst>
              <a:gd name="adj" fmla="val 50000"/>
            </a:avLst>
          </a:prstGeom>
          <a:solidFill>
            <a:srgbClr val="F59E0B"/>
          </a:solidFill>
          <a:ln/>
        </p:spPr>
      </p:sp>
      <p:sp>
        <p:nvSpPr>
          <p:cNvPr id="326933392" name="Shape 26"/>
          <p:cNvSpPr/>
          <p:nvPr/>
        </p:nvSpPr>
        <p:spPr bwMode="auto">
          <a:xfrm>
            <a:off x="4451684" y="4920386"/>
            <a:ext cx="106680" cy="217627"/>
          </a:xfrm>
          <a:prstGeom prst="roundRect">
            <a:avLst>
              <a:gd name="adj" fmla="val 50000"/>
            </a:avLst>
          </a:prstGeom>
          <a:solidFill>
            <a:srgbClr val="3E6FD1"/>
          </a:solidFill>
          <a:ln/>
        </p:spPr>
      </p:sp>
      <p:sp>
        <p:nvSpPr>
          <p:cNvPr id="1700385147" name="Shape 27"/>
          <p:cNvSpPr/>
          <p:nvPr/>
        </p:nvSpPr>
        <p:spPr bwMode="auto">
          <a:xfrm>
            <a:off x="4648200" y="4805172"/>
            <a:ext cx="106680" cy="448056"/>
          </a:xfrm>
          <a:prstGeom prst="roundRect">
            <a:avLst>
              <a:gd name="adj" fmla="val 50000"/>
            </a:avLst>
          </a:prstGeom>
          <a:solidFill>
            <a:srgbClr val="2E8B57"/>
          </a:solidFill>
          <a:ln/>
        </p:spPr>
      </p:sp>
      <p:sp>
        <p:nvSpPr>
          <p:cNvPr id="863314267" name="Text 28"/>
          <p:cNvSpPr/>
          <p:nvPr/>
        </p:nvSpPr>
        <p:spPr bwMode="auto">
          <a:xfrm>
            <a:off x="914400" y="5440680"/>
            <a:ext cx="3877056" cy="365760"/>
          </a:xfrm>
          <a:prstGeom prst="rect">
            <a:avLst/>
          </a:prstGeom>
          <a:noFill/>
          <a:ln/>
        </p:spPr>
        <p:txBody>
          <a:bodyPr wrap="square" lIns="0" tIns="0" rIns="0" bIns="0" rtlCol="0" anchor="ctr"/>
          <a:lstStyle/>
          <a:p>
            <a:pPr marL="0" indent="0" algn="ctr">
              <a:buNone/>
              <a:defRPr/>
            </a:pPr>
            <a:r>
              <a:rPr lang="en-US" sz="1200" b="1">
                <a:solidFill>
                  <a:srgbClr val="9FB6DD"/>
                </a:solidFill>
                <a:latin typeface="Calibri"/>
                <a:ea typeface="Calibri"/>
                <a:cs typeface="Calibri"/>
              </a:rPr>
              <a:t>Sprache  →  Text</a:t>
            </a:r>
            <a:endParaRPr lang="en-US" sz="1200"/>
          </a:p>
        </p:txBody>
      </p:sp>
      <p:sp>
        <p:nvSpPr>
          <p:cNvPr id="831054161" name="Shape 29"/>
          <p:cNvSpPr/>
          <p:nvPr/>
        </p:nvSpPr>
        <p:spPr bwMode="auto">
          <a:xfrm>
            <a:off x="5440680" y="1737360"/>
            <a:ext cx="6217920" cy="1298448"/>
          </a:xfrm>
          <a:prstGeom prst="roundRect">
            <a:avLst>
              <a:gd name="adj" fmla="val 845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70444153" name="Shape 30"/>
          <p:cNvSpPr/>
          <p:nvPr/>
        </p:nvSpPr>
        <p:spPr bwMode="auto">
          <a:xfrm>
            <a:off x="5751576" y="2048256"/>
            <a:ext cx="676656" cy="676656"/>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1063433415" name="Image 1" descr="preencoded.png"/>
          <p:cNvPicPr>
            <a:picLocks noChangeAspect="1"/>
          </p:cNvPicPr>
          <p:nvPr/>
        </p:nvPicPr>
        <p:blipFill rotWithShape="1">
          <a:blip r:embed="rId4"/>
          <a:stretch/>
        </p:blipFill>
        <p:spPr bwMode="auto">
          <a:xfrm>
            <a:off x="5920740" y="2217420"/>
            <a:ext cx="338328" cy="338328"/>
          </a:xfrm>
          <a:prstGeom prst="rect">
            <a:avLst/>
          </a:prstGeom>
        </p:spPr>
      </p:pic>
      <p:sp>
        <p:nvSpPr>
          <p:cNvPr id="195122431" name="Text 31"/>
          <p:cNvSpPr/>
          <p:nvPr/>
        </p:nvSpPr>
        <p:spPr bwMode="auto">
          <a:xfrm>
            <a:off x="6629400" y="1993392"/>
            <a:ext cx="4846320" cy="384048"/>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Läuft komplett lokal</a:t>
            </a:r>
            <a:endParaRPr lang="en-US" sz="1650"/>
          </a:p>
        </p:txBody>
      </p:sp>
      <p:sp>
        <p:nvSpPr>
          <p:cNvPr id="1527201962" name="Text 32"/>
          <p:cNvSpPr/>
          <p:nvPr/>
        </p:nvSpPr>
        <p:spPr bwMode="auto">
          <a:xfrm>
            <a:off x="6629400" y="2395728"/>
            <a:ext cx="4800600" cy="548640"/>
          </a:xfrm>
          <a:prstGeom prst="rect">
            <a:avLst/>
          </a:prstGeom>
          <a:noFill/>
          <a:ln/>
        </p:spPr>
        <p:txBody>
          <a:bodyPr wrap="square" lIns="0" tIns="0" rIns="0" bIns="0" rtlCol="0" anchor="t"/>
          <a:lstStyle/>
          <a:p>
            <a:pPr marL="0" indent="0">
              <a:lnSpc>
                <a:spcPct val="104000"/>
              </a:lnSpc>
              <a:buNone/>
              <a:defRPr/>
            </a:pPr>
            <a:r>
              <a:rPr lang="en-US" sz="1250">
                <a:solidFill>
                  <a:srgbClr val="5A6B82"/>
                </a:solidFill>
                <a:latin typeface="Calibri"/>
                <a:ea typeface="Calibri"/>
                <a:cs typeface="Calibri"/>
              </a:rPr>
              <a:t>Whisper läuft im Browser (WebAssembly). Die Audiodaten verlassen das Gerät für die Erkennung nicht — datenschutzfreundlich.</a:t>
            </a:r>
            <a:endParaRPr lang="en-US" sz="1250"/>
          </a:p>
        </p:txBody>
      </p:sp>
      <p:sp>
        <p:nvSpPr>
          <p:cNvPr id="1106080862" name="Shape 33"/>
          <p:cNvSpPr/>
          <p:nvPr/>
        </p:nvSpPr>
        <p:spPr bwMode="auto">
          <a:xfrm>
            <a:off x="5440680" y="3209544"/>
            <a:ext cx="6217920" cy="1298448"/>
          </a:xfrm>
          <a:prstGeom prst="roundRect">
            <a:avLst>
              <a:gd name="adj" fmla="val 845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755369769" name="Shape 34"/>
          <p:cNvSpPr/>
          <p:nvPr/>
        </p:nvSpPr>
        <p:spPr bwMode="auto">
          <a:xfrm>
            <a:off x="5751576" y="3520440"/>
            <a:ext cx="676656" cy="676656"/>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1588055992" name="Image 2" descr="preencoded.png"/>
          <p:cNvPicPr>
            <a:picLocks noChangeAspect="1"/>
          </p:cNvPicPr>
          <p:nvPr/>
        </p:nvPicPr>
        <p:blipFill rotWithShape="1">
          <a:blip r:embed="rId5"/>
          <a:stretch/>
        </p:blipFill>
        <p:spPr bwMode="auto">
          <a:xfrm>
            <a:off x="5920740" y="3689604"/>
            <a:ext cx="338328" cy="338328"/>
          </a:xfrm>
          <a:prstGeom prst="rect">
            <a:avLst/>
          </a:prstGeom>
        </p:spPr>
      </p:pic>
      <p:sp>
        <p:nvSpPr>
          <p:cNvPr id="435630699" name="Text 35"/>
          <p:cNvSpPr/>
          <p:nvPr/>
        </p:nvSpPr>
        <p:spPr bwMode="auto">
          <a:xfrm>
            <a:off x="6629400" y="3465576"/>
            <a:ext cx="4846320" cy="384048"/>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Lazy geladen</a:t>
            </a:r>
            <a:endParaRPr lang="en-US" sz="1650"/>
          </a:p>
        </p:txBody>
      </p:sp>
      <p:sp>
        <p:nvSpPr>
          <p:cNvPr id="714647966" name="Text 36"/>
          <p:cNvSpPr/>
          <p:nvPr/>
        </p:nvSpPr>
        <p:spPr bwMode="auto">
          <a:xfrm>
            <a:off x="6629400" y="3867911"/>
            <a:ext cx="4800600" cy="548640"/>
          </a:xfrm>
          <a:prstGeom prst="rect">
            <a:avLst/>
          </a:prstGeom>
          <a:noFill/>
          <a:ln/>
        </p:spPr>
        <p:txBody>
          <a:bodyPr wrap="square" lIns="0" tIns="0" rIns="0" bIns="0" rtlCol="0" anchor="t"/>
          <a:lstStyle/>
          <a:p>
            <a:pPr marL="0" indent="0">
              <a:lnSpc>
                <a:spcPct val="104000"/>
              </a:lnSpc>
              <a:buNone/>
              <a:defRPr/>
            </a:pPr>
            <a:r>
              <a:rPr lang="en-US" sz="1250">
                <a:solidFill>
                  <a:srgbClr val="5A6B82"/>
                </a:solidFill>
                <a:latin typeface="Calibri"/>
                <a:ea typeface="Calibri"/>
                <a:cs typeface="Calibri"/>
              </a:rPr>
              <a:t>Das Modell wird per dynamischem Import erst bei Bedarf geladen, damit der Kiosk schnell startet.</a:t>
            </a:r>
            <a:endParaRPr lang="en-US" sz="1250"/>
          </a:p>
        </p:txBody>
      </p:sp>
      <p:sp>
        <p:nvSpPr>
          <p:cNvPr id="1305384338" name="Shape 37"/>
          <p:cNvSpPr/>
          <p:nvPr/>
        </p:nvSpPr>
        <p:spPr bwMode="auto">
          <a:xfrm>
            <a:off x="5440680" y="4681728"/>
            <a:ext cx="6217920" cy="1298448"/>
          </a:xfrm>
          <a:prstGeom prst="roundRect">
            <a:avLst>
              <a:gd name="adj" fmla="val 845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585913815" name="Shape 38"/>
          <p:cNvSpPr/>
          <p:nvPr/>
        </p:nvSpPr>
        <p:spPr bwMode="auto">
          <a:xfrm>
            <a:off x="5751576" y="4992624"/>
            <a:ext cx="676656" cy="676656"/>
          </a:xfrm>
          <a:prstGeom prst="ellipse">
            <a:avLst/>
          </a:prstGeom>
          <a:solidFill>
            <a:srgbClr val="1B4F8F"/>
          </a:solidFill>
          <a:ln/>
          <a:effectLst>
            <a:outerShdw blurRad="76200" dist="25400" dir="5400000" sx="100000" sy="100000" kx="0" ky="0" algn="bl" rotWithShape="0">
              <a:srgbClr val="1B2A44">
                <a:alpha val="16000"/>
              </a:srgbClr>
            </a:outerShdw>
          </a:effectLst>
        </p:spPr>
      </p:sp>
      <p:pic>
        <p:nvPicPr>
          <p:cNvPr id="743978374" name="Image 3" descr="preencoded.png"/>
          <p:cNvPicPr>
            <a:picLocks noChangeAspect="1"/>
          </p:cNvPicPr>
          <p:nvPr/>
        </p:nvPicPr>
        <p:blipFill rotWithShape="1">
          <a:blip r:embed="rId6"/>
          <a:stretch/>
        </p:blipFill>
        <p:spPr bwMode="auto">
          <a:xfrm>
            <a:off x="5920740" y="5161788"/>
            <a:ext cx="338328" cy="338328"/>
          </a:xfrm>
          <a:prstGeom prst="rect">
            <a:avLst/>
          </a:prstGeom>
        </p:spPr>
      </p:pic>
      <p:sp>
        <p:nvSpPr>
          <p:cNvPr id="80291270" name="Text 39"/>
          <p:cNvSpPr/>
          <p:nvPr/>
        </p:nvSpPr>
        <p:spPr bwMode="auto">
          <a:xfrm>
            <a:off x="6629400" y="4937760"/>
            <a:ext cx="4846320" cy="384048"/>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Kein externer Dienst</a:t>
            </a:r>
            <a:endParaRPr lang="en-US" sz="1650"/>
          </a:p>
        </p:txBody>
      </p:sp>
      <p:sp>
        <p:nvSpPr>
          <p:cNvPr id="1637391274" name="Text 40"/>
          <p:cNvSpPr/>
          <p:nvPr/>
        </p:nvSpPr>
        <p:spPr bwMode="auto">
          <a:xfrm>
            <a:off x="6629400" y="5340096"/>
            <a:ext cx="4800600" cy="548640"/>
          </a:xfrm>
          <a:prstGeom prst="rect">
            <a:avLst/>
          </a:prstGeom>
          <a:noFill/>
          <a:ln/>
        </p:spPr>
        <p:txBody>
          <a:bodyPr wrap="square" lIns="0" tIns="0" rIns="0" bIns="0" rtlCol="0" anchor="t"/>
          <a:lstStyle/>
          <a:p>
            <a:pPr marL="0" indent="0">
              <a:lnSpc>
                <a:spcPct val="104000"/>
              </a:lnSpc>
              <a:buNone/>
              <a:defRPr/>
            </a:pPr>
            <a:r>
              <a:rPr lang="en-US" sz="1250">
                <a:solidFill>
                  <a:srgbClr val="5A6B82"/>
                </a:solidFill>
                <a:latin typeface="Calibri"/>
                <a:ea typeface="Calibri"/>
                <a:cs typeface="Calibri"/>
              </a:rPr>
              <a:t>Kein Cloud-KI-Anbieter, keine laufenden Kosten, keine API-Keys für die Spracherkennung.</a:t>
            </a:r>
            <a:endParaRPr lang="en-US" sz="1250"/>
          </a:p>
        </p:txBody>
      </p:sp>
      <p:sp>
        <p:nvSpPr>
          <p:cNvPr id="1210734336" name="Text 41"/>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42802206" name="Text 42"/>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5F8FC"/>
        </a:solidFill>
      </p:bgPr>
    </p:bg>
    <p:spTree>
      <p:nvGrpSpPr>
        <p:cNvPr id="1" name=""/>
        <p:cNvGrpSpPr/>
        <p:nvPr/>
      </p:nvGrpSpPr>
      <p:grpSpPr bwMode="auto">
        <a:xfrm>
          <a:off x="0" y="0"/>
          <a:ext cx="0" cy="0"/>
          <a:chOff x="0" y="0"/>
          <a:chExt cx="0" cy="0"/>
        </a:xfrm>
      </p:grpSpPr>
      <p:sp>
        <p:nvSpPr>
          <p:cNvPr id="2111591824"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3 · ARCHITEKTUR</a:t>
            </a:r>
            <a:endParaRPr lang="en-US" sz="1250"/>
          </a:p>
        </p:txBody>
      </p:sp>
      <p:sp>
        <p:nvSpPr>
          <p:cNvPr id="406265014"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Der Datenfluss — vom Tablet zur Leitung</a:t>
            </a:r>
            <a:endParaRPr lang="en-US" sz="3300"/>
          </a:p>
        </p:txBody>
      </p:sp>
      <p:sp>
        <p:nvSpPr>
          <p:cNvPr id="95715531" name="Shape 2"/>
          <p:cNvSpPr/>
          <p:nvPr/>
        </p:nvSpPr>
        <p:spPr bwMode="auto">
          <a:xfrm>
            <a:off x="566928" y="2148840"/>
            <a:ext cx="2514600" cy="2331720"/>
          </a:xfrm>
          <a:prstGeom prst="roundRect">
            <a:avLst>
              <a:gd name="adj" fmla="val 4706"/>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555715339" name="Shape 3"/>
          <p:cNvSpPr/>
          <p:nvPr/>
        </p:nvSpPr>
        <p:spPr bwMode="auto">
          <a:xfrm>
            <a:off x="1476756" y="2377440"/>
            <a:ext cx="694944" cy="694944"/>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959049553" name="Image 0" descr="preencoded.png"/>
          <p:cNvPicPr>
            <a:picLocks noChangeAspect="1"/>
          </p:cNvPicPr>
          <p:nvPr/>
        </p:nvPicPr>
        <p:blipFill rotWithShape="1">
          <a:blip r:embed="rId3"/>
          <a:stretch/>
        </p:blipFill>
        <p:spPr bwMode="auto">
          <a:xfrm>
            <a:off x="1650492" y="2551176"/>
            <a:ext cx="347472" cy="347472"/>
          </a:xfrm>
          <a:prstGeom prst="rect">
            <a:avLst/>
          </a:prstGeom>
        </p:spPr>
      </p:pic>
      <p:sp>
        <p:nvSpPr>
          <p:cNvPr id="435619794" name="Text 4"/>
          <p:cNvSpPr/>
          <p:nvPr/>
        </p:nvSpPr>
        <p:spPr bwMode="auto">
          <a:xfrm>
            <a:off x="566928" y="3136392"/>
            <a:ext cx="2514600" cy="310896"/>
          </a:xfrm>
          <a:prstGeom prst="rect">
            <a:avLst/>
          </a:prstGeom>
          <a:noFill/>
          <a:ln/>
        </p:spPr>
        <p:txBody>
          <a:bodyPr wrap="square" lIns="0" tIns="0" rIns="0" bIns="0" rtlCol="0" anchor="ctr"/>
          <a:lstStyle/>
          <a:p>
            <a:pPr marL="0" indent="0" algn="ctr">
              <a:buNone/>
              <a:defRPr/>
            </a:pPr>
            <a:r>
              <a:rPr lang="en-US" sz="1450" b="1">
                <a:solidFill>
                  <a:srgbClr val="13233B"/>
                </a:solidFill>
                <a:latin typeface="Calibri"/>
                <a:ea typeface="Calibri"/>
                <a:cs typeface="Calibri"/>
              </a:rPr>
              <a:t>Bewohner-Tablet</a:t>
            </a:r>
            <a:endParaRPr lang="en-US" sz="1450"/>
          </a:p>
        </p:txBody>
      </p:sp>
      <p:sp>
        <p:nvSpPr>
          <p:cNvPr id="322885710" name="Text 5"/>
          <p:cNvSpPr/>
          <p:nvPr/>
        </p:nvSpPr>
        <p:spPr bwMode="auto">
          <a:xfrm>
            <a:off x="749808" y="3474720"/>
            <a:ext cx="2148840" cy="914400"/>
          </a:xfrm>
          <a:prstGeom prst="rect">
            <a:avLst/>
          </a:prstGeom>
          <a:noFill/>
          <a:ln/>
        </p:spPr>
        <p:txBody>
          <a:bodyPr wrap="square" lIns="0" tIns="0" rIns="0" bIns="0" rtlCol="0" anchor="t"/>
          <a:lstStyle/>
          <a:p>
            <a:pPr marL="0" indent="0" algn="ctr">
              <a:lnSpc>
                <a:spcPct val="112000"/>
              </a:lnSpc>
              <a:buNone/>
              <a:defRPr/>
            </a:pPr>
            <a:r>
              <a:rPr lang="en-US" sz="1100">
                <a:solidFill>
                  <a:srgbClr val="5A6B82"/>
                </a:solidFill>
                <a:latin typeface="Calibri"/>
                <a:ea typeface="Calibri"/>
                <a:cs typeface="Calibri"/>
              </a:rPr>
              <a:t>Vorlesen (Web Speech)</a:t>
            </a:r>
            <a:endParaRPr lang="en-US" sz="1100"/>
          </a:p>
          <a:p>
            <a:pPr marL="0" indent="0" algn="ctr">
              <a:lnSpc>
                <a:spcPct val="112000"/>
              </a:lnSpc>
              <a:buNone/>
              <a:defRPr/>
            </a:pPr>
            <a:r>
              <a:rPr lang="en-US" sz="1100">
                <a:solidFill>
                  <a:srgbClr val="5A6B82"/>
                </a:solidFill>
                <a:latin typeface="Calibri"/>
                <a:ea typeface="Calibri"/>
                <a:cs typeface="Calibri"/>
              </a:rPr>
              <a:t>Aufnahme (MediaRecorder)</a:t>
            </a:r>
            <a:endParaRPr lang="en-US" sz="1100"/>
          </a:p>
          <a:p>
            <a:pPr marL="0" indent="0" algn="ctr">
              <a:lnSpc>
                <a:spcPct val="112000"/>
              </a:lnSpc>
              <a:buNone/>
              <a:defRPr/>
            </a:pPr>
            <a:r>
              <a:rPr lang="en-US" sz="1100">
                <a:solidFill>
                  <a:srgbClr val="5A6B82"/>
                </a:solidFill>
                <a:latin typeface="Calibri"/>
                <a:ea typeface="Calibri"/>
                <a:cs typeface="Calibri"/>
              </a:rPr>
              <a:t>Whisper → Text (lokal)</a:t>
            </a:r>
            <a:endParaRPr lang="en-US" sz="1100"/>
          </a:p>
        </p:txBody>
      </p:sp>
      <p:sp>
        <p:nvSpPr>
          <p:cNvPr id="1393493857" name="Shape 6"/>
          <p:cNvSpPr/>
          <p:nvPr/>
        </p:nvSpPr>
        <p:spPr bwMode="auto">
          <a:xfrm>
            <a:off x="3127248" y="3314700"/>
            <a:ext cx="548640" cy="0"/>
          </a:xfrm>
          <a:prstGeom prst="line">
            <a:avLst/>
          </a:prstGeom>
          <a:noFill/>
          <a:ln w="28575">
            <a:solidFill>
              <a:srgbClr val="1B4F8F"/>
            </a:solidFill>
            <a:prstDash val="solid"/>
            <a:tailEnd type="triangle"/>
          </a:ln>
        </p:spPr>
      </p:sp>
      <p:sp>
        <p:nvSpPr>
          <p:cNvPr id="640679351" name="Text 7"/>
          <p:cNvSpPr/>
          <p:nvPr/>
        </p:nvSpPr>
        <p:spPr bwMode="auto">
          <a:xfrm>
            <a:off x="3035808" y="2930652"/>
            <a:ext cx="731520" cy="320040"/>
          </a:xfrm>
          <a:prstGeom prst="rect">
            <a:avLst/>
          </a:prstGeom>
          <a:noFill/>
          <a:ln/>
        </p:spPr>
        <p:txBody>
          <a:bodyPr wrap="square" lIns="0" tIns="0" rIns="0" bIns="0" rtlCol="0" anchor="b"/>
          <a:lstStyle/>
          <a:p>
            <a:pPr marL="0" indent="0" algn="ctr">
              <a:buNone/>
              <a:defRPr/>
            </a:pPr>
            <a:r>
              <a:rPr lang="en-US" sz="950" i="1">
                <a:solidFill>
                  <a:srgbClr val="5A6B82"/>
                </a:solidFill>
                <a:latin typeface="Calibri"/>
                <a:ea typeface="Calibri"/>
                <a:cs typeface="Calibri"/>
              </a:rPr>
              <a:t>POST</a:t>
            </a:r>
            <a:endParaRPr lang="en-US" sz="950"/>
          </a:p>
        </p:txBody>
      </p:sp>
      <p:sp>
        <p:nvSpPr>
          <p:cNvPr id="1413573364" name="Shape 8"/>
          <p:cNvSpPr/>
          <p:nvPr/>
        </p:nvSpPr>
        <p:spPr bwMode="auto">
          <a:xfrm>
            <a:off x="3721608" y="2148840"/>
            <a:ext cx="2697480" cy="2331720"/>
          </a:xfrm>
          <a:prstGeom prst="roundRect">
            <a:avLst>
              <a:gd name="adj" fmla="val 4706"/>
            </a:avLst>
          </a:prstGeom>
          <a:solidFill>
            <a:srgbClr val="0F2E58"/>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147821822" name="Shape 9"/>
          <p:cNvSpPr/>
          <p:nvPr/>
        </p:nvSpPr>
        <p:spPr bwMode="auto">
          <a:xfrm>
            <a:off x="4722876" y="2377440"/>
            <a:ext cx="694944" cy="694944"/>
          </a:xfrm>
          <a:prstGeom prst="ellipse">
            <a:avLst/>
          </a:prstGeom>
          <a:solidFill>
            <a:srgbClr val="F59E0B"/>
          </a:solidFill>
          <a:ln/>
        </p:spPr>
      </p:sp>
      <p:pic>
        <p:nvPicPr>
          <p:cNvPr id="745549249" name="Image 1" descr="preencoded.png"/>
          <p:cNvPicPr>
            <a:picLocks noChangeAspect="1"/>
          </p:cNvPicPr>
          <p:nvPr/>
        </p:nvPicPr>
        <p:blipFill rotWithShape="1">
          <a:blip r:embed="rId4"/>
          <a:stretch/>
        </p:blipFill>
        <p:spPr bwMode="auto">
          <a:xfrm>
            <a:off x="4896612" y="2551176"/>
            <a:ext cx="347472" cy="347472"/>
          </a:xfrm>
          <a:prstGeom prst="rect">
            <a:avLst/>
          </a:prstGeom>
        </p:spPr>
      </p:pic>
      <p:sp>
        <p:nvSpPr>
          <p:cNvPr id="11375290" name="Text 10"/>
          <p:cNvSpPr/>
          <p:nvPr/>
        </p:nvSpPr>
        <p:spPr bwMode="auto">
          <a:xfrm>
            <a:off x="3721608" y="3136392"/>
            <a:ext cx="2697480" cy="310896"/>
          </a:xfrm>
          <a:prstGeom prst="rect">
            <a:avLst/>
          </a:prstGeom>
          <a:noFill/>
          <a:ln/>
        </p:spPr>
        <p:txBody>
          <a:bodyPr wrap="square" lIns="0" tIns="0" rIns="0" bIns="0" rtlCol="0" anchor="ctr"/>
          <a:lstStyle/>
          <a:p>
            <a:pPr marL="0" indent="0" algn="ctr">
              <a:buNone/>
              <a:defRPr/>
            </a:pPr>
            <a:r>
              <a:rPr lang="en-US" sz="1450" b="1">
                <a:solidFill>
                  <a:srgbClr val="FFFFFF"/>
                </a:solidFill>
                <a:latin typeface="Calibri"/>
                <a:ea typeface="Calibri"/>
                <a:cs typeface="Calibri"/>
              </a:rPr>
              <a:t>Serverless Function</a:t>
            </a:r>
            <a:endParaRPr lang="en-US" sz="1450"/>
          </a:p>
        </p:txBody>
      </p:sp>
      <p:sp>
        <p:nvSpPr>
          <p:cNvPr id="807991183" name="Text 11"/>
          <p:cNvSpPr/>
          <p:nvPr/>
        </p:nvSpPr>
        <p:spPr bwMode="auto">
          <a:xfrm>
            <a:off x="3721608" y="3447288"/>
            <a:ext cx="2697480" cy="274320"/>
          </a:xfrm>
          <a:prstGeom prst="rect">
            <a:avLst/>
          </a:prstGeom>
          <a:noFill/>
          <a:ln/>
        </p:spPr>
        <p:txBody>
          <a:bodyPr wrap="square" lIns="0" tIns="0" rIns="0" bIns="0" rtlCol="0" anchor="ctr"/>
          <a:lstStyle/>
          <a:p>
            <a:pPr marL="0" indent="0" algn="ctr">
              <a:buNone/>
              <a:defRPr/>
            </a:pPr>
            <a:r>
              <a:rPr lang="en-US" sz="1050">
                <a:solidFill>
                  <a:srgbClr val="9FB6DD"/>
                </a:solidFill>
                <a:latin typeface="Consolas"/>
                <a:ea typeface="Consolas"/>
                <a:cs typeface="Consolas"/>
              </a:rPr>
              <a:t>POST /api/complaints</a:t>
            </a:r>
            <a:endParaRPr lang="en-US" sz="1050"/>
          </a:p>
        </p:txBody>
      </p:sp>
      <p:sp>
        <p:nvSpPr>
          <p:cNvPr id="860996745" name="Text 12"/>
          <p:cNvSpPr/>
          <p:nvPr/>
        </p:nvSpPr>
        <p:spPr bwMode="auto">
          <a:xfrm>
            <a:off x="3904488" y="3776472"/>
            <a:ext cx="2331720" cy="640080"/>
          </a:xfrm>
          <a:prstGeom prst="rect">
            <a:avLst/>
          </a:prstGeom>
          <a:noFill/>
          <a:ln/>
        </p:spPr>
        <p:txBody>
          <a:bodyPr wrap="square" lIns="0" tIns="0" rIns="0" bIns="0" rtlCol="0" anchor="t"/>
          <a:lstStyle/>
          <a:p>
            <a:pPr marL="0" indent="0" algn="ctr">
              <a:lnSpc>
                <a:spcPct val="108000"/>
              </a:lnSpc>
              <a:buNone/>
              <a:defRPr/>
            </a:pPr>
            <a:r>
              <a:rPr lang="en-US" sz="1100">
                <a:solidFill>
                  <a:srgbClr val="CFE0F5"/>
                </a:solidFill>
                <a:latin typeface="Calibri"/>
                <a:ea typeface="Calibri"/>
                <a:cs typeface="Calibri"/>
              </a:rPr>
              <a:t>Validierung (Pflichtfeld,</a:t>
            </a:r>
            <a:endParaRPr lang="en-US" sz="1100"/>
          </a:p>
          <a:p>
            <a:pPr marL="0" indent="0" algn="ctr">
              <a:lnSpc>
                <a:spcPct val="108000"/>
              </a:lnSpc>
              <a:buNone/>
              <a:defRPr/>
            </a:pPr>
            <a:r>
              <a:rPr lang="en-US" sz="1100">
                <a:solidFill>
                  <a:srgbClr val="CFE0F5"/>
                </a:solidFill>
                <a:latin typeface="Calibri"/>
                <a:ea typeface="Calibri"/>
                <a:cs typeface="Calibri"/>
              </a:rPr>
              <a:t>Einrichtungs-Allowlist)</a:t>
            </a:r>
            <a:endParaRPr lang="en-US" sz="1100"/>
          </a:p>
        </p:txBody>
      </p:sp>
      <p:sp>
        <p:nvSpPr>
          <p:cNvPr id="1767828556" name="Shape 13"/>
          <p:cNvSpPr/>
          <p:nvPr/>
        </p:nvSpPr>
        <p:spPr bwMode="auto">
          <a:xfrm>
            <a:off x="7086600" y="2167128"/>
            <a:ext cx="2606040" cy="694944"/>
          </a:xfrm>
          <a:prstGeom prst="roundRect">
            <a:avLst>
              <a:gd name="adj" fmla="val 13158"/>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888468661" name="Shape 14"/>
          <p:cNvSpPr/>
          <p:nvPr/>
        </p:nvSpPr>
        <p:spPr bwMode="auto">
          <a:xfrm>
            <a:off x="7251192" y="2340864"/>
            <a:ext cx="365760" cy="365760"/>
          </a:xfrm>
          <a:prstGeom prst="ellipse">
            <a:avLst/>
          </a:prstGeom>
          <a:solidFill>
            <a:srgbClr val="2E8B57"/>
          </a:solidFill>
          <a:ln/>
        </p:spPr>
      </p:sp>
      <p:pic>
        <p:nvPicPr>
          <p:cNvPr id="767664257" name="Image 2" descr="preencoded.png"/>
          <p:cNvPicPr>
            <a:picLocks noChangeAspect="1"/>
          </p:cNvPicPr>
          <p:nvPr/>
        </p:nvPicPr>
        <p:blipFill rotWithShape="1">
          <a:blip r:embed="rId5"/>
          <a:stretch/>
        </p:blipFill>
        <p:spPr bwMode="auto">
          <a:xfrm>
            <a:off x="7342632" y="2432303"/>
            <a:ext cx="182880" cy="182880"/>
          </a:xfrm>
          <a:prstGeom prst="rect">
            <a:avLst/>
          </a:prstGeom>
        </p:spPr>
      </p:pic>
      <p:sp>
        <p:nvSpPr>
          <p:cNvPr id="227614827" name="Text 15"/>
          <p:cNvSpPr/>
          <p:nvPr/>
        </p:nvSpPr>
        <p:spPr bwMode="auto">
          <a:xfrm>
            <a:off x="7708392" y="2240280"/>
            <a:ext cx="1874520" cy="310896"/>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Supabase Storage</a:t>
            </a:r>
            <a:endParaRPr lang="en-US" sz="1250"/>
          </a:p>
        </p:txBody>
      </p:sp>
      <p:sp>
        <p:nvSpPr>
          <p:cNvPr id="527378188" name="Text 16"/>
          <p:cNvSpPr/>
          <p:nvPr/>
        </p:nvSpPr>
        <p:spPr bwMode="auto">
          <a:xfrm>
            <a:off x="7708392" y="2532888"/>
            <a:ext cx="1874520" cy="274320"/>
          </a:xfrm>
          <a:prstGeom prst="rect">
            <a:avLst/>
          </a:prstGeom>
          <a:noFill/>
          <a:ln/>
        </p:spPr>
        <p:txBody>
          <a:bodyPr wrap="square" lIns="0" tIns="0" rIns="0" bIns="0" rtlCol="0" anchor="ctr"/>
          <a:lstStyle/>
          <a:p>
            <a:pPr marL="0" indent="0">
              <a:buNone/>
              <a:defRPr/>
            </a:pPr>
            <a:r>
              <a:rPr lang="en-US" sz="900">
                <a:solidFill>
                  <a:srgbClr val="5A6B82"/>
                </a:solidFill>
                <a:latin typeface="Consolas"/>
                <a:ea typeface="Consolas"/>
                <a:cs typeface="Consolas"/>
              </a:rPr>
              <a:t>Audio (privater Bucket)</a:t>
            </a:r>
            <a:endParaRPr lang="en-US" sz="900"/>
          </a:p>
        </p:txBody>
      </p:sp>
      <p:sp>
        <p:nvSpPr>
          <p:cNvPr id="1781909363" name="Shape 17"/>
          <p:cNvSpPr/>
          <p:nvPr/>
        </p:nvSpPr>
        <p:spPr bwMode="auto">
          <a:xfrm>
            <a:off x="6446520" y="3314700"/>
            <a:ext cx="621792" cy="0"/>
          </a:xfrm>
          <a:prstGeom prst="line">
            <a:avLst/>
          </a:prstGeom>
          <a:noFill/>
          <a:ln w="19050">
            <a:solidFill>
              <a:srgbClr val="1B4F8F"/>
            </a:solidFill>
            <a:prstDash val="solid"/>
            <a:tailEnd type="triangle"/>
          </a:ln>
        </p:spPr>
      </p:sp>
      <p:sp>
        <p:nvSpPr>
          <p:cNvPr id="177218548" name="Shape 18"/>
          <p:cNvSpPr/>
          <p:nvPr/>
        </p:nvSpPr>
        <p:spPr bwMode="auto">
          <a:xfrm>
            <a:off x="7086600" y="2980944"/>
            <a:ext cx="2606040" cy="694944"/>
          </a:xfrm>
          <a:prstGeom prst="roundRect">
            <a:avLst>
              <a:gd name="adj" fmla="val 13158"/>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583145287" name="Shape 19"/>
          <p:cNvSpPr/>
          <p:nvPr/>
        </p:nvSpPr>
        <p:spPr bwMode="auto">
          <a:xfrm>
            <a:off x="7251192" y="3154680"/>
            <a:ext cx="365760" cy="365760"/>
          </a:xfrm>
          <a:prstGeom prst="ellipse">
            <a:avLst/>
          </a:prstGeom>
          <a:solidFill>
            <a:srgbClr val="1B4F8F"/>
          </a:solidFill>
          <a:ln/>
        </p:spPr>
      </p:sp>
      <p:pic>
        <p:nvPicPr>
          <p:cNvPr id="1585967524" name="Image 3" descr="preencoded.png"/>
          <p:cNvPicPr>
            <a:picLocks noChangeAspect="1"/>
          </p:cNvPicPr>
          <p:nvPr/>
        </p:nvPicPr>
        <p:blipFill rotWithShape="1">
          <a:blip r:embed="rId6"/>
          <a:stretch/>
        </p:blipFill>
        <p:spPr bwMode="auto">
          <a:xfrm>
            <a:off x="7342632" y="3246120"/>
            <a:ext cx="182880" cy="182880"/>
          </a:xfrm>
          <a:prstGeom prst="rect">
            <a:avLst/>
          </a:prstGeom>
        </p:spPr>
      </p:pic>
      <p:sp>
        <p:nvSpPr>
          <p:cNvPr id="759052473" name="Text 20"/>
          <p:cNvSpPr/>
          <p:nvPr/>
        </p:nvSpPr>
        <p:spPr bwMode="auto">
          <a:xfrm>
            <a:off x="7708392" y="3054096"/>
            <a:ext cx="1874520" cy="310896"/>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PostgreSQL</a:t>
            </a:r>
            <a:endParaRPr lang="en-US" sz="1250"/>
          </a:p>
        </p:txBody>
      </p:sp>
      <p:sp>
        <p:nvSpPr>
          <p:cNvPr id="1321333426" name="Text 21"/>
          <p:cNvSpPr/>
          <p:nvPr/>
        </p:nvSpPr>
        <p:spPr bwMode="auto">
          <a:xfrm>
            <a:off x="7708392" y="3346704"/>
            <a:ext cx="1874520" cy="274320"/>
          </a:xfrm>
          <a:prstGeom prst="rect">
            <a:avLst/>
          </a:prstGeom>
          <a:noFill/>
          <a:ln/>
        </p:spPr>
        <p:txBody>
          <a:bodyPr wrap="square" lIns="0" tIns="0" rIns="0" bIns="0" rtlCol="0" anchor="ctr"/>
          <a:lstStyle/>
          <a:p>
            <a:pPr marL="0" indent="0">
              <a:buNone/>
              <a:defRPr/>
            </a:pPr>
            <a:r>
              <a:rPr lang="en-US" sz="900">
                <a:solidFill>
                  <a:srgbClr val="5A6B82"/>
                </a:solidFill>
                <a:latin typeface="Consolas"/>
                <a:ea typeface="Consolas"/>
                <a:cs typeface="Consolas"/>
              </a:rPr>
              <a:t>INSERT INTO complaints</a:t>
            </a:r>
            <a:endParaRPr lang="en-US" sz="900"/>
          </a:p>
        </p:txBody>
      </p:sp>
      <p:sp>
        <p:nvSpPr>
          <p:cNvPr id="307413759" name="Shape 22"/>
          <p:cNvSpPr/>
          <p:nvPr/>
        </p:nvSpPr>
        <p:spPr bwMode="auto">
          <a:xfrm>
            <a:off x="6446520" y="3314700"/>
            <a:ext cx="621792" cy="13716"/>
          </a:xfrm>
          <a:prstGeom prst="line">
            <a:avLst/>
          </a:prstGeom>
          <a:noFill/>
          <a:ln w="19050">
            <a:solidFill>
              <a:srgbClr val="1B4F8F"/>
            </a:solidFill>
            <a:prstDash val="solid"/>
            <a:tailEnd type="triangle"/>
          </a:ln>
        </p:spPr>
      </p:sp>
      <p:sp>
        <p:nvSpPr>
          <p:cNvPr id="574639197" name="Shape 23"/>
          <p:cNvSpPr/>
          <p:nvPr/>
        </p:nvSpPr>
        <p:spPr bwMode="auto">
          <a:xfrm>
            <a:off x="7086600" y="3794760"/>
            <a:ext cx="2606040" cy="694944"/>
          </a:xfrm>
          <a:prstGeom prst="roundRect">
            <a:avLst>
              <a:gd name="adj" fmla="val 13158"/>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488339935" name="Shape 24"/>
          <p:cNvSpPr/>
          <p:nvPr/>
        </p:nvSpPr>
        <p:spPr bwMode="auto">
          <a:xfrm>
            <a:off x="7251192" y="3968496"/>
            <a:ext cx="365760" cy="365760"/>
          </a:xfrm>
          <a:prstGeom prst="ellipse">
            <a:avLst/>
          </a:prstGeom>
          <a:solidFill>
            <a:srgbClr val="B9770A"/>
          </a:solidFill>
          <a:ln/>
        </p:spPr>
      </p:sp>
      <p:pic>
        <p:nvPicPr>
          <p:cNvPr id="1691409956" name="Image 4" descr="preencoded.png"/>
          <p:cNvPicPr>
            <a:picLocks noChangeAspect="1"/>
          </p:cNvPicPr>
          <p:nvPr/>
        </p:nvPicPr>
        <p:blipFill rotWithShape="1">
          <a:blip r:embed="rId7"/>
          <a:stretch/>
        </p:blipFill>
        <p:spPr bwMode="auto">
          <a:xfrm>
            <a:off x="7342632" y="4059936"/>
            <a:ext cx="182880" cy="182880"/>
          </a:xfrm>
          <a:prstGeom prst="rect">
            <a:avLst/>
          </a:prstGeom>
        </p:spPr>
      </p:pic>
      <p:sp>
        <p:nvSpPr>
          <p:cNvPr id="1045830989" name="Text 25"/>
          <p:cNvSpPr/>
          <p:nvPr/>
        </p:nvSpPr>
        <p:spPr bwMode="auto">
          <a:xfrm>
            <a:off x="7708392" y="3867911"/>
            <a:ext cx="1874520" cy="310896"/>
          </a:xfrm>
          <a:prstGeom prst="rect">
            <a:avLst/>
          </a:prstGeom>
          <a:noFill/>
          <a:ln/>
        </p:spPr>
        <p:txBody>
          <a:bodyPr wrap="square" lIns="0" tIns="0" rIns="0" bIns="0" rtlCol="0" anchor="ctr"/>
          <a:lstStyle/>
          <a:p>
            <a:pPr marL="0" indent="0">
              <a:buNone/>
              <a:defRPr/>
            </a:pPr>
            <a:r>
              <a:rPr lang="en-US" sz="1250" b="1">
                <a:solidFill>
                  <a:srgbClr val="13233B"/>
                </a:solidFill>
                <a:latin typeface="Calibri"/>
                <a:ea typeface="Calibri"/>
                <a:cs typeface="Calibri"/>
              </a:rPr>
              <a:t>Resend</a:t>
            </a:r>
            <a:endParaRPr lang="en-US" sz="1250"/>
          </a:p>
        </p:txBody>
      </p:sp>
      <p:sp>
        <p:nvSpPr>
          <p:cNvPr id="958614413" name="Text 26"/>
          <p:cNvSpPr/>
          <p:nvPr/>
        </p:nvSpPr>
        <p:spPr bwMode="auto">
          <a:xfrm>
            <a:off x="7708392" y="4160519"/>
            <a:ext cx="1874520" cy="274320"/>
          </a:xfrm>
          <a:prstGeom prst="rect">
            <a:avLst/>
          </a:prstGeom>
          <a:noFill/>
          <a:ln/>
        </p:spPr>
        <p:txBody>
          <a:bodyPr wrap="square" lIns="0" tIns="0" rIns="0" bIns="0" rtlCol="0" anchor="ctr"/>
          <a:lstStyle/>
          <a:p>
            <a:pPr marL="0" indent="0">
              <a:buNone/>
              <a:defRPr/>
            </a:pPr>
            <a:r>
              <a:rPr lang="en-US" sz="900">
                <a:solidFill>
                  <a:srgbClr val="5A6B82"/>
                </a:solidFill>
                <a:latin typeface="Consolas"/>
                <a:ea typeface="Consolas"/>
                <a:cs typeface="Consolas"/>
              </a:rPr>
              <a:t>E-Mail + Audio-Anhang</a:t>
            </a:r>
            <a:endParaRPr lang="en-US" sz="900"/>
          </a:p>
        </p:txBody>
      </p:sp>
      <p:sp>
        <p:nvSpPr>
          <p:cNvPr id="1752496884" name="Shape 27"/>
          <p:cNvSpPr/>
          <p:nvPr/>
        </p:nvSpPr>
        <p:spPr bwMode="auto">
          <a:xfrm>
            <a:off x="6446520" y="3314700"/>
            <a:ext cx="621792" cy="827531"/>
          </a:xfrm>
          <a:prstGeom prst="line">
            <a:avLst/>
          </a:prstGeom>
          <a:noFill/>
          <a:ln w="19050">
            <a:solidFill>
              <a:srgbClr val="1B4F8F"/>
            </a:solidFill>
            <a:prstDash val="solid"/>
            <a:tailEnd type="triangle"/>
          </a:ln>
        </p:spPr>
      </p:sp>
      <p:sp>
        <p:nvSpPr>
          <p:cNvPr id="1435194600" name="Shape 28"/>
          <p:cNvSpPr/>
          <p:nvPr/>
        </p:nvSpPr>
        <p:spPr bwMode="auto">
          <a:xfrm>
            <a:off x="9921240" y="2148840"/>
            <a:ext cx="1737360" cy="2331720"/>
          </a:xfrm>
          <a:prstGeom prst="roundRect">
            <a:avLst>
              <a:gd name="adj" fmla="val 6316"/>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680383766" name="Shape 29"/>
          <p:cNvSpPr/>
          <p:nvPr/>
        </p:nvSpPr>
        <p:spPr bwMode="auto">
          <a:xfrm>
            <a:off x="10460736" y="2377440"/>
            <a:ext cx="658368" cy="658368"/>
          </a:xfrm>
          <a:prstGeom prst="ellipse">
            <a:avLst/>
          </a:prstGeom>
          <a:solidFill>
            <a:srgbClr val="6B5BD2"/>
          </a:solidFill>
          <a:ln/>
          <a:effectLst>
            <a:outerShdw blurRad="76200" dist="25400" dir="5400000" sx="100000" sy="100000" kx="0" ky="0" algn="bl" rotWithShape="0">
              <a:srgbClr val="1B2A44">
                <a:alpha val="16000"/>
              </a:srgbClr>
            </a:outerShdw>
          </a:effectLst>
        </p:spPr>
      </p:sp>
      <p:pic>
        <p:nvPicPr>
          <p:cNvPr id="516330095" name="Image 5" descr="preencoded.png"/>
          <p:cNvPicPr>
            <a:picLocks noChangeAspect="1"/>
          </p:cNvPicPr>
          <p:nvPr/>
        </p:nvPicPr>
        <p:blipFill rotWithShape="1">
          <a:blip r:embed="rId8"/>
          <a:stretch/>
        </p:blipFill>
        <p:spPr bwMode="auto">
          <a:xfrm>
            <a:off x="10625328" y="2542032"/>
            <a:ext cx="329184" cy="329184"/>
          </a:xfrm>
          <a:prstGeom prst="rect">
            <a:avLst/>
          </a:prstGeom>
        </p:spPr>
      </p:pic>
      <p:sp>
        <p:nvSpPr>
          <p:cNvPr id="678325878" name="Text 30"/>
          <p:cNvSpPr/>
          <p:nvPr/>
        </p:nvSpPr>
        <p:spPr bwMode="auto">
          <a:xfrm>
            <a:off x="9921240" y="3108960"/>
            <a:ext cx="1737360" cy="292608"/>
          </a:xfrm>
          <a:prstGeom prst="rect">
            <a:avLst/>
          </a:prstGeom>
          <a:noFill/>
          <a:ln/>
        </p:spPr>
        <p:txBody>
          <a:bodyPr wrap="square" lIns="0" tIns="0" rIns="0" bIns="0" rtlCol="0" anchor="ctr"/>
          <a:lstStyle/>
          <a:p>
            <a:pPr marL="0" indent="0" algn="ctr">
              <a:buNone/>
              <a:defRPr/>
            </a:pPr>
            <a:r>
              <a:rPr lang="en-US" sz="1350" b="1">
                <a:solidFill>
                  <a:srgbClr val="13233B"/>
                </a:solidFill>
                <a:latin typeface="Calibri"/>
                <a:ea typeface="Calibri"/>
                <a:cs typeface="Calibri"/>
              </a:rPr>
              <a:t>Verwaltung</a:t>
            </a:r>
            <a:endParaRPr lang="en-US" sz="1350"/>
          </a:p>
        </p:txBody>
      </p:sp>
      <p:sp>
        <p:nvSpPr>
          <p:cNvPr id="675145374" name="Text 31"/>
          <p:cNvSpPr/>
          <p:nvPr/>
        </p:nvSpPr>
        <p:spPr bwMode="auto">
          <a:xfrm>
            <a:off x="9921240" y="3401568"/>
            <a:ext cx="1737360" cy="256032"/>
          </a:xfrm>
          <a:prstGeom prst="rect">
            <a:avLst/>
          </a:prstGeom>
          <a:noFill/>
          <a:ln/>
        </p:spPr>
        <p:txBody>
          <a:bodyPr wrap="square" lIns="0" tIns="0" rIns="0" bIns="0" rtlCol="0" anchor="ctr"/>
          <a:lstStyle/>
          <a:p>
            <a:pPr marL="0" indent="0" algn="ctr">
              <a:buNone/>
              <a:defRPr/>
            </a:pPr>
            <a:r>
              <a:rPr lang="en-US" sz="1000">
                <a:solidFill>
                  <a:srgbClr val="5A6B82"/>
                </a:solidFill>
                <a:latin typeface="Consolas"/>
                <a:ea typeface="Consolas"/>
                <a:cs typeface="Consolas"/>
              </a:rPr>
              <a:t>/admin</a:t>
            </a:r>
            <a:endParaRPr lang="en-US" sz="1000"/>
          </a:p>
        </p:txBody>
      </p:sp>
      <p:sp>
        <p:nvSpPr>
          <p:cNvPr id="38101354" name="Text 32"/>
          <p:cNvSpPr/>
          <p:nvPr/>
        </p:nvSpPr>
        <p:spPr bwMode="auto">
          <a:xfrm>
            <a:off x="10058400" y="3721608"/>
            <a:ext cx="1463040" cy="640080"/>
          </a:xfrm>
          <a:prstGeom prst="rect">
            <a:avLst/>
          </a:prstGeom>
          <a:noFill/>
          <a:ln/>
        </p:spPr>
        <p:txBody>
          <a:bodyPr wrap="square" lIns="0" tIns="0" rIns="0" bIns="0" rtlCol="0" anchor="t"/>
          <a:lstStyle/>
          <a:p>
            <a:pPr marL="0" indent="0" algn="ctr">
              <a:lnSpc>
                <a:spcPct val="106000"/>
              </a:lnSpc>
              <a:buNone/>
              <a:defRPr/>
            </a:pPr>
            <a:r>
              <a:rPr lang="en-US" sz="1000">
                <a:solidFill>
                  <a:srgbClr val="5A6B82"/>
                </a:solidFill>
                <a:latin typeface="Calibri"/>
                <a:ea typeface="Calibri"/>
                <a:cs typeface="Calibri"/>
              </a:rPr>
              <a:t>RLS: nur eigene Einrichtung</a:t>
            </a:r>
            <a:endParaRPr lang="en-US" sz="1000"/>
          </a:p>
        </p:txBody>
      </p:sp>
      <p:sp>
        <p:nvSpPr>
          <p:cNvPr id="456986024" name="Shape 33"/>
          <p:cNvSpPr/>
          <p:nvPr/>
        </p:nvSpPr>
        <p:spPr bwMode="auto">
          <a:xfrm>
            <a:off x="9710928" y="3314700"/>
            <a:ext cx="192024" cy="0"/>
          </a:xfrm>
          <a:prstGeom prst="line">
            <a:avLst/>
          </a:prstGeom>
          <a:noFill/>
          <a:ln w="22225">
            <a:solidFill>
              <a:srgbClr val="6B5BD2"/>
            </a:solidFill>
            <a:prstDash val="solid"/>
            <a:tailEnd type="triangle"/>
          </a:ln>
        </p:spPr>
      </p:sp>
      <p:sp>
        <p:nvSpPr>
          <p:cNvPr id="112527925" name="Text 34"/>
          <p:cNvSpPr/>
          <p:nvPr/>
        </p:nvSpPr>
        <p:spPr bwMode="auto">
          <a:xfrm>
            <a:off x="9692640" y="2930652"/>
            <a:ext cx="914400" cy="320040"/>
          </a:xfrm>
          <a:prstGeom prst="rect">
            <a:avLst/>
          </a:prstGeom>
          <a:noFill/>
          <a:ln/>
        </p:spPr>
        <p:txBody>
          <a:bodyPr wrap="square" lIns="0" tIns="0" rIns="0" bIns="0" rtlCol="0" anchor="ctr"/>
          <a:lstStyle/>
          <a:p>
            <a:pPr marL="0" indent="0" algn="ctr">
              <a:buNone/>
              <a:defRPr/>
            </a:pPr>
            <a:r>
              <a:rPr lang="en-US" sz="900" i="1">
                <a:solidFill>
                  <a:srgbClr val="5A6B82"/>
                </a:solidFill>
                <a:latin typeface="Calibri"/>
                <a:ea typeface="Calibri"/>
                <a:cs typeface="Calibri"/>
              </a:rPr>
              <a:t>GET (RLS)</a:t>
            </a:r>
            <a:endParaRPr lang="en-US" sz="900"/>
          </a:p>
        </p:txBody>
      </p:sp>
      <p:sp>
        <p:nvSpPr>
          <p:cNvPr id="2052859735" name="Shape 35"/>
          <p:cNvSpPr/>
          <p:nvPr/>
        </p:nvSpPr>
        <p:spPr bwMode="auto">
          <a:xfrm>
            <a:off x="566928" y="5074920"/>
            <a:ext cx="5486400" cy="932688"/>
          </a:xfrm>
          <a:prstGeom prst="roundRect">
            <a:avLst>
              <a:gd name="adj" fmla="val 9804"/>
            </a:avLst>
          </a:prstGeom>
          <a:solidFill>
            <a:srgbClr val="F5F8FC"/>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77013796" name="Shape 36"/>
          <p:cNvSpPr/>
          <p:nvPr/>
        </p:nvSpPr>
        <p:spPr bwMode="auto">
          <a:xfrm>
            <a:off x="822960" y="5321808"/>
            <a:ext cx="457200" cy="457200"/>
          </a:xfrm>
          <a:prstGeom prst="ellipse">
            <a:avLst/>
          </a:prstGeom>
          <a:solidFill>
            <a:srgbClr val="112A4E"/>
          </a:solidFill>
          <a:ln/>
        </p:spPr>
      </p:sp>
      <p:pic>
        <p:nvPicPr>
          <p:cNvPr id="1598841351" name="Image 6" descr="preencoded.png"/>
          <p:cNvPicPr>
            <a:picLocks noChangeAspect="1"/>
          </p:cNvPicPr>
          <p:nvPr/>
        </p:nvPicPr>
        <p:blipFill rotWithShape="1">
          <a:blip r:embed="rId9"/>
          <a:stretch/>
        </p:blipFill>
        <p:spPr bwMode="auto">
          <a:xfrm>
            <a:off x="937260" y="5436107"/>
            <a:ext cx="228600" cy="228600"/>
          </a:xfrm>
          <a:prstGeom prst="rect">
            <a:avLst/>
          </a:prstGeom>
        </p:spPr>
      </p:pic>
      <p:sp>
        <p:nvSpPr>
          <p:cNvPr id="1054031608" name="Text 37"/>
          <p:cNvSpPr/>
          <p:nvPr/>
        </p:nvSpPr>
        <p:spPr bwMode="auto">
          <a:xfrm>
            <a:off x="1435608" y="5202936"/>
            <a:ext cx="4480560" cy="329184"/>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Kiosk-Identität über die URL</a:t>
            </a:r>
            <a:endParaRPr lang="en-US" sz="1350"/>
          </a:p>
        </p:txBody>
      </p:sp>
      <p:sp>
        <p:nvSpPr>
          <p:cNvPr id="2060096094" name="Text 38"/>
          <p:cNvSpPr/>
          <p:nvPr/>
        </p:nvSpPr>
        <p:spPr bwMode="auto">
          <a:xfrm>
            <a:off x="1435608" y="5513832"/>
            <a:ext cx="4480560" cy="457200"/>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Der Einrichtungs-Slug kommt aus dem URL-Pfad — frisch bei jedem Laden. Kein Cookie, kein Login.</a:t>
            </a:r>
            <a:endParaRPr lang="en-US" sz="1100"/>
          </a:p>
        </p:txBody>
      </p:sp>
      <p:sp>
        <p:nvSpPr>
          <p:cNvPr id="751031004" name="Shape 39"/>
          <p:cNvSpPr/>
          <p:nvPr/>
        </p:nvSpPr>
        <p:spPr bwMode="auto">
          <a:xfrm>
            <a:off x="6163056" y="5074920"/>
            <a:ext cx="5486400" cy="932688"/>
          </a:xfrm>
          <a:prstGeom prst="roundRect">
            <a:avLst>
              <a:gd name="adj" fmla="val 9804"/>
            </a:avLst>
          </a:prstGeom>
          <a:solidFill>
            <a:srgbClr val="F5F8FC"/>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35810296" name="Shape 40"/>
          <p:cNvSpPr/>
          <p:nvPr/>
        </p:nvSpPr>
        <p:spPr bwMode="auto">
          <a:xfrm>
            <a:off x="6419088" y="5321808"/>
            <a:ext cx="457200" cy="457200"/>
          </a:xfrm>
          <a:prstGeom prst="ellipse">
            <a:avLst/>
          </a:prstGeom>
          <a:solidFill>
            <a:srgbClr val="112A4E"/>
          </a:solidFill>
          <a:ln/>
        </p:spPr>
      </p:sp>
      <p:pic>
        <p:nvPicPr>
          <p:cNvPr id="917885407" name="Image 7" descr="preencoded.png"/>
          <p:cNvPicPr>
            <a:picLocks noChangeAspect="1"/>
          </p:cNvPicPr>
          <p:nvPr/>
        </p:nvPicPr>
        <p:blipFill rotWithShape="1">
          <a:blip r:embed="rId10"/>
          <a:stretch/>
        </p:blipFill>
        <p:spPr bwMode="auto">
          <a:xfrm>
            <a:off x="6533388" y="5436107"/>
            <a:ext cx="228600" cy="228600"/>
          </a:xfrm>
          <a:prstGeom prst="rect">
            <a:avLst/>
          </a:prstGeom>
        </p:spPr>
      </p:pic>
      <p:sp>
        <p:nvSpPr>
          <p:cNvPr id="486064061" name="Text 41"/>
          <p:cNvSpPr/>
          <p:nvPr/>
        </p:nvSpPr>
        <p:spPr bwMode="auto">
          <a:xfrm>
            <a:off x="7031736" y="5202936"/>
            <a:ext cx="4480560" cy="329184"/>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Hintergrund-Transkription</a:t>
            </a:r>
            <a:endParaRPr lang="en-US" sz="1350"/>
          </a:p>
        </p:txBody>
      </p:sp>
      <p:sp>
        <p:nvSpPr>
          <p:cNvPr id="1499184710" name="Text 42"/>
          <p:cNvSpPr/>
          <p:nvPr/>
        </p:nvSpPr>
        <p:spPr bwMode="auto">
          <a:xfrm>
            <a:off x="7031736" y="5513832"/>
            <a:ext cx="4480560" cy="457200"/>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Die KI läuft, während der Nutzer weiterklickt. Erst beim Senden wird bei Bedarf gewartet.</a:t>
            </a:r>
            <a:endParaRPr lang="en-US" sz="1100"/>
          </a:p>
        </p:txBody>
      </p:sp>
      <p:sp>
        <p:nvSpPr>
          <p:cNvPr id="1749781528" name="Text 4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920407158" name="Text 4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5F8FC"/>
        </a:solidFill>
      </p:bgPr>
    </p:bg>
    <p:spTree>
      <p:nvGrpSpPr>
        <p:cNvPr id="1" name=""/>
        <p:cNvGrpSpPr/>
        <p:nvPr/>
      </p:nvGrpSpPr>
      <p:grpSpPr bwMode="auto">
        <a:xfrm>
          <a:off x="0" y="0"/>
          <a:ext cx="0" cy="0"/>
          <a:chOff x="0" y="0"/>
          <a:chExt cx="0" cy="0"/>
        </a:xfrm>
      </p:grpSpPr>
      <p:sp>
        <p:nvSpPr>
          <p:cNvPr id="712043135"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3 · DIE DATENBANK</a:t>
            </a:r>
            <a:endParaRPr lang="en-US" sz="1250"/>
          </a:p>
        </p:txBody>
      </p:sp>
      <p:sp>
        <p:nvSpPr>
          <p:cNvPr id="189005858"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Supabase / PostgreSQL — das Schema</a:t>
            </a:r>
            <a:endParaRPr lang="en-US" sz="3300"/>
          </a:p>
        </p:txBody>
      </p:sp>
      <p:sp>
        <p:nvSpPr>
          <p:cNvPr id="721037541" name="Shape 2"/>
          <p:cNvSpPr/>
          <p:nvPr/>
        </p:nvSpPr>
        <p:spPr bwMode="auto">
          <a:xfrm>
            <a:off x="566928" y="1691640"/>
            <a:ext cx="5989320" cy="4343400"/>
          </a:xfrm>
          <a:prstGeom prst="roundRect">
            <a:avLst>
              <a:gd name="adj" fmla="val 2105"/>
            </a:avLst>
          </a:prstGeom>
          <a:solidFill>
            <a:srgbClr val="0C1F3D"/>
          </a:solidFill>
          <a:ln/>
          <a:effectLst>
            <a:outerShdw blurRad="114300" dist="38100" dir="5400000" sx="100000" sy="100000" kx="0" ky="0" algn="bl" rotWithShape="0">
              <a:srgbClr val="1B2A44">
                <a:alpha val="16000"/>
              </a:srgbClr>
            </a:outerShdw>
          </a:effectLst>
        </p:spPr>
      </p:sp>
      <p:sp>
        <p:nvSpPr>
          <p:cNvPr id="335684996" name="Text 3"/>
          <p:cNvSpPr/>
          <p:nvPr/>
        </p:nvSpPr>
        <p:spPr bwMode="auto">
          <a:xfrm>
            <a:off x="841248" y="1856232"/>
            <a:ext cx="5440680" cy="292608"/>
          </a:xfrm>
          <a:prstGeom prst="rect">
            <a:avLst/>
          </a:prstGeom>
          <a:noFill/>
          <a:ln/>
        </p:spPr>
        <p:txBody>
          <a:bodyPr wrap="square" lIns="0" tIns="0" rIns="0" bIns="0" rtlCol="0" anchor="ctr"/>
          <a:lstStyle/>
          <a:p>
            <a:pPr marL="0" indent="0">
              <a:buNone/>
              <a:defRPr/>
            </a:pPr>
            <a:r>
              <a:rPr lang="en-US" sz="1100">
                <a:solidFill>
                  <a:srgbClr val="9FB4D6"/>
                </a:solidFill>
                <a:latin typeface="Consolas"/>
                <a:ea typeface="Consolas"/>
                <a:cs typeface="Consolas"/>
              </a:rPr>
              <a:t>supabase/migrations/0001_init.sql</a:t>
            </a:r>
            <a:endParaRPr lang="en-US" sz="1100"/>
          </a:p>
        </p:txBody>
      </p:sp>
      <p:sp>
        <p:nvSpPr>
          <p:cNvPr id="1689914478" name="Text 4"/>
          <p:cNvSpPr/>
          <p:nvPr/>
        </p:nvSpPr>
        <p:spPr bwMode="auto">
          <a:xfrm>
            <a:off x="841248" y="2240280"/>
            <a:ext cx="5486400" cy="3611880"/>
          </a:xfrm>
          <a:prstGeom prst="rect">
            <a:avLst/>
          </a:prstGeom>
          <a:noFill/>
          <a:ln/>
        </p:spPr>
        <p:txBody>
          <a:bodyPr wrap="square" lIns="0" tIns="0" rIns="0" bIns="0" rtlCol="0" anchor="t"/>
          <a:lstStyle/>
          <a:p>
            <a:pPr marL="0" indent="0">
              <a:lnSpc>
                <a:spcPct val="112000"/>
              </a:lnSpc>
              <a:buNone/>
              <a:defRPr/>
            </a:pPr>
            <a:r>
              <a:rPr lang="en-US" sz="1100">
                <a:solidFill>
                  <a:srgbClr val="D8E4F5"/>
                </a:solidFill>
                <a:latin typeface="Consolas"/>
                <a:ea typeface="Consolas"/>
                <a:cs typeface="Consolas"/>
              </a:rPr>
              <a:t>create table complaints (</a:t>
            </a:r>
            <a:endParaRPr lang="en-US" sz="1100"/>
          </a:p>
          <a:p>
            <a:pPr marL="0" indent="0">
              <a:lnSpc>
                <a:spcPct val="112000"/>
              </a:lnSpc>
              <a:buNone/>
              <a:defRPr/>
            </a:pPr>
            <a:r>
              <a:rPr lang="en-US" sz="1100">
                <a:solidFill>
                  <a:srgbClr val="F6B25E"/>
                </a:solidFill>
                <a:latin typeface="Consolas"/>
                <a:ea typeface="Consolas"/>
                <a:cs typeface="Consolas"/>
              </a:rPr>
              <a:t>  id                 uuid primary key</a:t>
            </a:r>
            <a:endParaRPr lang="en-US" sz="1100"/>
          </a:p>
          <a:p>
            <a:pPr marL="0" indent="0">
              <a:lnSpc>
                <a:spcPct val="112000"/>
              </a:lnSpc>
              <a:buNone/>
              <a:defRPr/>
            </a:pPr>
            <a:r>
              <a:rPr lang="en-US" sz="1100">
                <a:solidFill>
                  <a:srgbClr val="D8E4F5"/>
                </a:solidFill>
                <a:latin typeface="Consolas"/>
                <a:ea typeface="Consolas"/>
                <a:cs typeface="Consolas"/>
              </a:rPr>
              <a:t>                       default gen_random_uuid(),</a:t>
            </a:r>
            <a:endParaRPr lang="en-US" sz="1100"/>
          </a:p>
          <a:p>
            <a:pPr marL="0" indent="0">
              <a:lnSpc>
                <a:spcPct val="112000"/>
              </a:lnSpc>
              <a:buNone/>
              <a:defRPr/>
            </a:pPr>
            <a:r>
              <a:rPr lang="en-US" sz="1100">
                <a:solidFill>
                  <a:srgbClr val="D8E4F5"/>
                </a:solidFill>
                <a:latin typeface="Consolas"/>
                <a:ea typeface="Consolas"/>
                <a:cs typeface="Consolas"/>
              </a:rPr>
              <a:t>  facility_slug      text not null,  </a:t>
            </a:r>
            <a:r>
              <a:rPr lang="en-US" sz="1100" i="1">
                <a:solidFill>
                  <a:srgbClr val="7D94B5"/>
                </a:solidFill>
                <a:latin typeface="Consolas"/>
                <a:ea typeface="Consolas"/>
                <a:cs typeface="Consolas"/>
              </a:rPr>
              <a:t> // aus der Kiosk-URL</a:t>
            </a:r>
            <a:endParaRPr lang="en-US" sz="1100"/>
          </a:p>
          <a:p>
            <a:pPr marL="0" indent="0">
              <a:lnSpc>
                <a:spcPct val="112000"/>
              </a:lnSpc>
              <a:buNone/>
              <a:defRPr/>
            </a:pPr>
            <a:r>
              <a:rPr lang="en-US" sz="1100">
                <a:solidFill>
                  <a:srgbClr val="D8E4F5"/>
                </a:solidFill>
                <a:latin typeface="Consolas"/>
                <a:ea typeface="Consolas"/>
                <a:cs typeface="Consolas"/>
              </a:rPr>
              <a:t>  problem_text       text,           </a:t>
            </a:r>
            <a:r>
              <a:rPr lang="en-US" sz="1100" i="1">
                <a:solidFill>
                  <a:srgbClr val="7D94B5"/>
                </a:solidFill>
                <a:latin typeface="Consolas"/>
                <a:ea typeface="Consolas"/>
                <a:cs typeface="Consolas"/>
              </a:rPr>
              <a:t> // KI-Transkript</a:t>
            </a:r>
            <a:endParaRPr lang="en-US" sz="1100"/>
          </a:p>
          <a:p>
            <a:pPr marL="0" indent="0">
              <a:lnSpc>
                <a:spcPct val="112000"/>
              </a:lnSpc>
              <a:buNone/>
              <a:defRPr/>
            </a:pPr>
            <a:r>
              <a:rPr lang="en-US" sz="1100">
                <a:solidFill>
                  <a:srgbClr val="D8E4F5"/>
                </a:solidFill>
                <a:latin typeface="Consolas"/>
                <a:ea typeface="Consolas"/>
                <a:cs typeface="Consolas"/>
              </a:rPr>
              <a:t>  problem_audio_path text,           </a:t>
            </a:r>
            <a:r>
              <a:rPr lang="en-US" sz="1100" i="1">
                <a:solidFill>
                  <a:srgbClr val="7D94B5"/>
                </a:solidFill>
                <a:latin typeface="Consolas"/>
                <a:ea typeface="Consolas"/>
                <a:cs typeface="Consolas"/>
              </a:rPr>
              <a:t> // Originalaufnahme</a:t>
            </a:r>
            <a:endParaRPr lang="en-US" sz="1100"/>
          </a:p>
          <a:p>
            <a:pPr marL="0" indent="0">
              <a:lnSpc>
                <a:spcPct val="112000"/>
              </a:lnSpc>
              <a:buNone/>
              <a:defRPr/>
            </a:pPr>
            <a:r>
              <a:rPr lang="en-US" sz="1100">
                <a:solidFill>
                  <a:srgbClr val="D8E4F5"/>
                </a:solidFill>
                <a:latin typeface="Consolas"/>
                <a:ea typeface="Consolas"/>
                <a:cs typeface="Consolas"/>
              </a:rPr>
              <a:t>  solution_text      text,</a:t>
            </a:r>
            <a:endParaRPr lang="en-US" sz="1100"/>
          </a:p>
          <a:p>
            <a:pPr marL="0" indent="0">
              <a:lnSpc>
                <a:spcPct val="112000"/>
              </a:lnSpc>
              <a:buNone/>
              <a:defRPr/>
            </a:pPr>
            <a:r>
              <a:rPr lang="en-US" sz="1100">
                <a:solidFill>
                  <a:srgbClr val="D8E4F5"/>
                </a:solidFill>
                <a:latin typeface="Consolas"/>
                <a:ea typeface="Consolas"/>
                <a:cs typeface="Consolas"/>
              </a:rPr>
              <a:t>  is_anonymous       boolean not null default true,</a:t>
            </a:r>
            <a:endParaRPr lang="en-US" sz="1100"/>
          </a:p>
          <a:p>
            <a:pPr marL="0" indent="0">
              <a:lnSpc>
                <a:spcPct val="112000"/>
              </a:lnSpc>
              <a:buNone/>
              <a:defRPr/>
            </a:pPr>
            <a:r>
              <a:rPr lang="en-US" sz="1100">
                <a:solidFill>
                  <a:srgbClr val="D8E4F5"/>
                </a:solidFill>
                <a:latin typeface="Consolas"/>
                <a:ea typeface="Consolas"/>
                <a:cs typeface="Consolas"/>
              </a:rPr>
              <a:t>  name_text          text,</a:t>
            </a:r>
            <a:endParaRPr lang="en-US" sz="1100"/>
          </a:p>
          <a:p>
            <a:pPr marL="0" indent="0">
              <a:lnSpc>
                <a:spcPct val="112000"/>
              </a:lnSpc>
              <a:buNone/>
              <a:defRPr/>
            </a:pPr>
            <a:r>
              <a:rPr lang="en-US" sz="1100">
                <a:solidFill>
                  <a:srgbClr val="F6B25E"/>
                </a:solidFill>
                <a:latin typeface="Consolas"/>
                <a:ea typeface="Consolas"/>
                <a:cs typeface="Consolas"/>
              </a:rPr>
              <a:t>  status             text not null default 'offen'</a:t>
            </a:r>
            <a:endParaRPr lang="en-US" sz="1100"/>
          </a:p>
          <a:p>
            <a:pPr marL="0" indent="0">
              <a:lnSpc>
                <a:spcPct val="112000"/>
              </a:lnSpc>
              <a:buNone/>
              <a:defRPr/>
            </a:pPr>
            <a:r>
              <a:rPr lang="en-US" sz="1100">
                <a:solidFill>
                  <a:srgbClr val="D8E4F5"/>
                </a:solidFill>
                <a:latin typeface="Consolas"/>
                <a:ea typeface="Consolas"/>
                <a:cs typeface="Consolas"/>
              </a:rPr>
              <a:t>    check (status in ('offen',</a:t>
            </a:r>
            <a:endParaRPr lang="en-US" sz="1100"/>
          </a:p>
          <a:p>
            <a:pPr marL="0" indent="0">
              <a:lnSpc>
                <a:spcPct val="112000"/>
              </a:lnSpc>
              <a:buNone/>
              <a:defRPr/>
            </a:pPr>
            <a:r>
              <a:rPr lang="en-US" sz="1100">
                <a:solidFill>
                  <a:srgbClr val="D8E4F5"/>
                </a:solidFill>
                <a:latin typeface="Consolas"/>
                <a:ea typeface="Consolas"/>
                <a:cs typeface="Consolas"/>
              </a:rPr>
              <a:t>        'in_bearbeitung','erledigt')),</a:t>
            </a:r>
            <a:endParaRPr lang="en-US" sz="1100"/>
          </a:p>
          <a:p>
            <a:pPr marL="0" indent="0">
              <a:lnSpc>
                <a:spcPct val="112000"/>
              </a:lnSpc>
              <a:buNone/>
              <a:defRPr/>
            </a:pPr>
            <a:r>
              <a:rPr lang="en-US" sz="1100">
                <a:solidFill>
                  <a:srgbClr val="D8E4F5"/>
                </a:solidFill>
                <a:latin typeface="Consolas"/>
                <a:ea typeface="Consolas"/>
                <a:cs typeface="Consolas"/>
              </a:rPr>
              <a:t>  created_at         timestamptz default now()</a:t>
            </a:r>
            <a:endParaRPr lang="en-US" sz="1100"/>
          </a:p>
          <a:p>
            <a:pPr marL="0" indent="0">
              <a:lnSpc>
                <a:spcPct val="112000"/>
              </a:lnSpc>
              <a:buNone/>
              <a:defRPr/>
            </a:pPr>
            <a:r>
              <a:rPr lang="en-US" sz="1100">
                <a:solidFill>
                  <a:srgbClr val="D8E4F5"/>
                </a:solidFill>
                <a:latin typeface="Consolas"/>
                <a:ea typeface="Consolas"/>
                <a:cs typeface="Consolas"/>
              </a:rPr>
              <a:t>);</a:t>
            </a:r>
            <a:endParaRPr lang="en-US" sz="1100"/>
          </a:p>
          <a:p>
            <a:pPr marL="0" indent="0">
              <a:lnSpc>
                <a:spcPct val="112000"/>
              </a:lnSpc>
              <a:buNone/>
              <a:defRPr/>
            </a:pPr>
            <a:r>
              <a:rPr lang="en-US" sz="1100">
                <a:solidFill>
                  <a:srgbClr val="D8E4F5"/>
                </a:solidFill>
                <a:latin typeface="Consolas"/>
                <a:ea typeface="Consolas"/>
                <a:cs typeface="Consolas"/>
              </a:rPr>
              <a:t>create index complaints_facility_slug_idx</a:t>
            </a:r>
            <a:endParaRPr lang="en-US" sz="1100"/>
          </a:p>
          <a:p>
            <a:pPr marL="0" indent="0">
              <a:lnSpc>
                <a:spcPct val="112000"/>
              </a:lnSpc>
              <a:buNone/>
              <a:defRPr/>
            </a:pPr>
            <a:r>
              <a:rPr lang="en-US" sz="1100">
                <a:solidFill>
                  <a:srgbClr val="D8E4F5"/>
                </a:solidFill>
                <a:latin typeface="Consolas"/>
                <a:ea typeface="Consolas"/>
                <a:cs typeface="Consolas"/>
              </a:rPr>
              <a:t>  on complaints (facility_slug);</a:t>
            </a:r>
            <a:endParaRPr lang="en-US" sz="1100"/>
          </a:p>
        </p:txBody>
      </p:sp>
      <p:sp>
        <p:nvSpPr>
          <p:cNvPr id="1314738743" name="Shape 5"/>
          <p:cNvSpPr/>
          <p:nvPr/>
        </p:nvSpPr>
        <p:spPr bwMode="auto">
          <a:xfrm>
            <a:off x="6766560" y="1691640"/>
            <a:ext cx="4892039" cy="822960"/>
          </a:xfrm>
          <a:prstGeom prst="roundRect">
            <a:avLst>
              <a:gd name="adj" fmla="val 100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36365821" name="Shape 6"/>
          <p:cNvSpPr/>
          <p:nvPr/>
        </p:nvSpPr>
        <p:spPr bwMode="auto">
          <a:xfrm>
            <a:off x="6967728" y="1874520"/>
            <a:ext cx="457200" cy="457200"/>
          </a:xfrm>
          <a:prstGeom prst="ellipse">
            <a:avLst/>
          </a:prstGeom>
          <a:solidFill>
            <a:srgbClr val="1B4F8F"/>
          </a:solidFill>
          <a:ln/>
        </p:spPr>
      </p:sp>
      <p:pic>
        <p:nvPicPr>
          <p:cNvPr id="1360673180" name="Image 0" descr="preencoded.png"/>
          <p:cNvPicPr>
            <a:picLocks noChangeAspect="1"/>
          </p:cNvPicPr>
          <p:nvPr/>
        </p:nvPicPr>
        <p:blipFill rotWithShape="1">
          <a:blip r:embed="rId3"/>
          <a:stretch/>
        </p:blipFill>
        <p:spPr bwMode="auto">
          <a:xfrm>
            <a:off x="7082028" y="1988820"/>
            <a:ext cx="228600" cy="228600"/>
          </a:xfrm>
          <a:prstGeom prst="rect">
            <a:avLst/>
          </a:prstGeom>
        </p:spPr>
      </p:pic>
      <p:sp>
        <p:nvSpPr>
          <p:cNvPr id="1922175127" name="Text 7"/>
          <p:cNvSpPr/>
          <p:nvPr/>
        </p:nvSpPr>
        <p:spPr bwMode="auto">
          <a:xfrm>
            <a:off x="7589520" y="1801367"/>
            <a:ext cx="3931920" cy="310896"/>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id als UUID</a:t>
            </a:r>
            <a:endParaRPr lang="en-US" sz="1350"/>
          </a:p>
        </p:txBody>
      </p:sp>
      <p:sp>
        <p:nvSpPr>
          <p:cNvPr id="356276207" name="Text 8"/>
          <p:cNvSpPr/>
          <p:nvPr/>
        </p:nvSpPr>
        <p:spPr bwMode="auto">
          <a:xfrm>
            <a:off x="7589520" y="2093976"/>
            <a:ext cx="3931920" cy="384048"/>
          </a:xfrm>
          <a:prstGeom prst="rect">
            <a:avLst/>
          </a:prstGeom>
          <a:noFill/>
          <a:ln/>
        </p:spPr>
        <p:txBody>
          <a:bodyPr wrap="square" lIns="0" tIns="0" rIns="0" bIns="0" rtlCol="0" anchor="t"/>
          <a:lstStyle/>
          <a:p>
            <a:pPr marL="0" indent="0">
              <a:lnSpc>
                <a:spcPct val="100000"/>
              </a:lnSpc>
              <a:buNone/>
              <a:defRPr/>
            </a:pPr>
            <a:r>
              <a:rPr lang="en-US" sz="1100">
                <a:solidFill>
                  <a:srgbClr val="5A6B82"/>
                </a:solidFill>
                <a:latin typeface="Calibri"/>
                <a:ea typeface="Calibri"/>
                <a:cs typeface="Calibri"/>
              </a:rPr>
              <a:t>Nicht erratbar — verrät auch nicht, wie viele Beschwerden es gibt.</a:t>
            </a:r>
            <a:endParaRPr lang="en-US" sz="1100"/>
          </a:p>
        </p:txBody>
      </p:sp>
      <p:sp>
        <p:nvSpPr>
          <p:cNvPr id="1657626818" name="Shape 9"/>
          <p:cNvSpPr/>
          <p:nvPr/>
        </p:nvSpPr>
        <p:spPr bwMode="auto">
          <a:xfrm>
            <a:off x="6766560" y="2606040"/>
            <a:ext cx="4892039" cy="822960"/>
          </a:xfrm>
          <a:prstGeom prst="roundRect">
            <a:avLst>
              <a:gd name="adj" fmla="val 100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01431166" name="Shape 10"/>
          <p:cNvSpPr/>
          <p:nvPr/>
        </p:nvSpPr>
        <p:spPr bwMode="auto">
          <a:xfrm>
            <a:off x="6967728" y="2788920"/>
            <a:ext cx="457200" cy="457200"/>
          </a:xfrm>
          <a:prstGeom prst="ellipse">
            <a:avLst/>
          </a:prstGeom>
          <a:solidFill>
            <a:srgbClr val="D22F3A"/>
          </a:solidFill>
          <a:ln/>
        </p:spPr>
      </p:sp>
      <p:pic>
        <p:nvPicPr>
          <p:cNvPr id="1006048999" name="Image 1" descr="preencoded.png"/>
          <p:cNvPicPr>
            <a:picLocks noChangeAspect="1"/>
          </p:cNvPicPr>
          <p:nvPr/>
        </p:nvPicPr>
        <p:blipFill rotWithShape="1">
          <a:blip r:embed="rId4"/>
          <a:stretch/>
        </p:blipFill>
        <p:spPr bwMode="auto">
          <a:xfrm>
            <a:off x="7082028" y="2903220"/>
            <a:ext cx="228600" cy="228600"/>
          </a:xfrm>
          <a:prstGeom prst="rect">
            <a:avLst/>
          </a:prstGeom>
        </p:spPr>
      </p:pic>
      <p:sp>
        <p:nvSpPr>
          <p:cNvPr id="1932958327" name="Text 11"/>
          <p:cNvSpPr/>
          <p:nvPr/>
        </p:nvSpPr>
        <p:spPr bwMode="auto">
          <a:xfrm>
            <a:off x="7589520" y="2715768"/>
            <a:ext cx="3931920" cy="310896"/>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Text UND Audio</a:t>
            </a:r>
            <a:endParaRPr lang="en-US" sz="1350"/>
          </a:p>
        </p:txBody>
      </p:sp>
      <p:sp>
        <p:nvSpPr>
          <p:cNvPr id="647683807" name="Text 12"/>
          <p:cNvSpPr/>
          <p:nvPr/>
        </p:nvSpPr>
        <p:spPr bwMode="auto">
          <a:xfrm>
            <a:off x="7589520" y="3008376"/>
            <a:ext cx="3931920" cy="384048"/>
          </a:xfrm>
          <a:prstGeom prst="rect">
            <a:avLst/>
          </a:prstGeom>
          <a:noFill/>
          <a:ln/>
        </p:spPr>
        <p:txBody>
          <a:bodyPr wrap="square" lIns="0" tIns="0" rIns="0" bIns="0" rtlCol="0" anchor="t"/>
          <a:lstStyle/>
          <a:p>
            <a:pPr marL="0" indent="0">
              <a:lnSpc>
                <a:spcPct val="100000"/>
              </a:lnSpc>
              <a:buNone/>
              <a:defRPr/>
            </a:pPr>
            <a:r>
              <a:rPr lang="en-US" sz="1100">
                <a:solidFill>
                  <a:srgbClr val="5A6B82"/>
                </a:solidFill>
                <a:latin typeface="Calibri"/>
                <a:ea typeface="Calibri"/>
                <a:cs typeface="Calibri"/>
              </a:rPr>
              <a:t>Beides gespeichert: KI-Text + Originalaufnahme als „Beweismittel“.</a:t>
            </a:r>
            <a:endParaRPr lang="en-US" sz="1100"/>
          </a:p>
        </p:txBody>
      </p:sp>
      <p:sp>
        <p:nvSpPr>
          <p:cNvPr id="1559808712" name="Shape 13"/>
          <p:cNvSpPr/>
          <p:nvPr/>
        </p:nvSpPr>
        <p:spPr bwMode="auto">
          <a:xfrm>
            <a:off x="6766560" y="3520440"/>
            <a:ext cx="4892039" cy="822960"/>
          </a:xfrm>
          <a:prstGeom prst="roundRect">
            <a:avLst>
              <a:gd name="adj" fmla="val 100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479215228" name="Shape 14"/>
          <p:cNvSpPr/>
          <p:nvPr/>
        </p:nvSpPr>
        <p:spPr bwMode="auto">
          <a:xfrm>
            <a:off x="6967728" y="3703320"/>
            <a:ext cx="457200" cy="457200"/>
          </a:xfrm>
          <a:prstGeom prst="ellipse">
            <a:avLst/>
          </a:prstGeom>
          <a:solidFill>
            <a:srgbClr val="2E8B57"/>
          </a:solidFill>
          <a:ln/>
        </p:spPr>
      </p:sp>
      <p:pic>
        <p:nvPicPr>
          <p:cNvPr id="647713215" name="Image 2" descr="preencoded.png"/>
          <p:cNvPicPr>
            <a:picLocks noChangeAspect="1"/>
          </p:cNvPicPr>
          <p:nvPr/>
        </p:nvPicPr>
        <p:blipFill rotWithShape="1">
          <a:blip r:embed="rId5"/>
          <a:stretch/>
        </p:blipFill>
        <p:spPr bwMode="auto">
          <a:xfrm>
            <a:off x="7082028" y="3817620"/>
            <a:ext cx="228600" cy="228600"/>
          </a:xfrm>
          <a:prstGeom prst="rect">
            <a:avLst/>
          </a:prstGeom>
        </p:spPr>
      </p:pic>
      <p:sp>
        <p:nvSpPr>
          <p:cNvPr id="1892569581" name="Text 15"/>
          <p:cNvSpPr/>
          <p:nvPr/>
        </p:nvSpPr>
        <p:spPr bwMode="auto">
          <a:xfrm>
            <a:off x="7589520" y="3630168"/>
            <a:ext cx="3931920" cy="310896"/>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anonym per Default</a:t>
            </a:r>
            <a:endParaRPr lang="en-US" sz="1350"/>
          </a:p>
        </p:txBody>
      </p:sp>
      <p:sp>
        <p:nvSpPr>
          <p:cNvPr id="2102806910" name="Text 16"/>
          <p:cNvSpPr/>
          <p:nvPr/>
        </p:nvSpPr>
        <p:spPr bwMode="auto">
          <a:xfrm>
            <a:off x="7589520" y="3922776"/>
            <a:ext cx="3931920" cy="384048"/>
          </a:xfrm>
          <a:prstGeom prst="rect">
            <a:avLst/>
          </a:prstGeom>
          <a:noFill/>
          <a:ln/>
        </p:spPr>
        <p:txBody>
          <a:bodyPr wrap="square" lIns="0" tIns="0" rIns="0" bIns="0" rtlCol="0" anchor="t"/>
          <a:lstStyle/>
          <a:p>
            <a:pPr marL="0" indent="0">
              <a:lnSpc>
                <a:spcPct val="100000"/>
              </a:lnSpc>
              <a:buNone/>
              <a:defRPr/>
            </a:pPr>
            <a:r>
              <a:rPr lang="en-US" sz="1100">
                <a:solidFill>
                  <a:srgbClr val="5A6B82"/>
                </a:solidFill>
                <a:latin typeface="Calibri"/>
                <a:ea typeface="Calibri"/>
                <a:cs typeface="Calibri"/>
              </a:rPr>
              <a:t>is_anonymous = true → Datensparsamkeit ohne aktives Zutun.</a:t>
            </a:r>
            <a:endParaRPr lang="en-US" sz="1100"/>
          </a:p>
        </p:txBody>
      </p:sp>
      <p:sp>
        <p:nvSpPr>
          <p:cNvPr id="924609237" name="Shape 17"/>
          <p:cNvSpPr/>
          <p:nvPr/>
        </p:nvSpPr>
        <p:spPr bwMode="auto">
          <a:xfrm>
            <a:off x="6766560" y="4434840"/>
            <a:ext cx="4892039" cy="822960"/>
          </a:xfrm>
          <a:prstGeom prst="roundRect">
            <a:avLst>
              <a:gd name="adj" fmla="val 100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73822046" name="Shape 18"/>
          <p:cNvSpPr/>
          <p:nvPr/>
        </p:nvSpPr>
        <p:spPr bwMode="auto">
          <a:xfrm>
            <a:off x="6967728" y="4617720"/>
            <a:ext cx="457200" cy="457200"/>
          </a:xfrm>
          <a:prstGeom prst="ellipse">
            <a:avLst/>
          </a:prstGeom>
          <a:solidFill>
            <a:srgbClr val="B9770A"/>
          </a:solidFill>
          <a:ln/>
        </p:spPr>
      </p:sp>
      <p:pic>
        <p:nvPicPr>
          <p:cNvPr id="1640920871" name="Image 3" descr="preencoded.png"/>
          <p:cNvPicPr>
            <a:picLocks noChangeAspect="1"/>
          </p:cNvPicPr>
          <p:nvPr/>
        </p:nvPicPr>
        <p:blipFill rotWithShape="1">
          <a:blip r:embed="rId6"/>
          <a:stretch/>
        </p:blipFill>
        <p:spPr bwMode="auto">
          <a:xfrm>
            <a:off x="7082028" y="4732020"/>
            <a:ext cx="228600" cy="228600"/>
          </a:xfrm>
          <a:prstGeom prst="rect">
            <a:avLst/>
          </a:prstGeom>
        </p:spPr>
      </p:pic>
      <p:sp>
        <p:nvSpPr>
          <p:cNvPr id="1034607671" name="Text 19"/>
          <p:cNvSpPr/>
          <p:nvPr/>
        </p:nvSpPr>
        <p:spPr bwMode="auto">
          <a:xfrm>
            <a:off x="7589520" y="4544568"/>
            <a:ext cx="3931920" cy="310896"/>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check-Constraint</a:t>
            </a:r>
            <a:endParaRPr lang="en-US" sz="1350"/>
          </a:p>
        </p:txBody>
      </p:sp>
      <p:sp>
        <p:nvSpPr>
          <p:cNvPr id="2077830652" name="Text 20"/>
          <p:cNvSpPr/>
          <p:nvPr/>
        </p:nvSpPr>
        <p:spPr bwMode="auto">
          <a:xfrm>
            <a:off x="7589520" y="4837176"/>
            <a:ext cx="3931920" cy="384048"/>
          </a:xfrm>
          <a:prstGeom prst="rect">
            <a:avLst/>
          </a:prstGeom>
          <a:noFill/>
          <a:ln/>
        </p:spPr>
        <p:txBody>
          <a:bodyPr wrap="square" lIns="0" tIns="0" rIns="0" bIns="0" rtlCol="0" anchor="t"/>
          <a:lstStyle/>
          <a:p>
            <a:pPr marL="0" indent="0">
              <a:lnSpc>
                <a:spcPct val="100000"/>
              </a:lnSpc>
              <a:buNone/>
              <a:defRPr/>
            </a:pPr>
            <a:r>
              <a:rPr lang="en-US" sz="1100">
                <a:solidFill>
                  <a:srgbClr val="5A6B82"/>
                </a:solidFill>
                <a:latin typeface="Calibri"/>
                <a:ea typeface="Calibri"/>
                <a:cs typeface="Calibri"/>
              </a:rPr>
              <a:t>Nur 3 gültige Status — ein ungültiger ist technisch unmöglich.</a:t>
            </a:r>
            <a:endParaRPr lang="en-US" sz="1100"/>
          </a:p>
        </p:txBody>
      </p:sp>
      <p:sp>
        <p:nvSpPr>
          <p:cNvPr id="1505018493" name="Shape 21"/>
          <p:cNvSpPr/>
          <p:nvPr/>
        </p:nvSpPr>
        <p:spPr bwMode="auto">
          <a:xfrm>
            <a:off x="6766560" y="5349240"/>
            <a:ext cx="4892039" cy="822960"/>
          </a:xfrm>
          <a:prstGeom prst="roundRect">
            <a:avLst>
              <a:gd name="adj" fmla="val 100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895395568" name="Shape 22"/>
          <p:cNvSpPr/>
          <p:nvPr/>
        </p:nvSpPr>
        <p:spPr bwMode="auto">
          <a:xfrm>
            <a:off x="6967728" y="5532120"/>
            <a:ext cx="457200" cy="457200"/>
          </a:xfrm>
          <a:prstGeom prst="ellipse">
            <a:avLst/>
          </a:prstGeom>
          <a:solidFill>
            <a:srgbClr val="5A6B82"/>
          </a:solidFill>
          <a:ln/>
        </p:spPr>
      </p:sp>
      <p:pic>
        <p:nvPicPr>
          <p:cNvPr id="584226137" name="Image 4" descr="preencoded.png"/>
          <p:cNvPicPr>
            <a:picLocks noChangeAspect="1"/>
          </p:cNvPicPr>
          <p:nvPr/>
        </p:nvPicPr>
        <p:blipFill rotWithShape="1">
          <a:blip r:embed="rId7"/>
          <a:stretch/>
        </p:blipFill>
        <p:spPr bwMode="auto">
          <a:xfrm>
            <a:off x="7082028" y="5646420"/>
            <a:ext cx="228600" cy="228600"/>
          </a:xfrm>
          <a:prstGeom prst="rect">
            <a:avLst/>
          </a:prstGeom>
        </p:spPr>
      </p:pic>
      <p:sp>
        <p:nvSpPr>
          <p:cNvPr id="1931001600" name="Text 23"/>
          <p:cNvSpPr/>
          <p:nvPr/>
        </p:nvSpPr>
        <p:spPr bwMode="auto">
          <a:xfrm>
            <a:off x="7589520" y="5458968"/>
            <a:ext cx="3931920" cy="310896"/>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keine IP / Geräte-ID</a:t>
            </a:r>
            <a:endParaRPr lang="en-US" sz="1350"/>
          </a:p>
        </p:txBody>
      </p:sp>
      <p:sp>
        <p:nvSpPr>
          <p:cNvPr id="1555762037" name="Text 24"/>
          <p:cNvSpPr/>
          <p:nvPr/>
        </p:nvSpPr>
        <p:spPr bwMode="auto">
          <a:xfrm>
            <a:off x="7589520" y="5751576"/>
            <a:ext cx="3931920" cy="384048"/>
          </a:xfrm>
          <a:prstGeom prst="rect">
            <a:avLst/>
          </a:prstGeom>
          <a:noFill/>
          <a:ln/>
        </p:spPr>
        <p:txBody>
          <a:bodyPr wrap="square" lIns="0" tIns="0" rIns="0" bIns="0" rtlCol="0" anchor="t"/>
          <a:lstStyle/>
          <a:p>
            <a:pPr marL="0" indent="0">
              <a:lnSpc>
                <a:spcPct val="100000"/>
              </a:lnSpc>
              <a:buNone/>
              <a:defRPr/>
            </a:pPr>
            <a:r>
              <a:rPr lang="en-US" sz="1100">
                <a:solidFill>
                  <a:srgbClr val="5A6B82"/>
                </a:solidFill>
                <a:latin typeface="Calibri"/>
                <a:ea typeface="Calibri"/>
                <a:cs typeface="Calibri"/>
              </a:rPr>
              <a:t>Bewusst weggelassen → Datenminimierung.</a:t>
            </a:r>
            <a:endParaRPr lang="en-US" sz="1100"/>
          </a:p>
        </p:txBody>
      </p:sp>
      <p:sp>
        <p:nvSpPr>
          <p:cNvPr id="183585281" name="Text 25"/>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351625900" name="Text 26"/>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5F8FC"/>
        </a:solidFill>
      </p:bgPr>
    </p:bg>
    <p:spTree>
      <p:nvGrpSpPr>
        <p:cNvPr id="1" name=""/>
        <p:cNvGrpSpPr/>
        <p:nvPr/>
      </p:nvGrpSpPr>
      <p:grpSpPr bwMode="auto">
        <a:xfrm>
          <a:off x="0" y="0"/>
          <a:ext cx="0" cy="0"/>
          <a:chOff x="0" y="0"/>
          <a:chExt cx="0" cy="0"/>
        </a:xfrm>
      </p:grpSpPr>
      <p:sp>
        <p:nvSpPr>
          <p:cNvPr id="1427329949"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3 · SICHERHEIT IN DER DB</a:t>
            </a:r>
            <a:endParaRPr lang="en-US" sz="1250"/>
          </a:p>
        </p:txBody>
      </p:sp>
      <p:sp>
        <p:nvSpPr>
          <p:cNvPr id="385928836"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Row-Level-Security — die DB schützt sich selbst</a:t>
            </a:r>
            <a:endParaRPr lang="en-US" sz="3300"/>
          </a:p>
        </p:txBody>
      </p:sp>
      <p:sp>
        <p:nvSpPr>
          <p:cNvPr id="1032823701" name="Text 2"/>
          <p:cNvSpPr/>
          <p:nvPr/>
        </p:nvSpPr>
        <p:spPr bwMode="auto">
          <a:xfrm>
            <a:off x="566928" y="1572768"/>
            <a:ext cx="11064240" cy="548640"/>
          </a:xfrm>
          <a:prstGeom prst="rect">
            <a:avLst/>
          </a:prstGeom>
          <a:noFill/>
          <a:ln/>
        </p:spPr>
        <p:txBody>
          <a:bodyPr wrap="square" lIns="0" tIns="0" rIns="0" bIns="0" rtlCol="0" anchor="ctr"/>
          <a:lstStyle/>
          <a:p>
            <a:pPr marL="0" indent="0">
              <a:lnSpc>
                <a:spcPct val="105000"/>
              </a:lnSpc>
              <a:buNone/>
              <a:defRPr/>
            </a:pPr>
            <a:r>
              <a:rPr lang="en-US" sz="1450">
                <a:solidFill>
                  <a:srgbClr val="13233B"/>
                </a:solidFill>
                <a:latin typeface="Calibri"/>
                <a:ea typeface="Calibri"/>
                <a:cs typeface="Calibri"/>
              </a:rPr>
              <a:t>RLS ist auf beiden Tabellen aktiv: Die Datenbank selbst entscheidet bei jeder Abfrage, welche Zeilen jemand sehen oder ändern darf — nicht erst die Anwendung.</a:t>
            </a:r>
            <a:endParaRPr lang="en-US" sz="1450"/>
          </a:p>
        </p:txBody>
      </p:sp>
      <p:sp>
        <p:nvSpPr>
          <p:cNvPr id="421808602" name="Shape 3"/>
          <p:cNvSpPr/>
          <p:nvPr/>
        </p:nvSpPr>
        <p:spPr bwMode="auto">
          <a:xfrm>
            <a:off x="566928" y="2286000"/>
            <a:ext cx="5989320" cy="3703320"/>
          </a:xfrm>
          <a:prstGeom prst="roundRect">
            <a:avLst>
              <a:gd name="adj" fmla="val 2469"/>
            </a:avLst>
          </a:prstGeom>
          <a:solidFill>
            <a:srgbClr val="0C1F3D"/>
          </a:solidFill>
          <a:ln/>
          <a:effectLst>
            <a:outerShdw blurRad="114300" dist="38100" dir="5400000" sx="100000" sy="100000" kx="0" ky="0" algn="bl" rotWithShape="0">
              <a:srgbClr val="1B2A44">
                <a:alpha val="16000"/>
              </a:srgbClr>
            </a:outerShdw>
          </a:effectLst>
        </p:spPr>
      </p:sp>
      <p:sp>
        <p:nvSpPr>
          <p:cNvPr id="1792352313" name="Text 4"/>
          <p:cNvSpPr/>
          <p:nvPr/>
        </p:nvSpPr>
        <p:spPr bwMode="auto">
          <a:xfrm>
            <a:off x="841248" y="2432303"/>
            <a:ext cx="5440680" cy="274320"/>
          </a:xfrm>
          <a:prstGeom prst="rect">
            <a:avLst/>
          </a:prstGeom>
          <a:noFill/>
          <a:ln/>
        </p:spPr>
        <p:txBody>
          <a:bodyPr wrap="square" lIns="0" tIns="0" rIns="0" bIns="0" rtlCol="0" anchor="ctr"/>
          <a:lstStyle/>
          <a:p>
            <a:pPr marL="0" indent="0">
              <a:buNone/>
              <a:defRPr/>
            </a:pPr>
            <a:r>
              <a:rPr lang="en-US" sz="1100">
                <a:solidFill>
                  <a:srgbClr val="9FB4D6"/>
                </a:solidFill>
                <a:latin typeface="Consolas"/>
                <a:ea typeface="Consolas"/>
                <a:cs typeface="Consolas"/>
              </a:rPr>
              <a:t>Row-Level-Security Policies</a:t>
            </a:r>
            <a:endParaRPr lang="en-US" sz="1100"/>
          </a:p>
        </p:txBody>
      </p:sp>
      <p:sp>
        <p:nvSpPr>
          <p:cNvPr id="2083090999" name="Text 5"/>
          <p:cNvSpPr/>
          <p:nvPr/>
        </p:nvSpPr>
        <p:spPr bwMode="auto">
          <a:xfrm>
            <a:off x="841248" y="2779776"/>
            <a:ext cx="5486400" cy="3063240"/>
          </a:xfrm>
          <a:prstGeom prst="rect">
            <a:avLst/>
          </a:prstGeom>
          <a:noFill/>
          <a:ln/>
        </p:spPr>
        <p:txBody>
          <a:bodyPr wrap="square" lIns="0" tIns="0" rIns="0" bIns="0" rtlCol="0" anchor="t"/>
          <a:lstStyle/>
          <a:p>
            <a:pPr marL="0" indent="0">
              <a:lnSpc>
                <a:spcPct val="112000"/>
              </a:lnSpc>
              <a:buNone/>
              <a:defRPr/>
            </a:pPr>
            <a:r>
              <a:rPr lang="en-US" sz="1050" i="1">
                <a:solidFill>
                  <a:srgbClr val="7D94B5"/>
                </a:solidFill>
                <a:latin typeface="Consolas"/>
                <a:ea typeface="Consolas"/>
                <a:cs typeface="Consolas"/>
              </a:rPr>
              <a:t>// 1) Kiosk (anon) darf NUR anlegen</a:t>
            </a:r>
            <a:endParaRPr lang="en-US" sz="1050"/>
          </a:p>
          <a:p>
            <a:pPr marL="0" indent="0">
              <a:lnSpc>
                <a:spcPct val="112000"/>
              </a:lnSpc>
              <a:buNone/>
              <a:defRPr/>
            </a:pPr>
            <a:r>
              <a:rPr lang="en-US" sz="1050">
                <a:solidFill>
                  <a:srgbClr val="D8E4F5"/>
                </a:solidFill>
                <a:latin typeface="Consolas"/>
                <a:ea typeface="Consolas"/>
                <a:cs typeface="Consolas"/>
              </a:rPr>
              <a:t>create policy "anon anlegen"</a:t>
            </a:r>
            <a:endParaRPr lang="en-US" sz="1050"/>
          </a:p>
          <a:p>
            <a:pPr marL="0" indent="0">
              <a:lnSpc>
                <a:spcPct val="112000"/>
              </a:lnSpc>
              <a:buNone/>
              <a:defRPr/>
            </a:pPr>
            <a:r>
              <a:rPr lang="en-US" sz="1050">
                <a:solidFill>
                  <a:srgbClr val="D8E4F5"/>
                </a:solidFill>
                <a:latin typeface="Consolas"/>
                <a:ea typeface="Consolas"/>
                <a:cs typeface="Consolas"/>
              </a:rPr>
              <a:t>  on complaints for insert to anon</a:t>
            </a:r>
            <a:endParaRPr lang="en-US" sz="1050"/>
          </a:p>
          <a:p>
            <a:pPr marL="0" indent="0">
              <a:lnSpc>
                <a:spcPct val="112000"/>
              </a:lnSpc>
              <a:buNone/>
              <a:defRPr/>
            </a:pPr>
            <a:r>
              <a:rPr lang="en-US" sz="1050">
                <a:solidFill>
                  <a:srgbClr val="F6B25E"/>
                </a:solidFill>
                <a:latin typeface="Consolas"/>
                <a:ea typeface="Consolas"/>
                <a:cs typeface="Consolas"/>
              </a:rPr>
              <a:t>  with check (true);</a:t>
            </a:r>
            <a:endParaRPr lang="en-US" sz="1050"/>
          </a:p>
          <a:p>
            <a:pPr marL="0" indent="0">
              <a:lnSpc>
                <a:spcPct val="112000"/>
              </a:lnSpc>
              <a:buNone/>
              <a:defRPr/>
            </a:pPr>
            <a:r>
              <a:rPr lang="en-US" sz="1050">
                <a:solidFill>
                  <a:srgbClr val="D8E4F5"/>
                </a:solidFill>
                <a:latin typeface="Consolas"/>
                <a:ea typeface="Consolas"/>
                <a:cs typeface="Consolas"/>
              </a:rPr>
              <a:t> </a:t>
            </a:r>
            <a:endParaRPr lang="en-US" sz="1050"/>
          </a:p>
          <a:p>
            <a:pPr marL="0" indent="0">
              <a:lnSpc>
                <a:spcPct val="112000"/>
              </a:lnSpc>
              <a:buNone/>
              <a:defRPr/>
            </a:pPr>
            <a:r>
              <a:rPr lang="en-US" sz="1050" i="1">
                <a:solidFill>
                  <a:srgbClr val="7D94B5"/>
                </a:solidFill>
                <a:latin typeface="Consolas"/>
                <a:ea typeface="Consolas"/>
                <a:cs typeface="Consolas"/>
              </a:rPr>
              <a:t>// 2) Personal sieht nur EIGENE Einrichtung</a:t>
            </a:r>
            <a:endParaRPr lang="en-US" sz="1050"/>
          </a:p>
          <a:p>
            <a:pPr marL="0" indent="0">
              <a:lnSpc>
                <a:spcPct val="112000"/>
              </a:lnSpc>
              <a:buNone/>
              <a:defRPr/>
            </a:pPr>
            <a:r>
              <a:rPr lang="en-US" sz="1050">
                <a:solidFill>
                  <a:srgbClr val="D8E4F5"/>
                </a:solidFill>
                <a:latin typeface="Consolas"/>
                <a:ea typeface="Consolas"/>
                <a:cs typeface="Consolas"/>
              </a:rPr>
              <a:t>create policy "eigene einrichtung"</a:t>
            </a:r>
            <a:endParaRPr lang="en-US" sz="1050"/>
          </a:p>
          <a:p>
            <a:pPr marL="0" indent="0">
              <a:lnSpc>
                <a:spcPct val="112000"/>
              </a:lnSpc>
              <a:buNone/>
              <a:defRPr/>
            </a:pPr>
            <a:r>
              <a:rPr lang="en-US" sz="1050">
                <a:solidFill>
                  <a:srgbClr val="D8E4F5"/>
                </a:solidFill>
                <a:latin typeface="Consolas"/>
                <a:ea typeface="Consolas"/>
                <a:cs typeface="Consolas"/>
              </a:rPr>
              <a:t>  on complaints for select to authenticated</a:t>
            </a:r>
            <a:endParaRPr lang="en-US" sz="1050"/>
          </a:p>
          <a:p>
            <a:pPr marL="0" indent="0">
              <a:lnSpc>
                <a:spcPct val="112000"/>
              </a:lnSpc>
              <a:buNone/>
              <a:defRPr/>
            </a:pPr>
            <a:r>
              <a:rPr lang="en-US" sz="1050">
                <a:solidFill>
                  <a:srgbClr val="D8E4F5"/>
                </a:solidFill>
                <a:latin typeface="Consolas"/>
                <a:ea typeface="Consolas"/>
                <a:cs typeface="Consolas"/>
              </a:rPr>
              <a:t>  using (exists (select 1 from staff</a:t>
            </a:r>
            <a:endParaRPr lang="en-US" sz="1050"/>
          </a:p>
          <a:p>
            <a:pPr marL="0" indent="0">
              <a:lnSpc>
                <a:spcPct val="112000"/>
              </a:lnSpc>
              <a:buNone/>
              <a:defRPr/>
            </a:pPr>
            <a:r>
              <a:rPr lang="en-US" sz="1050">
                <a:solidFill>
                  <a:srgbClr val="D8E4F5"/>
                </a:solidFill>
                <a:latin typeface="Consolas"/>
                <a:ea typeface="Consolas"/>
                <a:cs typeface="Consolas"/>
              </a:rPr>
              <a:t>    where staff.user_id = auth.uid() and (</a:t>
            </a:r>
            <a:endParaRPr lang="en-US" sz="1050"/>
          </a:p>
          <a:p>
            <a:pPr marL="0" indent="0">
              <a:lnSpc>
                <a:spcPct val="112000"/>
              </a:lnSpc>
              <a:buNone/>
              <a:defRPr/>
            </a:pPr>
            <a:r>
              <a:rPr lang="en-US" sz="1050">
                <a:solidFill>
                  <a:srgbClr val="F6B25E"/>
                </a:solidFill>
                <a:latin typeface="Consolas"/>
                <a:ea typeface="Consolas"/>
                <a:cs typeface="Consolas"/>
              </a:rPr>
              <a:t>      staff.facility_slug is null          </a:t>
            </a:r>
            <a:r>
              <a:rPr lang="en-US" sz="1050" i="1">
                <a:solidFill>
                  <a:srgbClr val="7D94B5"/>
                </a:solidFill>
                <a:latin typeface="Consolas"/>
                <a:ea typeface="Consolas"/>
                <a:cs typeface="Consolas"/>
              </a:rPr>
              <a:t> // Leitung</a:t>
            </a:r>
            <a:endParaRPr lang="en-US" sz="1050"/>
          </a:p>
          <a:p>
            <a:pPr marL="0" indent="0">
              <a:lnSpc>
                <a:spcPct val="112000"/>
              </a:lnSpc>
              <a:buNone/>
              <a:defRPr/>
            </a:pPr>
            <a:r>
              <a:rPr lang="en-US" sz="1050">
                <a:solidFill>
                  <a:srgbClr val="F6B25E"/>
                </a:solidFill>
                <a:latin typeface="Consolas"/>
                <a:ea typeface="Consolas"/>
                <a:cs typeface="Consolas"/>
              </a:rPr>
              <a:t>   or staff.facility_slug =                </a:t>
            </a:r>
            <a:r>
              <a:rPr lang="en-US" sz="1050" i="1">
                <a:solidFill>
                  <a:srgbClr val="7D94B5"/>
                </a:solidFill>
                <a:latin typeface="Consolas"/>
                <a:ea typeface="Consolas"/>
                <a:cs typeface="Consolas"/>
              </a:rPr>
              <a:t> // Betreuer</a:t>
            </a:r>
            <a:endParaRPr lang="en-US" sz="1050"/>
          </a:p>
          <a:p>
            <a:pPr marL="0" indent="0">
              <a:lnSpc>
                <a:spcPct val="112000"/>
              </a:lnSpc>
              <a:buNone/>
              <a:defRPr/>
            </a:pPr>
            <a:r>
              <a:rPr lang="en-US" sz="1050">
                <a:solidFill>
                  <a:srgbClr val="D8E4F5"/>
                </a:solidFill>
                <a:latin typeface="Consolas"/>
                <a:ea typeface="Consolas"/>
                <a:cs typeface="Consolas"/>
              </a:rPr>
              <a:t>         complaints.facility_slug)));</a:t>
            </a:r>
            <a:endParaRPr lang="en-US" sz="1050"/>
          </a:p>
        </p:txBody>
      </p:sp>
      <p:sp>
        <p:nvSpPr>
          <p:cNvPr id="1400471890" name="Shape 6"/>
          <p:cNvSpPr/>
          <p:nvPr/>
        </p:nvSpPr>
        <p:spPr bwMode="auto">
          <a:xfrm>
            <a:off x="6766560" y="2286000"/>
            <a:ext cx="4892039" cy="1133856"/>
          </a:xfrm>
          <a:prstGeom prst="roundRect">
            <a:avLst>
              <a:gd name="adj" fmla="val 806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5953733" name="Shape 7"/>
          <p:cNvSpPr/>
          <p:nvPr/>
        </p:nvSpPr>
        <p:spPr bwMode="auto">
          <a:xfrm>
            <a:off x="7022592" y="2578608"/>
            <a:ext cx="548640" cy="548640"/>
          </a:xfrm>
          <a:prstGeom prst="ellipse">
            <a:avLst/>
          </a:prstGeom>
          <a:solidFill>
            <a:srgbClr val="2563C9"/>
          </a:solidFill>
          <a:ln/>
        </p:spPr>
      </p:sp>
      <p:pic>
        <p:nvPicPr>
          <p:cNvPr id="2073698832" name="Image 0" descr="preencoded.png"/>
          <p:cNvPicPr>
            <a:picLocks noChangeAspect="1"/>
          </p:cNvPicPr>
          <p:nvPr/>
        </p:nvPicPr>
        <p:blipFill rotWithShape="1">
          <a:blip r:embed="rId3"/>
          <a:stretch/>
        </p:blipFill>
        <p:spPr bwMode="auto">
          <a:xfrm>
            <a:off x="7159752" y="2715768"/>
            <a:ext cx="274320" cy="274320"/>
          </a:xfrm>
          <a:prstGeom prst="rect">
            <a:avLst/>
          </a:prstGeom>
        </p:spPr>
      </p:pic>
      <p:sp>
        <p:nvSpPr>
          <p:cNvPr id="1266172644" name="Text 8"/>
          <p:cNvSpPr/>
          <p:nvPr/>
        </p:nvSpPr>
        <p:spPr bwMode="auto">
          <a:xfrm>
            <a:off x="7726680" y="2468880"/>
            <a:ext cx="374904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Tablet kann nur einreichen</a:t>
            </a:r>
            <a:endParaRPr lang="en-US" sz="1450"/>
          </a:p>
        </p:txBody>
      </p:sp>
      <p:sp>
        <p:nvSpPr>
          <p:cNvPr id="1982358777" name="Text 9"/>
          <p:cNvSpPr/>
          <p:nvPr/>
        </p:nvSpPr>
        <p:spPr bwMode="auto">
          <a:xfrm>
            <a:off x="7726680" y="2834640"/>
            <a:ext cx="37490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Selbst wenn jemand den öffentlichen Schlüssel abgreift — auslesen geht damit nicht.</a:t>
            </a:r>
            <a:endParaRPr lang="en-US" sz="1200"/>
          </a:p>
        </p:txBody>
      </p:sp>
      <p:sp>
        <p:nvSpPr>
          <p:cNvPr id="578438576" name="Shape 10"/>
          <p:cNvSpPr/>
          <p:nvPr/>
        </p:nvSpPr>
        <p:spPr bwMode="auto">
          <a:xfrm>
            <a:off x="6766560" y="3557016"/>
            <a:ext cx="4892039" cy="1133856"/>
          </a:xfrm>
          <a:prstGeom prst="roundRect">
            <a:avLst>
              <a:gd name="adj" fmla="val 806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89782278" name="Shape 11"/>
          <p:cNvSpPr/>
          <p:nvPr/>
        </p:nvSpPr>
        <p:spPr bwMode="auto">
          <a:xfrm>
            <a:off x="7022592" y="3849624"/>
            <a:ext cx="548640" cy="548640"/>
          </a:xfrm>
          <a:prstGeom prst="ellipse">
            <a:avLst/>
          </a:prstGeom>
          <a:solidFill>
            <a:srgbClr val="B9770A"/>
          </a:solidFill>
          <a:ln/>
        </p:spPr>
      </p:sp>
      <p:pic>
        <p:nvPicPr>
          <p:cNvPr id="700980603" name="Image 1" descr="preencoded.png"/>
          <p:cNvPicPr>
            <a:picLocks noChangeAspect="1"/>
          </p:cNvPicPr>
          <p:nvPr/>
        </p:nvPicPr>
        <p:blipFill rotWithShape="1">
          <a:blip r:embed="rId4"/>
          <a:stretch/>
        </p:blipFill>
        <p:spPr bwMode="auto">
          <a:xfrm>
            <a:off x="7159752" y="3986784"/>
            <a:ext cx="274320" cy="274320"/>
          </a:xfrm>
          <a:prstGeom prst="rect">
            <a:avLst/>
          </a:prstGeom>
        </p:spPr>
      </p:pic>
      <p:sp>
        <p:nvSpPr>
          <p:cNvPr id="1287075099" name="Text 12"/>
          <p:cNvSpPr/>
          <p:nvPr/>
        </p:nvSpPr>
        <p:spPr bwMode="auto">
          <a:xfrm>
            <a:off x="7726680" y="3739896"/>
            <a:ext cx="374904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Personal nur eigene Einrichtung</a:t>
            </a:r>
            <a:endParaRPr lang="en-US" sz="1450"/>
          </a:p>
        </p:txBody>
      </p:sp>
      <p:sp>
        <p:nvSpPr>
          <p:cNvPr id="1888283188" name="Text 13"/>
          <p:cNvSpPr/>
          <p:nvPr/>
        </p:nvSpPr>
        <p:spPr bwMode="auto">
          <a:xfrm>
            <a:off x="7726680" y="4105656"/>
            <a:ext cx="37490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Die Leitung (Slug = null) sieht alles, Betreuer:innen nur ihre eigene.</a:t>
            </a:r>
            <a:endParaRPr lang="en-US" sz="1200"/>
          </a:p>
        </p:txBody>
      </p:sp>
      <p:sp>
        <p:nvSpPr>
          <p:cNvPr id="593233691" name="Shape 14"/>
          <p:cNvSpPr/>
          <p:nvPr/>
        </p:nvSpPr>
        <p:spPr bwMode="auto">
          <a:xfrm>
            <a:off x="6766560" y="4828032"/>
            <a:ext cx="4892039" cy="1133856"/>
          </a:xfrm>
          <a:prstGeom prst="roundRect">
            <a:avLst>
              <a:gd name="adj" fmla="val 806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721212895" name="Shape 15"/>
          <p:cNvSpPr/>
          <p:nvPr/>
        </p:nvSpPr>
        <p:spPr bwMode="auto">
          <a:xfrm>
            <a:off x="7022592" y="5120640"/>
            <a:ext cx="548640" cy="548640"/>
          </a:xfrm>
          <a:prstGeom prst="ellipse">
            <a:avLst/>
          </a:prstGeom>
          <a:solidFill>
            <a:srgbClr val="D22F3A"/>
          </a:solidFill>
          <a:ln/>
        </p:spPr>
      </p:sp>
      <p:pic>
        <p:nvPicPr>
          <p:cNvPr id="1248908863" name="Image 2" descr="preencoded.png"/>
          <p:cNvPicPr>
            <a:picLocks noChangeAspect="1"/>
          </p:cNvPicPr>
          <p:nvPr/>
        </p:nvPicPr>
        <p:blipFill rotWithShape="1">
          <a:blip r:embed="rId5"/>
          <a:stretch/>
        </p:blipFill>
        <p:spPr bwMode="auto">
          <a:xfrm>
            <a:off x="7159752" y="5257800"/>
            <a:ext cx="274320" cy="274320"/>
          </a:xfrm>
          <a:prstGeom prst="rect">
            <a:avLst/>
          </a:prstGeom>
        </p:spPr>
      </p:pic>
      <p:sp>
        <p:nvSpPr>
          <p:cNvPr id="1605012681" name="Text 16"/>
          <p:cNvSpPr/>
          <p:nvPr/>
        </p:nvSpPr>
        <p:spPr bwMode="auto">
          <a:xfrm>
            <a:off x="7726680" y="5010912"/>
            <a:ext cx="374904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Keine Delete-Policy</a:t>
            </a:r>
            <a:endParaRPr lang="en-US" sz="1450"/>
          </a:p>
        </p:txBody>
      </p:sp>
      <p:sp>
        <p:nvSpPr>
          <p:cNvPr id="989495098" name="Text 17"/>
          <p:cNvSpPr/>
          <p:nvPr/>
        </p:nvSpPr>
        <p:spPr bwMode="auto">
          <a:xfrm>
            <a:off x="7726680" y="5376672"/>
            <a:ext cx="37490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Über die App kann niemand Beschwerden löschen — auch nicht das Personal.</a:t>
            </a:r>
            <a:endParaRPr lang="en-US" sz="1200"/>
          </a:p>
        </p:txBody>
      </p:sp>
      <p:sp>
        <p:nvSpPr>
          <p:cNvPr id="1746343721" name="Text 18"/>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827393618" name="Text 19"/>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5F8FC"/>
        </a:solidFill>
      </p:bgPr>
    </p:bg>
    <p:spTree>
      <p:nvGrpSpPr>
        <p:cNvPr id="1" name=""/>
        <p:cNvGrpSpPr/>
        <p:nvPr/>
      </p:nvGrpSpPr>
      <p:grpSpPr bwMode="auto">
        <a:xfrm>
          <a:off x="0" y="0"/>
          <a:ext cx="0" cy="0"/>
          <a:chOff x="0" y="0"/>
          <a:chExt cx="0" cy="0"/>
        </a:xfrm>
      </p:grpSpPr>
      <p:sp>
        <p:nvSpPr>
          <p:cNvPr id="504036093"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CODE</a:t>
            </a:r>
            <a:endParaRPr lang="en-US" sz="1250"/>
          </a:p>
        </p:txBody>
      </p:sp>
      <p:sp>
        <p:nvSpPr>
          <p:cNvPr id="405877257"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Einrichtung aus der Kiosk-URL — ohne Cookies</a:t>
            </a:r>
            <a:endParaRPr lang="en-US" sz="3300"/>
          </a:p>
        </p:txBody>
      </p:sp>
      <p:sp>
        <p:nvSpPr>
          <p:cNvPr id="82369998" name="Shape 2"/>
          <p:cNvSpPr/>
          <p:nvPr/>
        </p:nvSpPr>
        <p:spPr bwMode="auto">
          <a:xfrm>
            <a:off x="566928" y="1627632"/>
            <a:ext cx="6537960" cy="4480560"/>
          </a:xfrm>
          <a:prstGeom prst="roundRect">
            <a:avLst>
              <a:gd name="adj" fmla="val 2041"/>
            </a:avLst>
          </a:prstGeom>
          <a:solidFill>
            <a:srgbClr val="0C1F3D"/>
          </a:solidFill>
          <a:ln/>
          <a:effectLst>
            <a:outerShdw blurRad="114300" dist="38100" dir="5400000" sx="100000" sy="100000" kx="0" ky="0" algn="bl" rotWithShape="0">
              <a:srgbClr val="1B2A44">
                <a:alpha val="16000"/>
              </a:srgbClr>
            </a:outerShdw>
          </a:effectLst>
        </p:spPr>
      </p:sp>
      <p:sp>
        <p:nvSpPr>
          <p:cNvPr id="1093392656" name="Shape 3"/>
          <p:cNvSpPr/>
          <p:nvPr/>
        </p:nvSpPr>
        <p:spPr bwMode="auto">
          <a:xfrm>
            <a:off x="822960" y="1865376"/>
            <a:ext cx="128016" cy="128016"/>
          </a:xfrm>
          <a:prstGeom prst="ellipse">
            <a:avLst/>
          </a:prstGeom>
          <a:solidFill>
            <a:srgbClr val="FF5F56"/>
          </a:solidFill>
          <a:ln/>
        </p:spPr>
      </p:sp>
      <p:sp>
        <p:nvSpPr>
          <p:cNvPr id="1491767161" name="Shape 4"/>
          <p:cNvSpPr/>
          <p:nvPr/>
        </p:nvSpPr>
        <p:spPr bwMode="auto">
          <a:xfrm>
            <a:off x="1060704" y="1865376"/>
            <a:ext cx="128016" cy="128016"/>
          </a:xfrm>
          <a:prstGeom prst="ellipse">
            <a:avLst/>
          </a:prstGeom>
          <a:solidFill>
            <a:srgbClr val="FFBD2E"/>
          </a:solidFill>
          <a:ln/>
        </p:spPr>
      </p:sp>
      <p:sp>
        <p:nvSpPr>
          <p:cNvPr id="1953579715" name="Shape 5"/>
          <p:cNvSpPr/>
          <p:nvPr/>
        </p:nvSpPr>
        <p:spPr bwMode="auto">
          <a:xfrm>
            <a:off x="1298448" y="1865376"/>
            <a:ext cx="128016" cy="128016"/>
          </a:xfrm>
          <a:prstGeom prst="ellipse">
            <a:avLst/>
          </a:prstGeom>
          <a:solidFill>
            <a:srgbClr val="27C93F"/>
          </a:solidFill>
          <a:ln/>
        </p:spPr>
      </p:sp>
      <p:sp>
        <p:nvSpPr>
          <p:cNvPr id="1119459886" name="Text 6"/>
          <p:cNvSpPr/>
          <p:nvPr/>
        </p:nvSpPr>
        <p:spPr bwMode="auto">
          <a:xfrm>
            <a:off x="1664208" y="1773936"/>
            <a:ext cx="5257800" cy="310896"/>
          </a:xfrm>
          <a:prstGeom prst="rect">
            <a:avLst/>
          </a:prstGeom>
          <a:noFill/>
          <a:ln/>
        </p:spPr>
        <p:txBody>
          <a:bodyPr wrap="square" lIns="0" tIns="0" rIns="0" bIns="0" rtlCol="0" anchor="ctr"/>
          <a:lstStyle/>
          <a:p>
            <a:pPr marL="0" indent="0" algn="r">
              <a:buNone/>
              <a:defRPr/>
            </a:pPr>
            <a:r>
              <a:rPr lang="en-US" sz="1100">
                <a:solidFill>
                  <a:srgbClr val="9FB4D6"/>
                </a:solidFill>
                <a:latin typeface="Consolas"/>
                <a:ea typeface="Consolas"/>
                <a:cs typeface="Consolas"/>
              </a:rPr>
              <a:t>frontend/src/lib/facility.ts</a:t>
            </a:r>
            <a:endParaRPr lang="en-US" sz="1100"/>
          </a:p>
        </p:txBody>
      </p:sp>
      <p:sp>
        <p:nvSpPr>
          <p:cNvPr id="738747445" name="Text 7"/>
          <p:cNvSpPr/>
          <p:nvPr/>
        </p:nvSpPr>
        <p:spPr bwMode="auto">
          <a:xfrm>
            <a:off x="841248" y="2231136"/>
            <a:ext cx="5989320" cy="3657600"/>
          </a:xfrm>
          <a:prstGeom prst="rect">
            <a:avLst/>
          </a:prstGeom>
          <a:noFill/>
          <a:ln/>
        </p:spPr>
        <p:txBody>
          <a:bodyPr wrap="square" lIns="0" tIns="0" rIns="0" bIns="0" rtlCol="0" anchor="t"/>
          <a:lstStyle/>
          <a:p>
            <a:pPr marL="0" indent="0">
              <a:lnSpc>
                <a:spcPct val="112000"/>
              </a:lnSpc>
              <a:buNone/>
              <a:defRPr/>
            </a:pPr>
            <a:r>
              <a:rPr lang="en-US" sz="1100">
                <a:solidFill>
                  <a:srgbClr val="D8E4F5"/>
                </a:solidFill>
                <a:latin typeface="Consolas"/>
                <a:ea typeface="Consolas"/>
                <a:cs typeface="Consolas"/>
              </a:rPr>
              <a:t>export function getFacilitySlug(</a:t>
            </a:r>
            <a:endParaRPr lang="en-US" sz="1100"/>
          </a:p>
          <a:p>
            <a:pPr marL="0" indent="0">
              <a:lnSpc>
                <a:spcPct val="112000"/>
              </a:lnSpc>
              <a:buNone/>
              <a:defRPr/>
            </a:pPr>
            <a:r>
              <a:rPr lang="en-US" sz="1100">
                <a:solidFill>
                  <a:srgbClr val="D8E4F5"/>
                </a:solidFill>
                <a:latin typeface="Consolas"/>
                <a:ea typeface="Consolas"/>
                <a:cs typeface="Consolas"/>
              </a:rPr>
              <a:t>  pathname = window.location.pathname</a:t>
            </a:r>
            <a:endParaRPr lang="en-US" sz="1100"/>
          </a:p>
          <a:p>
            <a:pPr marL="0" indent="0">
              <a:lnSpc>
                <a:spcPct val="112000"/>
              </a:lnSpc>
              <a:buNone/>
              <a:defRPr/>
            </a:pPr>
            <a:r>
              <a:rPr lang="en-US" sz="1100">
                <a:solidFill>
                  <a:srgbClr val="D8E4F5"/>
                </a:solidFill>
                <a:latin typeface="Consolas"/>
                <a:ea typeface="Consolas"/>
                <a:cs typeface="Consolas"/>
              </a:rPr>
              <a:t>): string | null {</a:t>
            </a:r>
            <a:endParaRPr lang="en-US" sz="1100"/>
          </a:p>
          <a:p>
            <a:pPr marL="0" indent="0">
              <a:lnSpc>
                <a:spcPct val="112000"/>
              </a:lnSpc>
              <a:buNone/>
              <a:defRPr/>
            </a:pPr>
            <a:r>
              <a:rPr lang="en-US" sz="1100">
                <a:solidFill>
                  <a:srgbClr val="F6B25E"/>
                </a:solidFill>
                <a:latin typeface="Consolas"/>
                <a:ea typeface="Consolas"/>
                <a:cs typeface="Consolas"/>
              </a:rPr>
              <a:t>  const segment =</a:t>
            </a:r>
            <a:endParaRPr lang="en-US" sz="1100"/>
          </a:p>
          <a:p>
            <a:pPr marL="0" indent="0">
              <a:lnSpc>
                <a:spcPct val="112000"/>
              </a:lnSpc>
              <a:buNone/>
              <a:defRPr/>
            </a:pPr>
            <a:r>
              <a:rPr lang="en-US" sz="1100">
                <a:solidFill>
                  <a:srgbClr val="D8E4F5"/>
                </a:solidFill>
                <a:latin typeface="Consolas"/>
                <a:ea typeface="Consolas"/>
                <a:cs typeface="Consolas"/>
              </a:rPr>
              <a:t>    pathname.split('/').filter(Boolean)[0];</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  if (segment &amp;&amp; segment !== 'admin') {</a:t>
            </a:r>
            <a:endParaRPr lang="en-US" sz="1100"/>
          </a:p>
          <a:p>
            <a:pPr marL="0" indent="0">
              <a:lnSpc>
                <a:spcPct val="112000"/>
              </a:lnSpc>
              <a:buNone/>
              <a:defRPr/>
            </a:pPr>
            <a:r>
              <a:rPr lang="en-US" sz="1100">
                <a:solidFill>
                  <a:srgbClr val="D8E4F5"/>
                </a:solidFill>
                <a:latin typeface="Consolas"/>
                <a:ea typeface="Consolas"/>
                <a:cs typeface="Consolas"/>
              </a:rPr>
              <a:t>    localStorage.setItem(KEY, segment);</a:t>
            </a:r>
            <a:r>
              <a:rPr lang="en-US" sz="1100" i="1">
                <a:solidFill>
                  <a:srgbClr val="7D94B5"/>
                </a:solidFill>
                <a:latin typeface="Consolas"/>
                <a:ea typeface="Consolas"/>
                <a:cs typeface="Consolas"/>
              </a:rPr>
              <a:t> // Fallback</a:t>
            </a:r>
            <a:endParaRPr lang="en-US" sz="1100"/>
          </a:p>
          <a:p>
            <a:pPr marL="0" indent="0">
              <a:lnSpc>
                <a:spcPct val="112000"/>
              </a:lnSpc>
              <a:buNone/>
              <a:defRPr/>
            </a:pPr>
            <a:r>
              <a:rPr lang="en-US" sz="1100">
                <a:solidFill>
                  <a:srgbClr val="F6B25E"/>
                </a:solidFill>
                <a:latin typeface="Consolas"/>
                <a:ea typeface="Consolas"/>
                <a:cs typeface="Consolas"/>
              </a:rPr>
              <a:t>    return segment;</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  return localStorage.getItem(KEY);</a:t>
            </a:r>
            <a:endParaRPr lang="en-US" sz="1100"/>
          </a:p>
          <a:p>
            <a:pPr marL="0" indent="0">
              <a:lnSpc>
                <a:spcPct val="112000"/>
              </a:lnSpc>
              <a:buNone/>
              <a:defRPr/>
            </a:pPr>
            <a:r>
              <a:rPr lang="en-US" sz="1100">
                <a:solidFill>
                  <a:srgbClr val="D8E4F5"/>
                </a:solidFill>
                <a:latin typeface="Consolas"/>
                <a:ea typeface="Consolas"/>
                <a:cs typeface="Consolas"/>
              </a:rPr>
              <a:t>}</a:t>
            </a:r>
            <a:endParaRPr lang="en-US" sz="1100"/>
          </a:p>
        </p:txBody>
      </p:sp>
      <p:sp>
        <p:nvSpPr>
          <p:cNvPr id="44237535" name="Shape 8"/>
          <p:cNvSpPr/>
          <p:nvPr/>
        </p:nvSpPr>
        <p:spPr bwMode="auto">
          <a:xfrm>
            <a:off x="7452360" y="1783080"/>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21012905" name="Shape 9"/>
          <p:cNvSpPr/>
          <p:nvPr/>
        </p:nvSpPr>
        <p:spPr bwMode="auto">
          <a:xfrm>
            <a:off x="7671816" y="2020824"/>
            <a:ext cx="457200" cy="457200"/>
          </a:xfrm>
          <a:prstGeom prst="ellipse">
            <a:avLst/>
          </a:prstGeom>
          <a:solidFill>
            <a:srgbClr val="1B4F8F"/>
          </a:solidFill>
          <a:ln/>
        </p:spPr>
      </p:sp>
      <p:sp>
        <p:nvSpPr>
          <p:cNvPr id="1353836269" name="Text 10"/>
          <p:cNvSpPr/>
          <p:nvPr/>
        </p:nvSpPr>
        <p:spPr bwMode="auto">
          <a:xfrm>
            <a:off x="7671816" y="2020824"/>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1</a:t>
            </a:r>
            <a:endParaRPr lang="en-US" sz="1700"/>
          </a:p>
        </p:txBody>
      </p:sp>
      <p:sp>
        <p:nvSpPr>
          <p:cNvPr id="1800042854" name="Text 11"/>
          <p:cNvSpPr/>
          <p:nvPr/>
        </p:nvSpPr>
        <p:spPr bwMode="auto">
          <a:xfrm>
            <a:off x="8293607" y="1965960"/>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URL ist die Wahrheitsquelle</a:t>
            </a:r>
            <a:endParaRPr lang="en-US" sz="1450"/>
          </a:p>
        </p:txBody>
      </p:sp>
      <p:sp>
        <p:nvSpPr>
          <p:cNvPr id="99590695" name="Text 12"/>
          <p:cNvSpPr/>
          <p:nvPr/>
        </p:nvSpPr>
        <p:spPr bwMode="auto">
          <a:xfrm>
            <a:off x="8293607" y="2331720"/>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Jedes Tablet startet fest auf z. B. …/wohnform-03. Der erste Pfad-Abschnitt wird frisch bei jedem Laden gelesen.</a:t>
            </a:r>
            <a:endParaRPr lang="en-US" sz="1200"/>
          </a:p>
        </p:txBody>
      </p:sp>
      <p:sp>
        <p:nvSpPr>
          <p:cNvPr id="1835413595" name="Shape 13"/>
          <p:cNvSpPr/>
          <p:nvPr/>
        </p:nvSpPr>
        <p:spPr bwMode="auto">
          <a:xfrm>
            <a:off x="7452360" y="3264408"/>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13362668" name="Shape 14"/>
          <p:cNvSpPr/>
          <p:nvPr/>
        </p:nvSpPr>
        <p:spPr bwMode="auto">
          <a:xfrm>
            <a:off x="7671816" y="3502152"/>
            <a:ext cx="457200" cy="457200"/>
          </a:xfrm>
          <a:prstGeom prst="ellipse">
            <a:avLst/>
          </a:prstGeom>
          <a:solidFill>
            <a:srgbClr val="1B4F8F"/>
          </a:solidFill>
          <a:ln/>
        </p:spPr>
      </p:sp>
      <p:sp>
        <p:nvSpPr>
          <p:cNvPr id="630569468" name="Text 15"/>
          <p:cNvSpPr/>
          <p:nvPr/>
        </p:nvSpPr>
        <p:spPr bwMode="auto">
          <a:xfrm>
            <a:off x="7671816" y="3502152"/>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2</a:t>
            </a:r>
            <a:endParaRPr lang="en-US" sz="1700"/>
          </a:p>
        </p:txBody>
      </p:sp>
      <p:sp>
        <p:nvSpPr>
          <p:cNvPr id="1956445136" name="Text 16"/>
          <p:cNvSpPr/>
          <p:nvPr/>
        </p:nvSpPr>
        <p:spPr bwMode="auto">
          <a:xfrm>
            <a:off x="8293607" y="3447288"/>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Warum kein Cookie?</a:t>
            </a:r>
            <a:endParaRPr lang="en-US" sz="1450"/>
          </a:p>
        </p:txBody>
      </p:sp>
      <p:sp>
        <p:nvSpPr>
          <p:cNvPr id="1663444383" name="Text 17"/>
          <p:cNvSpPr/>
          <p:nvPr/>
        </p:nvSpPr>
        <p:spPr bwMode="auto">
          <a:xfrm>
            <a:off x="8293607" y="3813048"/>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Kiosk-Browser leeren beim Neustart Cookies &amp; Cache. Die URL überlebt das — deshalb kein Login nötig.</a:t>
            </a:r>
            <a:endParaRPr lang="en-US" sz="1200"/>
          </a:p>
        </p:txBody>
      </p:sp>
      <p:sp>
        <p:nvSpPr>
          <p:cNvPr id="1015507490" name="Shape 18"/>
          <p:cNvSpPr/>
          <p:nvPr/>
        </p:nvSpPr>
        <p:spPr bwMode="auto">
          <a:xfrm>
            <a:off x="7452360" y="4745736"/>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95744619" name="Shape 19"/>
          <p:cNvSpPr/>
          <p:nvPr/>
        </p:nvSpPr>
        <p:spPr bwMode="auto">
          <a:xfrm>
            <a:off x="7671816" y="4983480"/>
            <a:ext cx="457200" cy="457200"/>
          </a:xfrm>
          <a:prstGeom prst="ellipse">
            <a:avLst/>
          </a:prstGeom>
          <a:solidFill>
            <a:srgbClr val="1B4F8F"/>
          </a:solidFill>
          <a:ln/>
        </p:spPr>
      </p:sp>
      <p:sp>
        <p:nvSpPr>
          <p:cNvPr id="1579913025" name="Text 20"/>
          <p:cNvSpPr/>
          <p:nvPr/>
        </p:nvSpPr>
        <p:spPr bwMode="auto">
          <a:xfrm>
            <a:off x="7671816" y="4983480"/>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3</a:t>
            </a:r>
            <a:endParaRPr lang="en-US" sz="1700"/>
          </a:p>
        </p:txBody>
      </p:sp>
      <p:sp>
        <p:nvSpPr>
          <p:cNvPr id="934981807" name="Text 21"/>
          <p:cNvSpPr/>
          <p:nvPr/>
        </p:nvSpPr>
        <p:spPr bwMode="auto">
          <a:xfrm>
            <a:off x="8293607" y="4928616"/>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localStorage nur als Notnagel</a:t>
            </a:r>
            <a:endParaRPr lang="en-US" sz="1450"/>
          </a:p>
        </p:txBody>
      </p:sp>
      <p:sp>
        <p:nvSpPr>
          <p:cNvPr id="177559110" name="Text 22"/>
          <p:cNvSpPr/>
          <p:nvPr/>
        </p:nvSpPr>
        <p:spPr bwMode="auto">
          <a:xfrm>
            <a:off x="8293607" y="5294376"/>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Falls die URL ausnahmsweise keinen Slug hat. Die App weiß trotzdem immer, zu welcher Einrichtung sie gehört.</a:t>
            </a:r>
            <a:endParaRPr lang="en-US" sz="1200"/>
          </a:p>
        </p:txBody>
      </p:sp>
      <p:sp>
        <p:nvSpPr>
          <p:cNvPr id="264675980" name="Text 2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279051982" name="Text 2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5F8FC"/>
        </a:solidFill>
      </p:bgPr>
    </p:bg>
    <p:spTree>
      <p:nvGrpSpPr>
        <p:cNvPr id="1" name=""/>
        <p:cNvGrpSpPr/>
        <p:nvPr/>
      </p:nvGrpSpPr>
      <p:grpSpPr bwMode="auto">
        <a:xfrm>
          <a:off x="0" y="0"/>
          <a:ext cx="0" cy="0"/>
          <a:chOff x="0" y="0"/>
          <a:chExt cx="0" cy="0"/>
        </a:xfrm>
      </p:grpSpPr>
      <p:sp>
        <p:nvSpPr>
          <p:cNvPr id="408654540"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CODE</a:t>
            </a:r>
            <a:endParaRPr lang="en-US" sz="1250"/>
          </a:p>
        </p:txBody>
      </p:sp>
      <p:sp>
        <p:nvSpPr>
          <p:cNvPr id="863831649"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KI-Spracherkennung im Browser (Whisper)</a:t>
            </a:r>
            <a:endParaRPr lang="en-US" sz="3300"/>
          </a:p>
        </p:txBody>
      </p:sp>
      <p:sp>
        <p:nvSpPr>
          <p:cNvPr id="1391303154" name="Shape 2"/>
          <p:cNvSpPr/>
          <p:nvPr/>
        </p:nvSpPr>
        <p:spPr bwMode="auto">
          <a:xfrm>
            <a:off x="566928" y="1627632"/>
            <a:ext cx="6537960" cy="4480560"/>
          </a:xfrm>
          <a:prstGeom prst="roundRect">
            <a:avLst>
              <a:gd name="adj" fmla="val 2041"/>
            </a:avLst>
          </a:prstGeom>
          <a:solidFill>
            <a:srgbClr val="0C1F3D"/>
          </a:solidFill>
          <a:ln/>
          <a:effectLst>
            <a:outerShdw blurRad="114300" dist="38100" dir="5400000" sx="100000" sy="100000" kx="0" ky="0" algn="bl" rotWithShape="0">
              <a:srgbClr val="1B2A44">
                <a:alpha val="16000"/>
              </a:srgbClr>
            </a:outerShdw>
          </a:effectLst>
        </p:spPr>
      </p:sp>
      <p:sp>
        <p:nvSpPr>
          <p:cNvPr id="1323252361" name="Shape 3"/>
          <p:cNvSpPr/>
          <p:nvPr/>
        </p:nvSpPr>
        <p:spPr bwMode="auto">
          <a:xfrm>
            <a:off x="822960" y="1865376"/>
            <a:ext cx="128016" cy="128016"/>
          </a:xfrm>
          <a:prstGeom prst="ellipse">
            <a:avLst/>
          </a:prstGeom>
          <a:solidFill>
            <a:srgbClr val="FF5F56"/>
          </a:solidFill>
          <a:ln/>
        </p:spPr>
      </p:sp>
      <p:sp>
        <p:nvSpPr>
          <p:cNvPr id="369941753" name="Shape 4"/>
          <p:cNvSpPr/>
          <p:nvPr/>
        </p:nvSpPr>
        <p:spPr bwMode="auto">
          <a:xfrm>
            <a:off x="1060704" y="1865376"/>
            <a:ext cx="128016" cy="128016"/>
          </a:xfrm>
          <a:prstGeom prst="ellipse">
            <a:avLst/>
          </a:prstGeom>
          <a:solidFill>
            <a:srgbClr val="FFBD2E"/>
          </a:solidFill>
          <a:ln/>
        </p:spPr>
      </p:sp>
      <p:sp>
        <p:nvSpPr>
          <p:cNvPr id="2098306787" name="Shape 5"/>
          <p:cNvSpPr/>
          <p:nvPr/>
        </p:nvSpPr>
        <p:spPr bwMode="auto">
          <a:xfrm>
            <a:off x="1298448" y="1865376"/>
            <a:ext cx="128016" cy="128016"/>
          </a:xfrm>
          <a:prstGeom prst="ellipse">
            <a:avLst/>
          </a:prstGeom>
          <a:solidFill>
            <a:srgbClr val="27C93F"/>
          </a:solidFill>
          <a:ln/>
        </p:spPr>
      </p:sp>
      <p:sp>
        <p:nvSpPr>
          <p:cNvPr id="968190591" name="Text 6"/>
          <p:cNvSpPr/>
          <p:nvPr/>
        </p:nvSpPr>
        <p:spPr bwMode="auto">
          <a:xfrm>
            <a:off x="1664208" y="1773936"/>
            <a:ext cx="5257800" cy="310896"/>
          </a:xfrm>
          <a:prstGeom prst="rect">
            <a:avLst/>
          </a:prstGeom>
          <a:noFill/>
          <a:ln/>
        </p:spPr>
        <p:txBody>
          <a:bodyPr wrap="square" lIns="0" tIns="0" rIns="0" bIns="0" rtlCol="0" anchor="ctr"/>
          <a:lstStyle/>
          <a:p>
            <a:pPr marL="0" indent="0" algn="r">
              <a:buNone/>
              <a:defRPr/>
            </a:pPr>
            <a:r>
              <a:rPr lang="en-US" sz="1100">
                <a:solidFill>
                  <a:srgbClr val="9FB4D6"/>
                </a:solidFill>
                <a:latin typeface="Consolas"/>
                <a:ea typeface="Consolas"/>
                <a:cs typeface="Consolas"/>
              </a:rPr>
              <a:t>frontend/src/lib/transcriber.ts</a:t>
            </a:r>
            <a:endParaRPr lang="en-US" sz="1100"/>
          </a:p>
        </p:txBody>
      </p:sp>
      <p:sp>
        <p:nvSpPr>
          <p:cNvPr id="1093694606" name="Text 7"/>
          <p:cNvSpPr/>
          <p:nvPr/>
        </p:nvSpPr>
        <p:spPr bwMode="auto">
          <a:xfrm>
            <a:off x="841248" y="2231136"/>
            <a:ext cx="5989320" cy="3657600"/>
          </a:xfrm>
          <a:prstGeom prst="rect">
            <a:avLst/>
          </a:prstGeom>
          <a:noFill/>
          <a:ln/>
        </p:spPr>
        <p:txBody>
          <a:bodyPr wrap="square" lIns="0" tIns="0" rIns="0" bIns="0" rtlCol="0" anchor="t"/>
          <a:lstStyle/>
          <a:p>
            <a:pPr marL="0" indent="0">
              <a:lnSpc>
                <a:spcPct val="112000"/>
              </a:lnSpc>
              <a:buNone/>
              <a:defRPr/>
            </a:pPr>
            <a:r>
              <a:rPr lang="en-US" sz="1100">
                <a:solidFill>
                  <a:srgbClr val="D8E4F5"/>
                </a:solidFill>
                <a:latin typeface="Consolas"/>
                <a:ea typeface="Consolas"/>
                <a:cs typeface="Consolas"/>
              </a:rPr>
              <a:t>let transcriberPromise = null;</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function getTranscriber() {</a:t>
            </a:r>
            <a:endParaRPr lang="en-US" sz="1100"/>
          </a:p>
          <a:p>
            <a:pPr marL="0" indent="0">
              <a:lnSpc>
                <a:spcPct val="112000"/>
              </a:lnSpc>
              <a:buNone/>
              <a:defRPr/>
            </a:pPr>
            <a:r>
              <a:rPr lang="en-US" sz="1100">
                <a:solidFill>
                  <a:srgbClr val="D8E4F5"/>
                </a:solidFill>
                <a:latin typeface="Consolas"/>
                <a:ea typeface="Consolas"/>
                <a:cs typeface="Consolas"/>
              </a:rPr>
              <a:t>  if (!transcriberPromise) {</a:t>
            </a:r>
            <a:endParaRPr lang="en-US" sz="1100"/>
          </a:p>
          <a:p>
            <a:pPr marL="0" indent="0">
              <a:lnSpc>
                <a:spcPct val="112000"/>
              </a:lnSpc>
              <a:buNone/>
              <a:defRPr/>
            </a:pPr>
            <a:r>
              <a:rPr lang="en-US" sz="1100">
                <a:solidFill>
                  <a:srgbClr val="D8E4F5"/>
                </a:solidFill>
                <a:latin typeface="Consolas"/>
                <a:ea typeface="Consolas"/>
                <a:cs typeface="Consolas"/>
              </a:rPr>
              <a:t>    transcriberPromise = (async () =&gt; {</a:t>
            </a:r>
            <a:endParaRPr lang="en-US" sz="1100"/>
          </a:p>
          <a:p>
            <a:pPr marL="0" indent="0">
              <a:lnSpc>
                <a:spcPct val="112000"/>
              </a:lnSpc>
              <a:buNone/>
              <a:defRPr/>
            </a:pPr>
            <a:r>
              <a:rPr lang="en-US" sz="1100">
                <a:solidFill>
                  <a:srgbClr val="F6B25E"/>
                </a:solidFill>
                <a:latin typeface="Consolas"/>
                <a:ea typeface="Consolas"/>
                <a:cs typeface="Consolas"/>
              </a:rPr>
              <a:t>      const { pipeline, env } =</a:t>
            </a:r>
            <a:endParaRPr lang="en-US" sz="1100"/>
          </a:p>
          <a:p>
            <a:pPr marL="0" indent="0">
              <a:lnSpc>
                <a:spcPct val="112000"/>
              </a:lnSpc>
              <a:buNone/>
              <a:defRPr/>
            </a:pPr>
            <a:r>
              <a:rPr lang="en-US" sz="1100">
                <a:solidFill>
                  <a:srgbClr val="D8E4F5"/>
                </a:solidFill>
                <a:latin typeface="Consolas"/>
                <a:ea typeface="Consolas"/>
                <a:cs typeface="Consolas"/>
              </a:rPr>
              <a:t>        await import('@xenova/transformers');</a:t>
            </a:r>
            <a:r>
              <a:rPr lang="en-US" sz="1100" i="1">
                <a:solidFill>
                  <a:srgbClr val="7D94B5"/>
                </a:solidFill>
                <a:latin typeface="Consolas"/>
                <a:ea typeface="Consolas"/>
                <a:cs typeface="Consolas"/>
              </a:rPr>
              <a:t> // lazy</a:t>
            </a:r>
            <a:endParaRPr lang="en-US" sz="1100"/>
          </a:p>
          <a:p>
            <a:pPr marL="0" indent="0">
              <a:lnSpc>
                <a:spcPct val="112000"/>
              </a:lnSpc>
              <a:buNone/>
              <a:defRPr/>
            </a:pPr>
            <a:r>
              <a:rPr lang="en-US" sz="1100">
                <a:solidFill>
                  <a:srgbClr val="D8E4F5"/>
                </a:solidFill>
                <a:latin typeface="Consolas"/>
                <a:ea typeface="Consolas"/>
                <a:cs typeface="Consolas"/>
              </a:rPr>
              <a:t>      env.allowLocalModels = false;</a:t>
            </a:r>
            <a:endParaRPr lang="en-US" sz="1100"/>
          </a:p>
          <a:p>
            <a:pPr marL="0" indent="0">
              <a:lnSpc>
                <a:spcPct val="112000"/>
              </a:lnSpc>
              <a:buNone/>
              <a:defRPr/>
            </a:pPr>
            <a:r>
              <a:rPr lang="en-US" sz="1100">
                <a:solidFill>
                  <a:srgbClr val="D8E4F5"/>
                </a:solidFill>
                <a:latin typeface="Consolas"/>
                <a:ea typeface="Consolas"/>
                <a:cs typeface="Consolas"/>
              </a:rPr>
              <a:t>      return pipeline('automatic-speech-</a:t>
            </a:r>
            <a:endParaRPr lang="en-US" sz="1100"/>
          </a:p>
          <a:p>
            <a:pPr marL="0" indent="0">
              <a:lnSpc>
                <a:spcPct val="112000"/>
              </a:lnSpc>
              <a:buNone/>
              <a:defRPr/>
            </a:pPr>
            <a:r>
              <a:rPr lang="en-US" sz="1100">
                <a:solidFill>
                  <a:srgbClr val="D8E4F5"/>
                </a:solidFill>
                <a:latin typeface="Consolas"/>
                <a:ea typeface="Consolas"/>
                <a:cs typeface="Consolas"/>
              </a:rPr>
              <a:t>        recognition', 'Xenova/whisper-base');</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F6B25E"/>
                </a:solidFill>
                <a:latin typeface="Consolas"/>
                <a:ea typeface="Consolas"/>
                <a:cs typeface="Consolas"/>
              </a:rPr>
              <a:t>  return transcriberPromise;</a:t>
            </a:r>
            <a:r>
              <a:rPr lang="en-US" sz="1100" i="1">
                <a:solidFill>
                  <a:srgbClr val="7D94B5"/>
                </a:solidFill>
                <a:latin typeface="Consolas"/>
                <a:ea typeface="Consolas"/>
                <a:cs typeface="Consolas"/>
              </a:rPr>
              <a:t> // Singleton</a:t>
            </a:r>
            <a:endParaRPr lang="en-US" sz="1100"/>
          </a:p>
          <a:p>
            <a:pPr marL="0" indent="0">
              <a:lnSpc>
                <a:spcPct val="112000"/>
              </a:lnSpc>
              <a:buNone/>
              <a:defRPr/>
            </a:pPr>
            <a:r>
              <a:rPr lang="en-US" sz="1100">
                <a:solidFill>
                  <a:srgbClr val="D8E4F5"/>
                </a:solidFill>
                <a:latin typeface="Consolas"/>
                <a:ea typeface="Consolas"/>
                <a:cs typeface="Consolas"/>
              </a:rPr>
              <a:t>}</a:t>
            </a:r>
            <a:endParaRPr lang="en-US" sz="1100"/>
          </a:p>
        </p:txBody>
      </p:sp>
      <p:sp>
        <p:nvSpPr>
          <p:cNvPr id="159745147" name="Shape 8"/>
          <p:cNvSpPr/>
          <p:nvPr/>
        </p:nvSpPr>
        <p:spPr bwMode="auto">
          <a:xfrm>
            <a:off x="7452360" y="1783080"/>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92231830" name="Shape 9"/>
          <p:cNvSpPr/>
          <p:nvPr/>
        </p:nvSpPr>
        <p:spPr bwMode="auto">
          <a:xfrm>
            <a:off x="7671816" y="2020824"/>
            <a:ext cx="457200" cy="457200"/>
          </a:xfrm>
          <a:prstGeom prst="ellipse">
            <a:avLst/>
          </a:prstGeom>
          <a:solidFill>
            <a:srgbClr val="1B4F8F"/>
          </a:solidFill>
          <a:ln/>
        </p:spPr>
      </p:sp>
      <p:sp>
        <p:nvSpPr>
          <p:cNvPr id="1746989537" name="Text 10"/>
          <p:cNvSpPr/>
          <p:nvPr/>
        </p:nvSpPr>
        <p:spPr bwMode="auto">
          <a:xfrm>
            <a:off x="7671816" y="2020824"/>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1</a:t>
            </a:r>
            <a:endParaRPr lang="en-US" sz="1700"/>
          </a:p>
        </p:txBody>
      </p:sp>
      <p:sp>
        <p:nvSpPr>
          <p:cNvPr id="740591076" name="Text 11"/>
          <p:cNvSpPr/>
          <p:nvPr/>
        </p:nvSpPr>
        <p:spPr bwMode="auto">
          <a:xfrm>
            <a:off x="8293607" y="1965960"/>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Singleton</a:t>
            </a:r>
            <a:endParaRPr lang="en-US" sz="1450"/>
          </a:p>
        </p:txBody>
      </p:sp>
      <p:sp>
        <p:nvSpPr>
          <p:cNvPr id="93347618" name="Text 12"/>
          <p:cNvSpPr/>
          <p:nvPr/>
        </p:nvSpPr>
        <p:spPr bwMode="auto">
          <a:xfrm>
            <a:off x="8293607" y="2331720"/>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Das Modell/WASM wird nur einmal geladen und wiederverwendet — nicht bei jeder Aufnahme neu.</a:t>
            </a:r>
            <a:endParaRPr lang="en-US" sz="1200"/>
          </a:p>
        </p:txBody>
      </p:sp>
      <p:sp>
        <p:nvSpPr>
          <p:cNvPr id="1868585636" name="Shape 13"/>
          <p:cNvSpPr/>
          <p:nvPr/>
        </p:nvSpPr>
        <p:spPr bwMode="auto">
          <a:xfrm>
            <a:off x="7452360" y="3264408"/>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309630832" name="Shape 14"/>
          <p:cNvSpPr/>
          <p:nvPr/>
        </p:nvSpPr>
        <p:spPr bwMode="auto">
          <a:xfrm>
            <a:off x="7671816" y="3502152"/>
            <a:ext cx="457200" cy="457200"/>
          </a:xfrm>
          <a:prstGeom prst="ellipse">
            <a:avLst/>
          </a:prstGeom>
          <a:solidFill>
            <a:srgbClr val="1B4F8F"/>
          </a:solidFill>
          <a:ln/>
        </p:spPr>
      </p:sp>
      <p:sp>
        <p:nvSpPr>
          <p:cNvPr id="911858213" name="Text 15"/>
          <p:cNvSpPr/>
          <p:nvPr/>
        </p:nvSpPr>
        <p:spPr bwMode="auto">
          <a:xfrm>
            <a:off x="7671816" y="3502152"/>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2</a:t>
            </a:r>
            <a:endParaRPr lang="en-US" sz="1700"/>
          </a:p>
        </p:txBody>
      </p:sp>
      <p:sp>
        <p:nvSpPr>
          <p:cNvPr id="1681714143" name="Text 16"/>
          <p:cNvSpPr/>
          <p:nvPr/>
        </p:nvSpPr>
        <p:spPr bwMode="auto">
          <a:xfrm>
            <a:off x="8293607" y="3447288"/>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Dynamischer Import (lazy)</a:t>
            </a:r>
            <a:endParaRPr lang="en-US" sz="1450"/>
          </a:p>
        </p:txBody>
      </p:sp>
      <p:sp>
        <p:nvSpPr>
          <p:cNvPr id="1657545650" name="Text 17"/>
          <p:cNvSpPr/>
          <p:nvPr/>
        </p:nvSpPr>
        <p:spPr bwMode="auto">
          <a:xfrm>
            <a:off x="8293607" y="3813048"/>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await import(...) hält die schwere KI aus dem Haupt-Bundle heraus, damit der Kiosk schnell startet.</a:t>
            </a:r>
            <a:endParaRPr lang="en-US" sz="1200"/>
          </a:p>
        </p:txBody>
      </p:sp>
      <p:sp>
        <p:nvSpPr>
          <p:cNvPr id="1915257818" name="Shape 18"/>
          <p:cNvSpPr/>
          <p:nvPr/>
        </p:nvSpPr>
        <p:spPr bwMode="auto">
          <a:xfrm>
            <a:off x="7452360" y="4745736"/>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076821091" name="Shape 19"/>
          <p:cNvSpPr/>
          <p:nvPr/>
        </p:nvSpPr>
        <p:spPr bwMode="auto">
          <a:xfrm>
            <a:off x="7671816" y="4983480"/>
            <a:ext cx="457200" cy="457200"/>
          </a:xfrm>
          <a:prstGeom prst="ellipse">
            <a:avLst/>
          </a:prstGeom>
          <a:solidFill>
            <a:srgbClr val="1B4F8F"/>
          </a:solidFill>
          <a:ln/>
        </p:spPr>
      </p:sp>
      <p:sp>
        <p:nvSpPr>
          <p:cNvPr id="1221977081" name="Text 20"/>
          <p:cNvSpPr/>
          <p:nvPr/>
        </p:nvSpPr>
        <p:spPr bwMode="auto">
          <a:xfrm>
            <a:off x="7671816" y="4983480"/>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3</a:t>
            </a:r>
            <a:endParaRPr lang="en-US" sz="1700"/>
          </a:p>
        </p:txBody>
      </p:sp>
      <p:sp>
        <p:nvSpPr>
          <p:cNvPr id="1876301423" name="Text 21"/>
          <p:cNvSpPr/>
          <p:nvPr/>
        </p:nvSpPr>
        <p:spPr bwMode="auto">
          <a:xfrm>
            <a:off x="8293607" y="4928616"/>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Nie perfekt → editierbar</a:t>
            </a:r>
            <a:endParaRPr lang="en-US" sz="1450"/>
          </a:p>
        </p:txBody>
      </p:sp>
      <p:sp>
        <p:nvSpPr>
          <p:cNvPr id="653015013" name="Text 22"/>
          <p:cNvSpPr/>
          <p:nvPr/>
        </p:nvSpPr>
        <p:spPr bwMode="auto">
          <a:xfrm>
            <a:off x="8293607" y="5294376"/>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Der erkannte Text ist editierbar, dazu gibt es eine Tastatur-Alternative — besonders bei Eigennamen.</a:t>
            </a:r>
            <a:endParaRPr lang="en-US" sz="1200"/>
          </a:p>
        </p:txBody>
      </p:sp>
      <p:sp>
        <p:nvSpPr>
          <p:cNvPr id="74319556" name="Text 2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75075839" name="Text 2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5F8FC"/>
        </a:solidFill>
      </p:bgPr>
    </p:bg>
    <p:spTree>
      <p:nvGrpSpPr>
        <p:cNvPr id="1" name=""/>
        <p:cNvGrpSpPr/>
        <p:nvPr/>
      </p:nvGrpSpPr>
      <p:grpSpPr bwMode="auto">
        <a:xfrm>
          <a:off x="0" y="0"/>
          <a:ext cx="0" cy="0"/>
          <a:chOff x="0" y="0"/>
          <a:chExt cx="0" cy="0"/>
        </a:xfrm>
      </p:grpSpPr>
      <p:sp>
        <p:nvSpPr>
          <p:cNvPr id="1367426053"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CODE</a:t>
            </a:r>
            <a:endParaRPr lang="en-US" sz="1250"/>
          </a:p>
        </p:txBody>
      </p:sp>
      <p:sp>
        <p:nvSpPr>
          <p:cNvPr id="374434886"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Hintergrund-Transkription — ohne Warten</a:t>
            </a:r>
            <a:endParaRPr lang="en-US" sz="3300"/>
          </a:p>
        </p:txBody>
      </p:sp>
      <p:sp>
        <p:nvSpPr>
          <p:cNvPr id="947909299" name="Shape 2"/>
          <p:cNvSpPr/>
          <p:nvPr/>
        </p:nvSpPr>
        <p:spPr bwMode="auto">
          <a:xfrm>
            <a:off x="566928" y="1627632"/>
            <a:ext cx="6537960" cy="4480560"/>
          </a:xfrm>
          <a:prstGeom prst="roundRect">
            <a:avLst>
              <a:gd name="adj" fmla="val 2041"/>
            </a:avLst>
          </a:prstGeom>
          <a:solidFill>
            <a:srgbClr val="0C1F3D"/>
          </a:solidFill>
          <a:ln/>
          <a:effectLst>
            <a:outerShdw blurRad="114300" dist="38100" dir="5400000" sx="100000" sy="100000" kx="0" ky="0" algn="bl" rotWithShape="0">
              <a:srgbClr val="1B2A44">
                <a:alpha val="16000"/>
              </a:srgbClr>
            </a:outerShdw>
          </a:effectLst>
        </p:spPr>
      </p:sp>
      <p:sp>
        <p:nvSpPr>
          <p:cNvPr id="1496890057" name="Shape 3"/>
          <p:cNvSpPr/>
          <p:nvPr/>
        </p:nvSpPr>
        <p:spPr bwMode="auto">
          <a:xfrm>
            <a:off x="822960" y="1865376"/>
            <a:ext cx="128016" cy="128016"/>
          </a:xfrm>
          <a:prstGeom prst="ellipse">
            <a:avLst/>
          </a:prstGeom>
          <a:solidFill>
            <a:srgbClr val="FF5F56"/>
          </a:solidFill>
          <a:ln/>
        </p:spPr>
      </p:sp>
      <p:sp>
        <p:nvSpPr>
          <p:cNvPr id="2133354805" name="Shape 4"/>
          <p:cNvSpPr/>
          <p:nvPr/>
        </p:nvSpPr>
        <p:spPr bwMode="auto">
          <a:xfrm>
            <a:off x="1060704" y="1865376"/>
            <a:ext cx="128016" cy="128016"/>
          </a:xfrm>
          <a:prstGeom prst="ellipse">
            <a:avLst/>
          </a:prstGeom>
          <a:solidFill>
            <a:srgbClr val="FFBD2E"/>
          </a:solidFill>
          <a:ln/>
        </p:spPr>
      </p:sp>
      <p:sp>
        <p:nvSpPr>
          <p:cNvPr id="1102433805" name="Shape 5"/>
          <p:cNvSpPr/>
          <p:nvPr/>
        </p:nvSpPr>
        <p:spPr bwMode="auto">
          <a:xfrm>
            <a:off x="1298448" y="1865376"/>
            <a:ext cx="128016" cy="128016"/>
          </a:xfrm>
          <a:prstGeom prst="ellipse">
            <a:avLst/>
          </a:prstGeom>
          <a:solidFill>
            <a:srgbClr val="27C93F"/>
          </a:solidFill>
          <a:ln/>
        </p:spPr>
      </p:sp>
      <p:sp>
        <p:nvSpPr>
          <p:cNvPr id="1584673639" name="Text 6"/>
          <p:cNvSpPr/>
          <p:nvPr/>
        </p:nvSpPr>
        <p:spPr bwMode="auto">
          <a:xfrm>
            <a:off x="1664208" y="1773936"/>
            <a:ext cx="5257800" cy="310896"/>
          </a:xfrm>
          <a:prstGeom prst="rect">
            <a:avLst/>
          </a:prstGeom>
          <a:noFill/>
          <a:ln/>
        </p:spPr>
        <p:txBody>
          <a:bodyPr wrap="square" lIns="0" tIns="0" rIns="0" bIns="0" rtlCol="0" anchor="ctr"/>
          <a:lstStyle/>
          <a:p>
            <a:pPr marL="0" indent="0" algn="r">
              <a:buNone/>
              <a:defRPr/>
            </a:pPr>
            <a:r>
              <a:rPr lang="en-US" sz="1100">
                <a:solidFill>
                  <a:srgbClr val="9FB4D6"/>
                </a:solidFill>
                <a:latin typeface="Consolas"/>
                <a:ea typeface="Consolas"/>
                <a:cs typeface="Consolas"/>
              </a:rPr>
              <a:t>frontend/src/state/complaintStore.ts</a:t>
            </a:r>
            <a:endParaRPr lang="en-US" sz="1100"/>
          </a:p>
        </p:txBody>
      </p:sp>
      <p:sp>
        <p:nvSpPr>
          <p:cNvPr id="590498572" name="Text 7"/>
          <p:cNvSpPr/>
          <p:nvPr/>
        </p:nvSpPr>
        <p:spPr bwMode="auto">
          <a:xfrm>
            <a:off x="841248" y="2231136"/>
            <a:ext cx="5989320" cy="3657600"/>
          </a:xfrm>
          <a:prstGeom prst="rect">
            <a:avLst/>
          </a:prstGeom>
          <a:noFill/>
          <a:ln/>
        </p:spPr>
        <p:txBody>
          <a:bodyPr wrap="square" lIns="0" tIns="0" rIns="0" bIns="0" rtlCol="0" anchor="t"/>
          <a:lstStyle/>
          <a:p>
            <a:pPr marL="0" indent="0">
              <a:lnSpc>
                <a:spcPct val="112000"/>
              </a:lnSpc>
              <a:buNone/>
              <a:defRPr/>
            </a:pPr>
            <a:r>
              <a:rPr lang="en-US" sz="1100">
                <a:solidFill>
                  <a:srgbClr val="D8E4F5"/>
                </a:solidFill>
                <a:latin typeface="Consolas"/>
                <a:ea typeface="Consolas"/>
                <a:cs typeface="Consolas"/>
              </a:rPr>
              <a:t>recordField: (field, blob) =&gt; {</a:t>
            </a:r>
            <a:endParaRPr lang="en-US" sz="1100"/>
          </a:p>
          <a:p>
            <a:pPr marL="0" indent="0">
              <a:lnSpc>
                <a:spcPct val="112000"/>
              </a:lnSpc>
              <a:buNone/>
              <a:defRPr/>
            </a:pPr>
            <a:r>
              <a:rPr lang="en-US" sz="1100">
                <a:solidFill>
                  <a:srgbClr val="F6B25E"/>
                </a:solidFill>
                <a:latin typeface="Consolas"/>
                <a:ea typeface="Consolas"/>
                <a:cs typeface="Consolas"/>
              </a:rPr>
              <a:t>  const token = (tokens[field] += 1);</a:t>
            </a:r>
            <a:endParaRPr lang="en-US" sz="1100"/>
          </a:p>
          <a:p>
            <a:pPr marL="0" indent="0">
              <a:lnSpc>
                <a:spcPct val="112000"/>
              </a:lnSpc>
              <a:buNone/>
              <a:defRPr/>
            </a:pPr>
            <a:r>
              <a:rPr lang="en-US" sz="1100">
                <a:solidFill>
                  <a:srgbClr val="D8E4F5"/>
                </a:solidFill>
                <a:latin typeface="Consolas"/>
                <a:ea typeface="Consolas"/>
                <a:cs typeface="Consolas"/>
              </a:rPr>
              <a:t>  set({ [field+'Status']: 'pending' });</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  inflight[field] = (async () =&gt; {</a:t>
            </a:r>
            <a:endParaRPr lang="en-US" sz="1100"/>
          </a:p>
          <a:p>
            <a:pPr marL="0" indent="0">
              <a:lnSpc>
                <a:spcPct val="112000"/>
              </a:lnSpc>
              <a:buNone/>
              <a:defRPr/>
            </a:pPr>
            <a:r>
              <a:rPr lang="en-US" sz="1100">
                <a:solidFill>
                  <a:srgbClr val="D8E4F5"/>
                </a:solidFill>
                <a:latin typeface="Consolas"/>
                <a:ea typeface="Consolas"/>
                <a:cs typeface="Consolas"/>
              </a:rPr>
              <a:t>    const text = await transcribeBlob(blob);</a:t>
            </a:r>
            <a:endParaRPr lang="en-US" sz="1100"/>
          </a:p>
          <a:p>
            <a:pPr marL="0" indent="0">
              <a:lnSpc>
                <a:spcPct val="112000"/>
              </a:lnSpc>
              <a:buNone/>
              <a:defRPr/>
            </a:pPr>
            <a:r>
              <a:rPr lang="en-US" sz="1100">
                <a:solidFill>
                  <a:srgbClr val="F6B25E"/>
                </a:solidFill>
                <a:latin typeface="Consolas"/>
                <a:ea typeface="Consolas"/>
                <a:cs typeface="Consolas"/>
              </a:rPr>
              <a:t>    if (tokens[field] !== token) return;</a:t>
            </a:r>
            <a:r>
              <a:rPr lang="en-US" sz="1100" i="1">
                <a:solidFill>
                  <a:srgbClr val="7D94B5"/>
                </a:solidFill>
                <a:latin typeface="Consolas"/>
                <a:ea typeface="Consolas"/>
                <a:cs typeface="Consolas"/>
              </a:rPr>
              <a:t> // veraltet</a:t>
            </a:r>
            <a:endParaRPr lang="en-US" sz="1100"/>
          </a:p>
          <a:p>
            <a:pPr marL="0" indent="0">
              <a:lnSpc>
                <a:spcPct val="112000"/>
              </a:lnSpc>
              <a:buNone/>
              <a:defRPr/>
            </a:pPr>
            <a:r>
              <a:rPr lang="en-US" sz="1100">
                <a:solidFill>
                  <a:srgbClr val="D8E4F5"/>
                </a:solidFill>
                <a:latin typeface="Consolas"/>
                <a:ea typeface="Consolas"/>
                <a:cs typeface="Consolas"/>
              </a:rPr>
              <a:t>    set({ [field+'Text']: text,</a:t>
            </a:r>
            <a:endParaRPr lang="en-US" sz="1100"/>
          </a:p>
          <a:p>
            <a:pPr marL="0" indent="0">
              <a:lnSpc>
                <a:spcPct val="112000"/>
              </a:lnSpc>
              <a:buNone/>
              <a:defRPr/>
            </a:pPr>
            <a:r>
              <a:rPr lang="en-US" sz="1100">
                <a:solidFill>
                  <a:srgbClr val="D8E4F5"/>
                </a:solidFill>
                <a:latin typeface="Consolas"/>
                <a:ea typeface="Consolas"/>
                <a:cs typeface="Consolas"/>
              </a:rPr>
              <a:t>          [field+'Status']: 'done' });</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a:solidFill>
                  <a:srgbClr val="D8E4F5"/>
                </a:solidFill>
                <a:latin typeface="Consolas"/>
                <a:ea typeface="Consolas"/>
                <a:cs typeface="Consolas"/>
              </a:rPr>
              <a:t>awaitTranscriptions: async () =&gt;</a:t>
            </a:r>
            <a:endParaRPr lang="en-US" sz="1100"/>
          </a:p>
          <a:p>
            <a:pPr marL="0" indent="0">
              <a:lnSpc>
                <a:spcPct val="112000"/>
              </a:lnSpc>
              <a:buNone/>
              <a:defRPr/>
            </a:pPr>
            <a:r>
              <a:rPr lang="en-US" sz="1100">
                <a:solidFill>
                  <a:srgbClr val="F6B25E"/>
                </a:solidFill>
                <a:latin typeface="Consolas"/>
                <a:ea typeface="Consolas"/>
                <a:cs typeface="Consolas"/>
              </a:rPr>
              <a:t>  await Promise.allSettled(</a:t>
            </a:r>
            <a:endParaRPr lang="en-US" sz="1100"/>
          </a:p>
          <a:p>
            <a:pPr marL="0" indent="0">
              <a:lnSpc>
                <a:spcPct val="112000"/>
              </a:lnSpc>
              <a:buNone/>
              <a:defRPr/>
            </a:pPr>
            <a:r>
              <a:rPr lang="en-US" sz="1100">
                <a:solidFill>
                  <a:srgbClr val="D8E4F5"/>
                </a:solidFill>
                <a:latin typeface="Consolas"/>
                <a:ea typeface="Consolas"/>
                <a:cs typeface="Consolas"/>
              </a:rPr>
              <a:t>    Object.values(inflight)),</a:t>
            </a:r>
            <a:r>
              <a:rPr lang="en-US" sz="1100" i="1">
                <a:solidFill>
                  <a:srgbClr val="7D94B5"/>
                </a:solidFill>
                <a:latin typeface="Consolas"/>
                <a:ea typeface="Consolas"/>
                <a:cs typeface="Consolas"/>
              </a:rPr>
              <a:t> // erst beim Senden</a:t>
            </a:r>
            <a:endParaRPr lang="en-US" sz="1100"/>
          </a:p>
        </p:txBody>
      </p:sp>
      <p:sp>
        <p:nvSpPr>
          <p:cNvPr id="2044848282" name="Shape 8"/>
          <p:cNvSpPr/>
          <p:nvPr/>
        </p:nvSpPr>
        <p:spPr bwMode="auto">
          <a:xfrm>
            <a:off x="7452360" y="1783080"/>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38916783" name="Shape 9"/>
          <p:cNvSpPr/>
          <p:nvPr/>
        </p:nvSpPr>
        <p:spPr bwMode="auto">
          <a:xfrm>
            <a:off x="7671816" y="2020824"/>
            <a:ext cx="457200" cy="457200"/>
          </a:xfrm>
          <a:prstGeom prst="ellipse">
            <a:avLst/>
          </a:prstGeom>
          <a:solidFill>
            <a:srgbClr val="1B4F8F"/>
          </a:solidFill>
          <a:ln/>
        </p:spPr>
      </p:sp>
      <p:sp>
        <p:nvSpPr>
          <p:cNvPr id="132556108" name="Text 10"/>
          <p:cNvSpPr/>
          <p:nvPr/>
        </p:nvSpPr>
        <p:spPr bwMode="auto">
          <a:xfrm>
            <a:off x="7671816" y="2020824"/>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1</a:t>
            </a:r>
            <a:endParaRPr lang="en-US" sz="1700"/>
          </a:p>
        </p:txBody>
      </p:sp>
      <p:sp>
        <p:nvSpPr>
          <p:cNvPr id="849946234" name="Text 11"/>
          <p:cNvSpPr/>
          <p:nvPr/>
        </p:nvSpPr>
        <p:spPr bwMode="auto">
          <a:xfrm>
            <a:off x="8293607" y="1965960"/>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Durchklicken ohne Warten</a:t>
            </a:r>
            <a:endParaRPr lang="en-US" sz="1450"/>
          </a:p>
        </p:txBody>
      </p:sp>
      <p:sp>
        <p:nvSpPr>
          <p:cNvPr id="1854792908" name="Text 12"/>
          <p:cNvSpPr/>
          <p:nvPr/>
        </p:nvSpPr>
        <p:spPr bwMode="auto">
          <a:xfrm>
            <a:off x="8293607" y="2331720"/>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Die Aufnahme setzt Status 'pending' und startet die KI im Hintergrund — die UI blockiert nie.</a:t>
            </a:r>
            <a:endParaRPr lang="en-US" sz="1200"/>
          </a:p>
        </p:txBody>
      </p:sp>
      <p:sp>
        <p:nvSpPr>
          <p:cNvPr id="201176764" name="Shape 13"/>
          <p:cNvSpPr/>
          <p:nvPr/>
        </p:nvSpPr>
        <p:spPr bwMode="auto">
          <a:xfrm>
            <a:off x="7452360" y="3264408"/>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2342588" name="Shape 14"/>
          <p:cNvSpPr/>
          <p:nvPr/>
        </p:nvSpPr>
        <p:spPr bwMode="auto">
          <a:xfrm>
            <a:off x="7671816" y="3502152"/>
            <a:ext cx="457200" cy="457200"/>
          </a:xfrm>
          <a:prstGeom prst="ellipse">
            <a:avLst/>
          </a:prstGeom>
          <a:solidFill>
            <a:srgbClr val="1B4F8F"/>
          </a:solidFill>
          <a:ln/>
        </p:spPr>
      </p:sp>
      <p:sp>
        <p:nvSpPr>
          <p:cNvPr id="736663125" name="Text 15"/>
          <p:cNvSpPr/>
          <p:nvPr/>
        </p:nvSpPr>
        <p:spPr bwMode="auto">
          <a:xfrm>
            <a:off x="7671816" y="3502152"/>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2</a:t>
            </a:r>
            <a:endParaRPr lang="en-US" sz="1700"/>
          </a:p>
        </p:txBody>
      </p:sp>
      <p:sp>
        <p:nvSpPr>
          <p:cNvPr id="769779049" name="Text 16"/>
          <p:cNvSpPr/>
          <p:nvPr/>
        </p:nvSpPr>
        <p:spPr bwMode="auto">
          <a:xfrm>
            <a:off x="8293607" y="3447288"/>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Token-System</a:t>
            </a:r>
            <a:endParaRPr lang="en-US" sz="1450"/>
          </a:p>
        </p:txBody>
      </p:sp>
      <p:sp>
        <p:nvSpPr>
          <p:cNvPr id="1402069960" name="Text 17"/>
          <p:cNvSpPr/>
          <p:nvPr/>
        </p:nvSpPr>
        <p:spPr bwMode="auto">
          <a:xfrm>
            <a:off x="8293607" y="3813048"/>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Jede Aufnahme bekommt eine Nummer. Ist sie beim Fertigwerden veraltet, wird das Ergebnis verworfen.</a:t>
            </a:r>
            <a:endParaRPr lang="en-US" sz="1200"/>
          </a:p>
        </p:txBody>
      </p:sp>
      <p:sp>
        <p:nvSpPr>
          <p:cNvPr id="1018307593" name="Shape 18"/>
          <p:cNvSpPr/>
          <p:nvPr/>
        </p:nvSpPr>
        <p:spPr bwMode="auto">
          <a:xfrm>
            <a:off x="7452360" y="4745736"/>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31067484" name="Shape 19"/>
          <p:cNvSpPr/>
          <p:nvPr/>
        </p:nvSpPr>
        <p:spPr bwMode="auto">
          <a:xfrm>
            <a:off x="7671816" y="4983480"/>
            <a:ext cx="457200" cy="457200"/>
          </a:xfrm>
          <a:prstGeom prst="ellipse">
            <a:avLst/>
          </a:prstGeom>
          <a:solidFill>
            <a:srgbClr val="1B4F8F"/>
          </a:solidFill>
          <a:ln/>
        </p:spPr>
      </p:sp>
      <p:sp>
        <p:nvSpPr>
          <p:cNvPr id="1177785006" name="Text 20"/>
          <p:cNvSpPr/>
          <p:nvPr/>
        </p:nvSpPr>
        <p:spPr bwMode="auto">
          <a:xfrm>
            <a:off x="7671816" y="4983480"/>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3</a:t>
            </a:r>
            <a:endParaRPr lang="en-US" sz="1700"/>
          </a:p>
        </p:txBody>
      </p:sp>
      <p:sp>
        <p:nvSpPr>
          <p:cNvPr id="1236551911" name="Text 21"/>
          <p:cNvSpPr/>
          <p:nvPr/>
        </p:nvSpPr>
        <p:spPr bwMode="auto">
          <a:xfrm>
            <a:off x="8293607" y="4928616"/>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Beim Senden abwarten</a:t>
            </a:r>
            <a:endParaRPr lang="en-US" sz="1450"/>
          </a:p>
        </p:txBody>
      </p:sp>
      <p:sp>
        <p:nvSpPr>
          <p:cNvPr id="2031843755" name="Text 22"/>
          <p:cNvSpPr/>
          <p:nvPr/>
        </p:nvSpPr>
        <p:spPr bwMode="auto">
          <a:xfrm>
            <a:off x="8293607" y="5294376"/>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awaitTranscriptions() wartet nur zum Schluss auf offene Erkennungen — nie unfertige Texte in Mail/DB.</a:t>
            </a:r>
            <a:endParaRPr lang="en-US" sz="1200"/>
          </a:p>
        </p:txBody>
      </p:sp>
      <p:sp>
        <p:nvSpPr>
          <p:cNvPr id="688550088" name="Text 2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093287086" name="Text 2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5F8FC"/>
        </a:solidFill>
      </p:bgPr>
    </p:bg>
    <p:spTree>
      <p:nvGrpSpPr>
        <p:cNvPr id="1" name=""/>
        <p:cNvGrpSpPr/>
        <p:nvPr/>
      </p:nvGrpSpPr>
      <p:grpSpPr bwMode="auto">
        <a:xfrm>
          <a:off x="0" y="0"/>
          <a:ext cx="0" cy="0"/>
          <a:chOff x="0" y="0"/>
          <a:chExt cx="0" cy="0"/>
        </a:xfrm>
      </p:grpSpPr>
      <p:sp>
        <p:nvSpPr>
          <p:cNvPr id="655237575"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CODE</a:t>
            </a:r>
            <a:endParaRPr lang="en-US" sz="1250"/>
          </a:p>
        </p:txBody>
      </p:sp>
      <p:sp>
        <p:nvSpPr>
          <p:cNvPr id="1923573712"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Backend &amp; Ethik: anonyme Audios schützen</a:t>
            </a:r>
            <a:endParaRPr lang="en-US" sz="3300"/>
          </a:p>
        </p:txBody>
      </p:sp>
      <p:sp>
        <p:nvSpPr>
          <p:cNvPr id="1090109913" name="Shape 2"/>
          <p:cNvSpPr/>
          <p:nvPr/>
        </p:nvSpPr>
        <p:spPr bwMode="auto">
          <a:xfrm>
            <a:off x="566928" y="1627632"/>
            <a:ext cx="6537960" cy="4480560"/>
          </a:xfrm>
          <a:prstGeom prst="roundRect">
            <a:avLst>
              <a:gd name="adj" fmla="val 2041"/>
            </a:avLst>
          </a:prstGeom>
          <a:solidFill>
            <a:srgbClr val="0C1F3D"/>
          </a:solidFill>
          <a:ln/>
          <a:effectLst>
            <a:outerShdw blurRad="114300" dist="38100" dir="5400000" sx="100000" sy="100000" kx="0" ky="0" algn="bl" rotWithShape="0">
              <a:srgbClr val="1B2A44">
                <a:alpha val="16000"/>
              </a:srgbClr>
            </a:outerShdw>
          </a:effectLst>
        </p:spPr>
      </p:sp>
      <p:sp>
        <p:nvSpPr>
          <p:cNvPr id="710376448" name="Shape 3"/>
          <p:cNvSpPr/>
          <p:nvPr/>
        </p:nvSpPr>
        <p:spPr bwMode="auto">
          <a:xfrm>
            <a:off x="822960" y="1865376"/>
            <a:ext cx="128016" cy="128016"/>
          </a:xfrm>
          <a:prstGeom prst="ellipse">
            <a:avLst/>
          </a:prstGeom>
          <a:solidFill>
            <a:srgbClr val="FF5F56"/>
          </a:solidFill>
          <a:ln/>
        </p:spPr>
      </p:sp>
      <p:sp>
        <p:nvSpPr>
          <p:cNvPr id="968126390" name="Shape 4"/>
          <p:cNvSpPr/>
          <p:nvPr/>
        </p:nvSpPr>
        <p:spPr bwMode="auto">
          <a:xfrm>
            <a:off x="1060704" y="1865376"/>
            <a:ext cx="128016" cy="128016"/>
          </a:xfrm>
          <a:prstGeom prst="ellipse">
            <a:avLst/>
          </a:prstGeom>
          <a:solidFill>
            <a:srgbClr val="FFBD2E"/>
          </a:solidFill>
          <a:ln/>
        </p:spPr>
      </p:sp>
      <p:sp>
        <p:nvSpPr>
          <p:cNvPr id="1371963245" name="Shape 5"/>
          <p:cNvSpPr/>
          <p:nvPr/>
        </p:nvSpPr>
        <p:spPr bwMode="auto">
          <a:xfrm>
            <a:off x="1298448" y="1865376"/>
            <a:ext cx="128016" cy="128016"/>
          </a:xfrm>
          <a:prstGeom prst="ellipse">
            <a:avLst/>
          </a:prstGeom>
          <a:solidFill>
            <a:srgbClr val="27C93F"/>
          </a:solidFill>
          <a:ln/>
        </p:spPr>
      </p:sp>
      <p:sp>
        <p:nvSpPr>
          <p:cNvPr id="238682655" name="Text 6"/>
          <p:cNvSpPr/>
          <p:nvPr/>
        </p:nvSpPr>
        <p:spPr bwMode="auto">
          <a:xfrm>
            <a:off x="1664208" y="1773936"/>
            <a:ext cx="5257800" cy="310896"/>
          </a:xfrm>
          <a:prstGeom prst="rect">
            <a:avLst/>
          </a:prstGeom>
          <a:noFill/>
          <a:ln/>
        </p:spPr>
        <p:txBody>
          <a:bodyPr wrap="square" lIns="0" tIns="0" rIns="0" bIns="0" rtlCol="0" anchor="ctr"/>
          <a:lstStyle/>
          <a:p>
            <a:pPr marL="0" indent="0" algn="r">
              <a:buNone/>
              <a:defRPr/>
            </a:pPr>
            <a:r>
              <a:rPr lang="en-US" sz="1100">
                <a:solidFill>
                  <a:srgbClr val="9FB4D6"/>
                </a:solidFill>
                <a:latin typeface="Consolas"/>
                <a:ea typeface="Consolas"/>
                <a:cs typeface="Consolas"/>
              </a:rPr>
              <a:t>api/complaints.ts  ·  api/audio-url.ts</a:t>
            </a:r>
            <a:endParaRPr lang="en-US" sz="1100"/>
          </a:p>
        </p:txBody>
      </p:sp>
      <p:sp>
        <p:nvSpPr>
          <p:cNvPr id="1812907766" name="Text 7"/>
          <p:cNvSpPr/>
          <p:nvPr/>
        </p:nvSpPr>
        <p:spPr bwMode="auto">
          <a:xfrm>
            <a:off x="841248" y="2231136"/>
            <a:ext cx="5989320" cy="3657600"/>
          </a:xfrm>
          <a:prstGeom prst="rect">
            <a:avLst/>
          </a:prstGeom>
          <a:noFill/>
          <a:ln/>
        </p:spPr>
        <p:txBody>
          <a:bodyPr wrap="square" lIns="0" tIns="0" rIns="0" bIns="0" rtlCol="0" anchor="t"/>
          <a:lstStyle/>
          <a:p>
            <a:pPr marL="0" indent="0">
              <a:lnSpc>
                <a:spcPct val="112000"/>
              </a:lnSpc>
              <a:buNone/>
              <a:defRPr/>
            </a:pPr>
            <a:r>
              <a:rPr lang="en-US" sz="1100" i="1">
                <a:solidFill>
                  <a:srgbClr val="7D94B5"/>
                </a:solidFill>
                <a:latin typeface="Consolas"/>
                <a:ea typeface="Consolas"/>
                <a:cs typeface="Consolas"/>
              </a:rPr>
              <a:t>// Server-seitige Validierung (zusätzlich zur UI)</a:t>
            </a:r>
            <a:endParaRPr lang="en-US" sz="1100"/>
          </a:p>
          <a:p>
            <a:pPr marL="0" indent="0">
              <a:lnSpc>
                <a:spcPct val="112000"/>
              </a:lnSpc>
              <a:buNone/>
              <a:defRPr/>
            </a:pPr>
            <a:r>
              <a:rPr lang="en-US" sz="1100">
                <a:solidFill>
                  <a:srgbClr val="D8E4F5"/>
                </a:solidFill>
                <a:latin typeface="Consolas"/>
                <a:ea typeface="Consolas"/>
                <a:cs typeface="Consolas"/>
              </a:rPr>
              <a:t>if (!isValidFacilitySlug(facilitySlug))</a:t>
            </a:r>
            <a:endParaRPr lang="en-US" sz="1100"/>
          </a:p>
          <a:p>
            <a:pPr marL="0" indent="0">
              <a:lnSpc>
                <a:spcPct val="112000"/>
              </a:lnSpc>
              <a:buNone/>
              <a:defRPr/>
            </a:pPr>
            <a:r>
              <a:rPr lang="en-US" sz="1100">
                <a:solidFill>
                  <a:srgbClr val="D8E4F5"/>
                </a:solidFill>
                <a:latin typeface="Consolas"/>
                <a:ea typeface="Consolas"/>
                <a:cs typeface="Consolas"/>
              </a:rPr>
              <a:t>  return res.status(400)...;</a:t>
            </a:r>
            <a:endParaRPr lang="en-US" sz="1100"/>
          </a:p>
          <a:p>
            <a:pPr marL="0" indent="0">
              <a:lnSpc>
                <a:spcPct val="112000"/>
              </a:lnSpc>
              <a:buNone/>
              <a:defRPr/>
            </a:pPr>
            <a:r>
              <a:rPr lang="en-US" sz="1100">
                <a:solidFill>
                  <a:srgbClr val="D8E4F5"/>
                </a:solidFill>
                <a:latin typeface="Consolas"/>
                <a:ea typeface="Consolas"/>
                <a:cs typeface="Consolas"/>
              </a:rPr>
              <a:t>if (!problemText &amp;&amp; !problemAudioFile)</a:t>
            </a:r>
            <a:endParaRPr lang="en-US" sz="1100"/>
          </a:p>
          <a:p>
            <a:pPr marL="0" indent="0">
              <a:lnSpc>
                <a:spcPct val="112000"/>
              </a:lnSpc>
              <a:buNone/>
              <a:defRPr/>
            </a:pPr>
            <a:r>
              <a:rPr lang="en-US" sz="1100">
                <a:solidFill>
                  <a:srgbClr val="F6B25E"/>
                </a:solidFill>
                <a:latin typeface="Consolas"/>
                <a:ea typeface="Consolas"/>
                <a:cs typeface="Consolas"/>
              </a:rPr>
              <a:t>  return res.status(400)...;</a:t>
            </a:r>
            <a:r>
              <a:rPr lang="en-US" sz="1100" i="1">
                <a:solidFill>
                  <a:srgbClr val="7D94B5"/>
                </a:solidFill>
                <a:latin typeface="Consolas"/>
                <a:ea typeface="Consolas"/>
                <a:cs typeface="Consolas"/>
              </a:rPr>
              <a:t> // Pflichtfeld</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i="1">
                <a:solidFill>
                  <a:srgbClr val="7D94B5"/>
                </a:solidFill>
                <a:latin typeface="Consolas"/>
                <a:ea typeface="Consolas"/>
                <a:cs typeface="Consolas"/>
              </a:rPr>
              <a:t>// Empfänger aus Env-Var — nie im Client</a:t>
            </a:r>
            <a:endParaRPr lang="en-US" sz="1100"/>
          </a:p>
          <a:p>
            <a:pPr marL="0" indent="0">
              <a:lnSpc>
                <a:spcPct val="112000"/>
              </a:lnSpc>
              <a:buNone/>
              <a:defRPr/>
            </a:pPr>
            <a:r>
              <a:rPr lang="en-US" sz="1100">
                <a:solidFill>
                  <a:srgbClr val="D8E4F5"/>
                </a:solidFill>
                <a:latin typeface="Consolas"/>
                <a:ea typeface="Consolas"/>
                <a:cs typeface="Consolas"/>
              </a:rPr>
              <a:t>to: process.env.COMPLAINT_RECIPIENT_EMAIL,</a:t>
            </a:r>
            <a:endParaRPr lang="en-US" sz="1100"/>
          </a:p>
          <a:p>
            <a:pPr marL="0" indent="0">
              <a:lnSpc>
                <a:spcPct val="112000"/>
              </a:lnSpc>
              <a:buNone/>
              <a:defRPr/>
            </a:pPr>
            <a:r>
              <a:rPr lang="en-US" sz="1100">
                <a:solidFill>
                  <a:srgbClr val="D8E4F5"/>
                </a:solidFill>
                <a:latin typeface="Consolas"/>
                <a:ea typeface="Consolas"/>
                <a:cs typeface="Consolas"/>
              </a:rPr>
              <a:t> </a:t>
            </a:r>
            <a:endParaRPr lang="en-US" sz="1100"/>
          </a:p>
          <a:p>
            <a:pPr marL="0" indent="0">
              <a:lnSpc>
                <a:spcPct val="112000"/>
              </a:lnSpc>
              <a:buNone/>
              <a:defRPr/>
            </a:pPr>
            <a:r>
              <a:rPr lang="en-US" sz="1100" i="1">
                <a:solidFill>
                  <a:srgbClr val="7D94B5"/>
                </a:solidFill>
                <a:latin typeface="Consolas"/>
                <a:ea typeface="Consolas"/>
                <a:cs typeface="Consolas"/>
              </a:rPr>
              <a:t>// Stimme ist erkennbar → Audio nur für Leitung</a:t>
            </a:r>
            <a:endParaRPr lang="en-US" sz="1100"/>
          </a:p>
          <a:p>
            <a:pPr marL="0" indent="0">
              <a:lnSpc>
                <a:spcPct val="112000"/>
              </a:lnSpc>
              <a:buNone/>
              <a:defRPr/>
            </a:pPr>
            <a:r>
              <a:rPr lang="en-US" sz="1100">
                <a:solidFill>
                  <a:srgbClr val="D8E4F5"/>
                </a:solidFill>
                <a:latin typeface="Consolas"/>
                <a:ea typeface="Consolas"/>
                <a:cs typeface="Consolas"/>
              </a:rPr>
              <a:t>const anonymityGateOk =</a:t>
            </a:r>
            <a:endParaRPr lang="en-US" sz="1100"/>
          </a:p>
          <a:p>
            <a:pPr marL="0" indent="0">
              <a:lnSpc>
                <a:spcPct val="112000"/>
              </a:lnSpc>
              <a:buNone/>
              <a:defRPr/>
            </a:pPr>
            <a:r>
              <a:rPr lang="en-US" sz="1100">
                <a:solidFill>
                  <a:srgbClr val="F6B25E"/>
                </a:solidFill>
                <a:latin typeface="Consolas"/>
                <a:ea typeface="Consolas"/>
                <a:cs typeface="Consolas"/>
              </a:rPr>
              <a:t>  !complaint.is_anonymous || role === 'leitung';</a:t>
            </a:r>
            <a:endParaRPr lang="en-US" sz="1100"/>
          </a:p>
          <a:p>
            <a:pPr marL="0" indent="0">
              <a:lnSpc>
                <a:spcPct val="112000"/>
              </a:lnSpc>
              <a:buNone/>
              <a:defRPr/>
            </a:pPr>
            <a:r>
              <a:rPr lang="en-US" sz="1100">
                <a:solidFill>
                  <a:srgbClr val="D8E4F5"/>
                </a:solidFill>
                <a:latin typeface="Consolas"/>
                <a:ea typeface="Consolas"/>
                <a:cs typeface="Consolas"/>
              </a:rPr>
              <a:t>if (!sameFacility || !anonymityGateOk)</a:t>
            </a:r>
            <a:endParaRPr lang="en-US" sz="1100"/>
          </a:p>
          <a:p>
            <a:pPr marL="0" indent="0">
              <a:lnSpc>
                <a:spcPct val="112000"/>
              </a:lnSpc>
              <a:buNone/>
              <a:defRPr/>
            </a:pPr>
            <a:r>
              <a:rPr lang="en-US" sz="1100">
                <a:solidFill>
                  <a:srgbClr val="D8E4F5"/>
                </a:solidFill>
                <a:latin typeface="Consolas"/>
                <a:ea typeface="Consolas"/>
                <a:cs typeface="Consolas"/>
              </a:rPr>
              <a:t>  return res.status(403)...;</a:t>
            </a:r>
            <a:r>
              <a:rPr lang="en-US" sz="1100" i="1">
                <a:solidFill>
                  <a:srgbClr val="7D94B5"/>
                </a:solidFill>
                <a:latin typeface="Consolas"/>
                <a:ea typeface="Consolas"/>
                <a:cs typeface="Consolas"/>
              </a:rPr>
              <a:t> // signierte URL: 60s</a:t>
            </a:r>
            <a:endParaRPr lang="en-US" sz="1100"/>
          </a:p>
        </p:txBody>
      </p:sp>
      <p:sp>
        <p:nvSpPr>
          <p:cNvPr id="1460258778" name="Shape 8"/>
          <p:cNvSpPr/>
          <p:nvPr/>
        </p:nvSpPr>
        <p:spPr bwMode="auto">
          <a:xfrm>
            <a:off x="7452360" y="1783080"/>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64030006" name="Shape 9"/>
          <p:cNvSpPr/>
          <p:nvPr/>
        </p:nvSpPr>
        <p:spPr bwMode="auto">
          <a:xfrm>
            <a:off x="7671816" y="2020824"/>
            <a:ext cx="457200" cy="457200"/>
          </a:xfrm>
          <a:prstGeom prst="ellipse">
            <a:avLst/>
          </a:prstGeom>
          <a:solidFill>
            <a:srgbClr val="1B4F8F"/>
          </a:solidFill>
          <a:ln/>
        </p:spPr>
      </p:sp>
      <p:sp>
        <p:nvSpPr>
          <p:cNvPr id="1032473987" name="Text 10"/>
          <p:cNvSpPr/>
          <p:nvPr/>
        </p:nvSpPr>
        <p:spPr bwMode="auto">
          <a:xfrm>
            <a:off x="7671816" y="2020824"/>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1</a:t>
            </a:r>
            <a:endParaRPr lang="en-US" sz="1700"/>
          </a:p>
        </p:txBody>
      </p:sp>
      <p:sp>
        <p:nvSpPr>
          <p:cNvPr id="409468540" name="Text 11"/>
          <p:cNvSpPr/>
          <p:nvPr/>
        </p:nvSpPr>
        <p:spPr bwMode="auto">
          <a:xfrm>
            <a:off x="8293607" y="1965960"/>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Validierung auch im Backend</a:t>
            </a:r>
            <a:endParaRPr lang="en-US" sz="1450"/>
          </a:p>
        </p:txBody>
      </p:sp>
      <p:sp>
        <p:nvSpPr>
          <p:cNvPr id="1324496440" name="Text 12"/>
          <p:cNvSpPr/>
          <p:nvPr/>
        </p:nvSpPr>
        <p:spPr bwMode="auto">
          <a:xfrm>
            <a:off x="8293607" y="2331720"/>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Pflichtfeld- und Einrichtungs-Prüfung nicht nur in der UI — die Serverless Function prüft selbst.</a:t>
            </a:r>
            <a:endParaRPr lang="en-US" sz="1200"/>
          </a:p>
        </p:txBody>
      </p:sp>
      <p:sp>
        <p:nvSpPr>
          <p:cNvPr id="890804597" name="Shape 13"/>
          <p:cNvSpPr/>
          <p:nvPr/>
        </p:nvSpPr>
        <p:spPr bwMode="auto">
          <a:xfrm>
            <a:off x="7452360" y="3264408"/>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453394501" name="Shape 14"/>
          <p:cNvSpPr/>
          <p:nvPr/>
        </p:nvSpPr>
        <p:spPr bwMode="auto">
          <a:xfrm>
            <a:off x="7671816" y="3502152"/>
            <a:ext cx="457200" cy="457200"/>
          </a:xfrm>
          <a:prstGeom prst="ellipse">
            <a:avLst/>
          </a:prstGeom>
          <a:solidFill>
            <a:srgbClr val="1B4F8F"/>
          </a:solidFill>
          <a:ln/>
        </p:spPr>
      </p:sp>
      <p:sp>
        <p:nvSpPr>
          <p:cNvPr id="1665913089" name="Text 15"/>
          <p:cNvSpPr/>
          <p:nvPr/>
        </p:nvSpPr>
        <p:spPr bwMode="auto">
          <a:xfrm>
            <a:off x="7671816" y="3502152"/>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2</a:t>
            </a:r>
            <a:endParaRPr lang="en-US" sz="1700"/>
          </a:p>
        </p:txBody>
      </p:sp>
      <p:sp>
        <p:nvSpPr>
          <p:cNvPr id="1911869133" name="Text 16"/>
          <p:cNvSpPr/>
          <p:nvPr/>
        </p:nvSpPr>
        <p:spPr bwMode="auto">
          <a:xfrm>
            <a:off x="8293607" y="3447288"/>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Geheimnisse in Env-Vars</a:t>
            </a:r>
            <a:endParaRPr lang="en-US" sz="1450"/>
          </a:p>
        </p:txBody>
      </p:sp>
      <p:sp>
        <p:nvSpPr>
          <p:cNvPr id="1885848252" name="Text 17"/>
          <p:cNvSpPr/>
          <p:nvPr/>
        </p:nvSpPr>
        <p:spPr bwMode="auto">
          <a:xfrm>
            <a:off x="8293607" y="3813048"/>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Die zentrale Empfängeradresse &amp; Keys stehen nie im Frontend-Bundle, werden nie ans Tablet zurückgegeben.</a:t>
            </a:r>
            <a:endParaRPr lang="en-US" sz="1200"/>
          </a:p>
        </p:txBody>
      </p:sp>
      <p:sp>
        <p:nvSpPr>
          <p:cNvPr id="1832395362" name="Shape 18"/>
          <p:cNvSpPr/>
          <p:nvPr/>
        </p:nvSpPr>
        <p:spPr bwMode="auto">
          <a:xfrm>
            <a:off x="7452360" y="4745736"/>
            <a:ext cx="4206240" cy="1298448"/>
          </a:xfrm>
          <a:prstGeom prst="roundRect">
            <a:avLst>
              <a:gd name="adj" fmla="val 7042"/>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884601787" name="Shape 19"/>
          <p:cNvSpPr/>
          <p:nvPr/>
        </p:nvSpPr>
        <p:spPr bwMode="auto">
          <a:xfrm>
            <a:off x="7671816" y="4983480"/>
            <a:ext cx="457200" cy="457200"/>
          </a:xfrm>
          <a:prstGeom prst="ellipse">
            <a:avLst/>
          </a:prstGeom>
          <a:solidFill>
            <a:srgbClr val="1B4F8F"/>
          </a:solidFill>
          <a:ln/>
        </p:spPr>
      </p:sp>
      <p:sp>
        <p:nvSpPr>
          <p:cNvPr id="1027584641" name="Text 20"/>
          <p:cNvSpPr/>
          <p:nvPr/>
        </p:nvSpPr>
        <p:spPr bwMode="auto">
          <a:xfrm>
            <a:off x="7671816" y="4983480"/>
            <a:ext cx="457200" cy="45720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3</a:t>
            </a:r>
            <a:endParaRPr lang="en-US" sz="1700"/>
          </a:p>
        </p:txBody>
      </p:sp>
      <p:sp>
        <p:nvSpPr>
          <p:cNvPr id="2146066854" name="Text 21"/>
          <p:cNvSpPr/>
          <p:nvPr/>
        </p:nvSpPr>
        <p:spPr bwMode="auto">
          <a:xfrm>
            <a:off x="8293607" y="4928616"/>
            <a:ext cx="3154680" cy="365760"/>
          </a:xfrm>
          <a:prstGeom prst="rect">
            <a:avLst/>
          </a:prstGeom>
          <a:noFill/>
          <a:ln/>
        </p:spPr>
        <p:txBody>
          <a:bodyPr wrap="square" lIns="0" tIns="0" rIns="0" bIns="0" rtlCol="0" anchor="ctr"/>
          <a:lstStyle/>
          <a:p>
            <a:pPr marL="0" indent="0">
              <a:buNone/>
              <a:defRPr/>
            </a:pPr>
            <a:r>
              <a:rPr lang="en-US" sz="1450" b="1">
                <a:solidFill>
                  <a:srgbClr val="13233B"/>
                </a:solidFill>
                <a:latin typeface="Calibri"/>
                <a:ea typeface="Calibri"/>
                <a:cs typeface="Calibri"/>
              </a:rPr>
              <a:t>Ethik im Code</a:t>
            </a:r>
            <a:endParaRPr lang="en-US" sz="1450"/>
          </a:p>
        </p:txBody>
      </p:sp>
      <p:sp>
        <p:nvSpPr>
          <p:cNvPr id="1543595808" name="Text 22"/>
          <p:cNvSpPr/>
          <p:nvPr/>
        </p:nvSpPr>
        <p:spPr bwMode="auto">
          <a:xfrm>
            <a:off x="8293607" y="5294376"/>
            <a:ext cx="3154680" cy="640080"/>
          </a:xfrm>
          <a:prstGeom prst="rect">
            <a:avLst/>
          </a:prstGeom>
          <a:noFill/>
          <a:ln/>
        </p:spPr>
        <p:txBody>
          <a:bodyPr wrap="square" lIns="0" tIns="0" rIns="0" bIns="0" rtlCol="0" anchor="t"/>
          <a:lstStyle/>
          <a:p>
            <a:pPr marL="0" indent="0">
              <a:lnSpc>
                <a:spcPct val="102000"/>
              </a:lnSpc>
              <a:buNone/>
              <a:defRPr/>
            </a:pPr>
            <a:r>
              <a:rPr lang="en-US" sz="1200">
                <a:solidFill>
                  <a:srgbClr val="5A6B82"/>
                </a:solidFill>
                <a:latin typeface="Calibri"/>
                <a:ea typeface="Calibri"/>
                <a:cs typeface="Calibri"/>
              </a:rPr>
              <a:t>Eine Stimme ist erkennbar. Bei „anonym“ bekommt nur die Leitung Audio-Zugriff — als kurzlebige signierte URL (60 s).</a:t>
            </a:r>
            <a:endParaRPr lang="en-US" sz="1200"/>
          </a:p>
        </p:txBody>
      </p:sp>
      <p:sp>
        <p:nvSpPr>
          <p:cNvPr id="242252251" name="Text 23"/>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410070761" name="Text 24"/>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5F8FC"/>
        </a:solidFill>
      </p:bgPr>
    </p:bg>
    <p:spTree>
      <p:nvGrpSpPr>
        <p:cNvPr id="1" name=""/>
        <p:cNvGrpSpPr/>
        <p:nvPr/>
      </p:nvGrpSpPr>
      <p:grpSpPr bwMode="auto">
        <a:xfrm>
          <a:off x="0" y="0"/>
          <a:ext cx="0" cy="0"/>
          <a:chOff x="0" y="0"/>
          <a:chExt cx="0" cy="0"/>
        </a:xfrm>
      </p:grpSpPr>
      <p:sp>
        <p:nvSpPr>
          <p:cNvPr id="520501558"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UMSETZUNG · SICHERHEIT</a:t>
            </a:r>
            <a:endParaRPr lang="en-US" sz="1250"/>
          </a:p>
        </p:txBody>
      </p:sp>
      <p:sp>
        <p:nvSpPr>
          <p:cNvPr id="1482736945"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Sicherheit, Datenschutz &amp; Ethik</a:t>
            </a:r>
            <a:endParaRPr lang="en-US" sz="3300"/>
          </a:p>
        </p:txBody>
      </p:sp>
      <p:sp>
        <p:nvSpPr>
          <p:cNvPr id="151361625" name="Shape 2"/>
          <p:cNvSpPr/>
          <p:nvPr/>
        </p:nvSpPr>
        <p:spPr bwMode="auto">
          <a:xfrm>
            <a:off x="566928" y="1737360"/>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032189539" name="Shape 3"/>
          <p:cNvSpPr/>
          <p:nvPr/>
        </p:nvSpPr>
        <p:spPr bwMode="auto">
          <a:xfrm>
            <a:off x="786384" y="1956816"/>
            <a:ext cx="530352" cy="530352"/>
          </a:xfrm>
          <a:prstGeom prst="ellipse">
            <a:avLst/>
          </a:prstGeom>
          <a:solidFill>
            <a:srgbClr val="1B4F8F"/>
          </a:solidFill>
          <a:ln/>
        </p:spPr>
      </p:sp>
      <p:pic>
        <p:nvPicPr>
          <p:cNvPr id="1854974092" name="Image 0" descr="preencoded.png"/>
          <p:cNvPicPr>
            <a:picLocks noChangeAspect="1"/>
          </p:cNvPicPr>
          <p:nvPr/>
        </p:nvPicPr>
        <p:blipFill rotWithShape="1">
          <a:blip r:embed="rId3"/>
          <a:stretch/>
        </p:blipFill>
        <p:spPr bwMode="auto">
          <a:xfrm>
            <a:off x="918972" y="2089404"/>
            <a:ext cx="265176" cy="265176"/>
          </a:xfrm>
          <a:prstGeom prst="rect">
            <a:avLst/>
          </a:prstGeom>
        </p:spPr>
      </p:pic>
      <p:sp>
        <p:nvSpPr>
          <p:cNvPr id="1311583211" name="Text 4"/>
          <p:cNvSpPr/>
          <p:nvPr/>
        </p:nvSpPr>
        <p:spPr bwMode="auto">
          <a:xfrm>
            <a:off x="1426464" y="1865376"/>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Verschlüsselung</a:t>
            </a:r>
            <a:endParaRPr lang="en-US" sz="1350"/>
          </a:p>
        </p:txBody>
      </p:sp>
      <p:sp>
        <p:nvSpPr>
          <p:cNvPr id="1102924587" name="Text 5"/>
          <p:cNvSpPr/>
          <p:nvPr/>
        </p:nvSpPr>
        <p:spPr bwMode="auto">
          <a:xfrm>
            <a:off x="1426464" y="2212848"/>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HTTPS/TLS bei Übertragung, verschlüsselte Festplatten im Ruhezustand.</a:t>
            </a:r>
            <a:endParaRPr lang="en-US" sz="1100"/>
          </a:p>
        </p:txBody>
      </p:sp>
      <p:sp>
        <p:nvSpPr>
          <p:cNvPr id="1672152479" name="Shape 6"/>
          <p:cNvSpPr/>
          <p:nvPr/>
        </p:nvSpPr>
        <p:spPr bwMode="auto">
          <a:xfrm>
            <a:off x="4370832" y="1737360"/>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311858527" name="Shape 7"/>
          <p:cNvSpPr/>
          <p:nvPr/>
        </p:nvSpPr>
        <p:spPr bwMode="auto">
          <a:xfrm>
            <a:off x="4590288" y="1956816"/>
            <a:ext cx="530352" cy="530352"/>
          </a:xfrm>
          <a:prstGeom prst="ellipse">
            <a:avLst/>
          </a:prstGeom>
          <a:solidFill>
            <a:srgbClr val="B9770A"/>
          </a:solidFill>
          <a:ln/>
        </p:spPr>
      </p:sp>
      <p:pic>
        <p:nvPicPr>
          <p:cNvPr id="568726234" name="Image 1" descr="preencoded.png"/>
          <p:cNvPicPr>
            <a:picLocks noChangeAspect="1"/>
          </p:cNvPicPr>
          <p:nvPr/>
        </p:nvPicPr>
        <p:blipFill rotWithShape="1">
          <a:blip r:embed="rId4"/>
          <a:stretch/>
        </p:blipFill>
        <p:spPr bwMode="auto">
          <a:xfrm>
            <a:off x="4722876" y="2089404"/>
            <a:ext cx="265176" cy="265176"/>
          </a:xfrm>
          <a:prstGeom prst="rect">
            <a:avLst/>
          </a:prstGeom>
        </p:spPr>
      </p:pic>
      <p:sp>
        <p:nvSpPr>
          <p:cNvPr id="1328706396" name="Text 8"/>
          <p:cNvSpPr/>
          <p:nvPr/>
        </p:nvSpPr>
        <p:spPr bwMode="auto">
          <a:xfrm>
            <a:off x="5230368" y="1865376"/>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Passwort-Hashing</a:t>
            </a:r>
            <a:endParaRPr lang="en-US" sz="1350"/>
          </a:p>
        </p:txBody>
      </p:sp>
      <p:sp>
        <p:nvSpPr>
          <p:cNvPr id="330366813" name="Text 9"/>
          <p:cNvSpPr/>
          <p:nvPr/>
        </p:nvSpPr>
        <p:spPr bwMode="auto">
          <a:xfrm>
            <a:off x="5230368" y="2212848"/>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Supabase Auth (bcrypt) — nie Klartext-Passwörter.</a:t>
            </a:r>
            <a:endParaRPr lang="en-US" sz="1100"/>
          </a:p>
        </p:txBody>
      </p:sp>
      <p:sp>
        <p:nvSpPr>
          <p:cNvPr id="89413932" name="Shape 10"/>
          <p:cNvSpPr/>
          <p:nvPr/>
        </p:nvSpPr>
        <p:spPr bwMode="auto">
          <a:xfrm>
            <a:off x="8174736" y="1737360"/>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90049382" name="Shape 11"/>
          <p:cNvSpPr/>
          <p:nvPr/>
        </p:nvSpPr>
        <p:spPr bwMode="auto">
          <a:xfrm>
            <a:off x="8394192" y="1956816"/>
            <a:ext cx="530352" cy="530352"/>
          </a:xfrm>
          <a:prstGeom prst="ellipse">
            <a:avLst/>
          </a:prstGeom>
          <a:solidFill>
            <a:srgbClr val="2E8B57"/>
          </a:solidFill>
          <a:ln/>
        </p:spPr>
      </p:sp>
      <p:pic>
        <p:nvPicPr>
          <p:cNvPr id="191735915" name="Image 2" descr="preencoded.png"/>
          <p:cNvPicPr>
            <a:picLocks noChangeAspect="1"/>
          </p:cNvPicPr>
          <p:nvPr/>
        </p:nvPicPr>
        <p:blipFill rotWithShape="1">
          <a:blip r:embed="rId5"/>
          <a:stretch/>
        </p:blipFill>
        <p:spPr bwMode="auto">
          <a:xfrm>
            <a:off x="8526780" y="2089404"/>
            <a:ext cx="265176" cy="265176"/>
          </a:xfrm>
          <a:prstGeom prst="rect">
            <a:avLst/>
          </a:prstGeom>
        </p:spPr>
      </p:pic>
      <p:sp>
        <p:nvSpPr>
          <p:cNvPr id="304328160" name="Text 12"/>
          <p:cNvSpPr/>
          <p:nvPr/>
        </p:nvSpPr>
        <p:spPr bwMode="auto">
          <a:xfrm>
            <a:off x="9034272" y="1865376"/>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Row-Level-Security</a:t>
            </a:r>
            <a:endParaRPr lang="en-US" sz="1350"/>
          </a:p>
        </p:txBody>
      </p:sp>
      <p:sp>
        <p:nvSpPr>
          <p:cNvPr id="335650304" name="Text 13"/>
          <p:cNvSpPr/>
          <p:nvPr/>
        </p:nvSpPr>
        <p:spPr bwMode="auto">
          <a:xfrm>
            <a:off x="9034272" y="2212848"/>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anon nur Insert, Personal nur eigene Einrichtung, kein Delete.</a:t>
            </a:r>
            <a:endParaRPr lang="en-US" sz="1100"/>
          </a:p>
        </p:txBody>
      </p:sp>
      <p:sp>
        <p:nvSpPr>
          <p:cNvPr id="1364348205" name="Shape 14"/>
          <p:cNvSpPr/>
          <p:nvPr/>
        </p:nvSpPr>
        <p:spPr bwMode="auto">
          <a:xfrm>
            <a:off x="566928" y="3054096"/>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710932891" name="Shape 15"/>
          <p:cNvSpPr/>
          <p:nvPr/>
        </p:nvSpPr>
        <p:spPr bwMode="auto">
          <a:xfrm>
            <a:off x="786384" y="3273552"/>
            <a:ext cx="530352" cy="530352"/>
          </a:xfrm>
          <a:prstGeom prst="ellipse">
            <a:avLst/>
          </a:prstGeom>
          <a:solidFill>
            <a:srgbClr val="2563C9"/>
          </a:solidFill>
          <a:ln/>
        </p:spPr>
      </p:sp>
      <p:pic>
        <p:nvPicPr>
          <p:cNvPr id="1883637346" name="Image 3" descr="preencoded.png"/>
          <p:cNvPicPr>
            <a:picLocks noChangeAspect="1"/>
          </p:cNvPicPr>
          <p:nvPr/>
        </p:nvPicPr>
        <p:blipFill rotWithShape="1">
          <a:blip r:embed="rId6"/>
          <a:stretch/>
        </p:blipFill>
        <p:spPr bwMode="auto">
          <a:xfrm>
            <a:off x="918972" y="3406140"/>
            <a:ext cx="265176" cy="265176"/>
          </a:xfrm>
          <a:prstGeom prst="rect">
            <a:avLst/>
          </a:prstGeom>
        </p:spPr>
      </p:pic>
      <p:sp>
        <p:nvSpPr>
          <p:cNvPr id="220674129" name="Text 16"/>
          <p:cNvSpPr/>
          <p:nvPr/>
        </p:nvSpPr>
        <p:spPr bwMode="auto">
          <a:xfrm>
            <a:off x="1426464" y="3182112"/>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Geheimnisse</a:t>
            </a:r>
            <a:endParaRPr lang="en-US" sz="1350"/>
          </a:p>
        </p:txBody>
      </p:sp>
      <p:sp>
        <p:nvSpPr>
          <p:cNvPr id="1356605949" name="Text 17"/>
          <p:cNvSpPr/>
          <p:nvPr/>
        </p:nvSpPr>
        <p:spPr bwMode="auto">
          <a:xfrm>
            <a:off x="1426464" y="3529584"/>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API-Keys &amp; Mailadresse nur in Env-Vars, nie im Frontend.</a:t>
            </a:r>
            <a:endParaRPr lang="en-US" sz="1100"/>
          </a:p>
        </p:txBody>
      </p:sp>
      <p:sp>
        <p:nvSpPr>
          <p:cNvPr id="2090232015" name="Shape 18"/>
          <p:cNvSpPr/>
          <p:nvPr/>
        </p:nvSpPr>
        <p:spPr bwMode="auto">
          <a:xfrm>
            <a:off x="4370832" y="3054096"/>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85160066" name="Shape 19"/>
          <p:cNvSpPr/>
          <p:nvPr/>
        </p:nvSpPr>
        <p:spPr bwMode="auto">
          <a:xfrm>
            <a:off x="4590288" y="3273552"/>
            <a:ext cx="530352" cy="530352"/>
          </a:xfrm>
          <a:prstGeom prst="ellipse">
            <a:avLst/>
          </a:prstGeom>
          <a:solidFill>
            <a:srgbClr val="6B5BD2"/>
          </a:solidFill>
          <a:ln/>
        </p:spPr>
      </p:sp>
      <p:pic>
        <p:nvPicPr>
          <p:cNvPr id="333839291" name="Image 4" descr="preencoded.png"/>
          <p:cNvPicPr>
            <a:picLocks noChangeAspect="1"/>
          </p:cNvPicPr>
          <p:nvPr/>
        </p:nvPicPr>
        <p:blipFill rotWithShape="1">
          <a:blip r:embed="rId7"/>
          <a:stretch/>
        </p:blipFill>
        <p:spPr bwMode="auto">
          <a:xfrm>
            <a:off x="4722876" y="3406140"/>
            <a:ext cx="265176" cy="265176"/>
          </a:xfrm>
          <a:prstGeom prst="rect">
            <a:avLst/>
          </a:prstGeom>
        </p:spPr>
      </p:pic>
      <p:sp>
        <p:nvSpPr>
          <p:cNvPr id="1101665984" name="Text 20"/>
          <p:cNvSpPr/>
          <p:nvPr/>
        </p:nvSpPr>
        <p:spPr bwMode="auto">
          <a:xfrm>
            <a:off x="5230368" y="3182112"/>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Server-Validierung</a:t>
            </a:r>
            <a:endParaRPr lang="en-US" sz="1350"/>
          </a:p>
        </p:txBody>
      </p:sp>
      <p:sp>
        <p:nvSpPr>
          <p:cNvPr id="224873656" name="Text 21"/>
          <p:cNvSpPr/>
          <p:nvPr/>
        </p:nvSpPr>
        <p:spPr bwMode="auto">
          <a:xfrm>
            <a:off x="5230368" y="3529584"/>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Pflichtfeld- &amp; Slug-Prüfung zusätzlich im Backend.</a:t>
            </a:r>
            <a:endParaRPr lang="en-US" sz="1100"/>
          </a:p>
        </p:txBody>
      </p:sp>
      <p:sp>
        <p:nvSpPr>
          <p:cNvPr id="698828955" name="Shape 22"/>
          <p:cNvSpPr/>
          <p:nvPr/>
        </p:nvSpPr>
        <p:spPr bwMode="auto">
          <a:xfrm>
            <a:off x="8174736" y="3054096"/>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56487807" name="Shape 23"/>
          <p:cNvSpPr/>
          <p:nvPr/>
        </p:nvSpPr>
        <p:spPr bwMode="auto">
          <a:xfrm>
            <a:off x="8394192" y="3273552"/>
            <a:ext cx="530352" cy="530352"/>
          </a:xfrm>
          <a:prstGeom prst="ellipse">
            <a:avLst/>
          </a:prstGeom>
          <a:solidFill>
            <a:srgbClr val="0E7C86"/>
          </a:solidFill>
          <a:ln/>
        </p:spPr>
      </p:sp>
      <p:pic>
        <p:nvPicPr>
          <p:cNvPr id="1400478754" name="Image 5" descr="preencoded.png"/>
          <p:cNvPicPr>
            <a:picLocks noChangeAspect="1"/>
          </p:cNvPicPr>
          <p:nvPr/>
        </p:nvPicPr>
        <p:blipFill rotWithShape="1">
          <a:blip r:embed="rId8"/>
          <a:stretch/>
        </p:blipFill>
        <p:spPr bwMode="auto">
          <a:xfrm>
            <a:off x="8526780" y="3406140"/>
            <a:ext cx="265176" cy="265176"/>
          </a:xfrm>
          <a:prstGeom prst="rect">
            <a:avLst/>
          </a:prstGeom>
        </p:spPr>
      </p:pic>
      <p:sp>
        <p:nvSpPr>
          <p:cNvPr id="1204246884" name="Text 24"/>
          <p:cNvSpPr/>
          <p:nvPr/>
        </p:nvSpPr>
        <p:spPr bwMode="auto">
          <a:xfrm>
            <a:off x="9034272" y="3182112"/>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Privater Audio-Storage</a:t>
            </a:r>
            <a:endParaRPr lang="en-US" sz="1350"/>
          </a:p>
        </p:txBody>
      </p:sp>
      <p:sp>
        <p:nvSpPr>
          <p:cNvPr id="481309509" name="Text 25"/>
          <p:cNvSpPr/>
          <p:nvPr/>
        </p:nvSpPr>
        <p:spPr bwMode="auto">
          <a:xfrm>
            <a:off x="9034272" y="3529584"/>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Kein Public-Zugriff; Wiedergabe nur über signierte URLs.</a:t>
            </a:r>
            <a:endParaRPr lang="en-US" sz="1100"/>
          </a:p>
        </p:txBody>
      </p:sp>
      <p:sp>
        <p:nvSpPr>
          <p:cNvPr id="252378792" name="Shape 26"/>
          <p:cNvSpPr/>
          <p:nvPr/>
        </p:nvSpPr>
        <p:spPr bwMode="auto">
          <a:xfrm>
            <a:off x="566928" y="4370832"/>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079803233" name="Shape 27"/>
          <p:cNvSpPr/>
          <p:nvPr/>
        </p:nvSpPr>
        <p:spPr bwMode="auto">
          <a:xfrm>
            <a:off x="786384" y="4590288"/>
            <a:ext cx="530352" cy="530352"/>
          </a:xfrm>
          <a:prstGeom prst="ellipse">
            <a:avLst/>
          </a:prstGeom>
          <a:solidFill>
            <a:srgbClr val="5A6B82"/>
          </a:solidFill>
          <a:ln/>
        </p:spPr>
      </p:sp>
      <p:pic>
        <p:nvPicPr>
          <p:cNvPr id="886382558" name="Image 6" descr="preencoded.png"/>
          <p:cNvPicPr>
            <a:picLocks noChangeAspect="1"/>
          </p:cNvPicPr>
          <p:nvPr/>
        </p:nvPicPr>
        <p:blipFill rotWithShape="1">
          <a:blip r:embed="rId9"/>
          <a:stretch/>
        </p:blipFill>
        <p:spPr bwMode="auto">
          <a:xfrm>
            <a:off x="918972" y="4722876"/>
            <a:ext cx="265176" cy="265176"/>
          </a:xfrm>
          <a:prstGeom prst="rect">
            <a:avLst/>
          </a:prstGeom>
        </p:spPr>
      </p:pic>
      <p:sp>
        <p:nvSpPr>
          <p:cNvPr id="223371595" name="Text 28"/>
          <p:cNvSpPr/>
          <p:nvPr/>
        </p:nvSpPr>
        <p:spPr bwMode="auto">
          <a:xfrm>
            <a:off x="1426464" y="4498848"/>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Datenminimierung</a:t>
            </a:r>
            <a:endParaRPr lang="en-US" sz="1350"/>
          </a:p>
        </p:txBody>
      </p:sp>
      <p:sp>
        <p:nvSpPr>
          <p:cNvPr id="1192945110" name="Text 29"/>
          <p:cNvSpPr/>
          <p:nvPr/>
        </p:nvSpPr>
        <p:spPr bwMode="auto">
          <a:xfrm>
            <a:off x="1426464" y="4846320"/>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Keine IP-Adressen oder Geräte-Kennungen gespeichert.</a:t>
            </a:r>
            <a:endParaRPr lang="en-US" sz="1100"/>
          </a:p>
        </p:txBody>
      </p:sp>
      <p:sp>
        <p:nvSpPr>
          <p:cNvPr id="1324504685" name="Shape 30"/>
          <p:cNvSpPr/>
          <p:nvPr/>
        </p:nvSpPr>
        <p:spPr bwMode="auto">
          <a:xfrm>
            <a:off x="4370832" y="4370832"/>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713528896" name="Shape 31"/>
          <p:cNvSpPr/>
          <p:nvPr/>
        </p:nvSpPr>
        <p:spPr bwMode="auto">
          <a:xfrm>
            <a:off x="4590288" y="4590288"/>
            <a:ext cx="530352" cy="530352"/>
          </a:xfrm>
          <a:prstGeom prst="ellipse">
            <a:avLst/>
          </a:prstGeom>
          <a:solidFill>
            <a:srgbClr val="D22F3A"/>
          </a:solidFill>
          <a:ln/>
        </p:spPr>
      </p:sp>
      <p:pic>
        <p:nvPicPr>
          <p:cNvPr id="1705400893" name="Image 7" descr="preencoded.png"/>
          <p:cNvPicPr>
            <a:picLocks noChangeAspect="1"/>
          </p:cNvPicPr>
          <p:nvPr/>
        </p:nvPicPr>
        <p:blipFill rotWithShape="1">
          <a:blip r:embed="rId10"/>
          <a:stretch/>
        </p:blipFill>
        <p:spPr bwMode="auto">
          <a:xfrm>
            <a:off x="4722876" y="4722876"/>
            <a:ext cx="265176" cy="265176"/>
          </a:xfrm>
          <a:prstGeom prst="rect">
            <a:avLst/>
          </a:prstGeom>
        </p:spPr>
      </p:pic>
      <p:sp>
        <p:nvSpPr>
          <p:cNvPr id="1239755459" name="Text 32"/>
          <p:cNvSpPr/>
          <p:nvPr/>
        </p:nvSpPr>
        <p:spPr bwMode="auto">
          <a:xfrm>
            <a:off x="5230368" y="4498848"/>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Anonymität &amp; Stimme</a:t>
            </a:r>
            <a:endParaRPr lang="en-US" sz="1350"/>
          </a:p>
        </p:txBody>
      </p:sp>
      <p:sp>
        <p:nvSpPr>
          <p:cNvPr id="1455318063" name="Text 33"/>
          <p:cNvSpPr/>
          <p:nvPr/>
        </p:nvSpPr>
        <p:spPr bwMode="auto">
          <a:xfrm>
            <a:off x="5230368" y="4846320"/>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Anonyme Aufnahmen nur für die Leitung zugänglich.</a:t>
            </a:r>
            <a:endParaRPr lang="en-US" sz="1100"/>
          </a:p>
        </p:txBody>
      </p:sp>
      <p:sp>
        <p:nvSpPr>
          <p:cNvPr id="1849844466" name="Shape 34"/>
          <p:cNvSpPr/>
          <p:nvPr/>
        </p:nvSpPr>
        <p:spPr bwMode="auto">
          <a:xfrm>
            <a:off x="8174736" y="4370832"/>
            <a:ext cx="3639312"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59554752" name="Shape 35"/>
          <p:cNvSpPr/>
          <p:nvPr/>
        </p:nvSpPr>
        <p:spPr bwMode="auto">
          <a:xfrm>
            <a:off x="8394192" y="4590288"/>
            <a:ext cx="530352" cy="530352"/>
          </a:xfrm>
          <a:prstGeom prst="ellipse">
            <a:avLst/>
          </a:prstGeom>
          <a:solidFill>
            <a:srgbClr val="1E6B44"/>
          </a:solidFill>
          <a:ln/>
        </p:spPr>
      </p:sp>
      <p:pic>
        <p:nvPicPr>
          <p:cNvPr id="590716492" name="Image 8" descr="preencoded.png"/>
          <p:cNvPicPr>
            <a:picLocks noChangeAspect="1"/>
          </p:cNvPicPr>
          <p:nvPr/>
        </p:nvPicPr>
        <p:blipFill rotWithShape="1">
          <a:blip r:embed="rId11"/>
          <a:stretch/>
        </p:blipFill>
        <p:spPr bwMode="auto">
          <a:xfrm>
            <a:off x="8526780" y="4722876"/>
            <a:ext cx="265176" cy="265176"/>
          </a:xfrm>
          <a:prstGeom prst="rect">
            <a:avLst/>
          </a:prstGeom>
        </p:spPr>
      </p:pic>
      <p:sp>
        <p:nvSpPr>
          <p:cNvPr id="823674008" name="Text 36"/>
          <p:cNvSpPr/>
          <p:nvPr/>
        </p:nvSpPr>
        <p:spPr bwMode="auto">
          <a:xfrm>
            <a:off x="9034272" y="4498848"/>
            <a:ext cx="2633472" cy="365760"/>
          </a:xfrm>
          <a:prstGeom prst="rect">
            <a:avLst/>
          </a:prstGeom>
          <a:noFill/>
          <a:ln/>
        </p:spPr>
        <p:txBody>
          <a:bodyPr wrap="square" lIns="0" tIns="0" rIns="0" bIns="0" rtlCol="0" anchor="ctr"/>
          <a:lstStyle/>
          <a:p>
            <a:pPr marL="0" indent="0">
              <a:buNone/>
              <a:defRPr/>
            </a:pPr>
            <a:r>
              <a:rPr lang="en-US" sz="1350" b="1">
                <a:solidFill>
                  <a:srgbClr val="13233B"/>
                </a:solidFill>
                <a:latin typeface="Calibri"/>
                <a:ea typeface="Calibri"/>
                <a:cs typeface="Calibri"/>
              </a:rPr>
              <a:t>EU-Hosting</a:t>
            </a:r>
            <a:endParaRPr lang="en-US" sz="1350"/>
          </a:p>
        </p:txBody>
      </p:sp>
      <p:sp>
        <p:nvSpPr>
          <p:cNvPr id="1217917752" name="Text 37"/>
          <p:cNvSpPr/>
          <p:nvPr/>
        </p:nvSpPr>
        <p:spPr bwMode="auto">
          <a:xfrm>
            <a:off x="9034272" y="4846320"/>
            <a:ext cx="2633472" cy="603504"/>
          </a:xfrm>
          <a:prstGeom prst="rect">
            <a:avLst/>
          </a:prstGeom>
          <a:noFill/>
          <a:ln/>
        </p:spPr>
        <p:txBody>
          <a:bodyPr wrap="square" lIns="0" tIns="0" rIns="0" bIns="0" rtlCol="0" anchor="t"/>
          <a:lstStyle/>
          <a:p>
            <a:pPr marL="0" indent="0">
              <a:lnSpc>
                <a:spcPct val="102000"/>
              </a:lnSpc>
              <a:buNone/>
              <a:defRPr/>
            </a:pPr>
            <a:r>
              <a:rPr lang="en-US" sz="1100">
                <a:solidFill>
                  <a:srgbClr val="5A6B82"/>
                </a:solidFill>
                <a:latin typeface="Calibri"/>
                <a:ea typeface="Calibri"/>
                <a:cs typeface="Calibri"/>
              </a:rPr>
              <a:t>Supabase Frankfurt, EU-Mailanbieter Resend.</a:t>
            </a:r>
            <a:endParaRPr lang="en-US" sz="1100"/>
          </a:p>
        </p:txBody>
      </p:sp>
      <p:sp>
        <p:nvSpPr>
          <p:cNvPr id="1436782294" name="Shape 38"/>
          <p:cNvSpPr/>
          <p:nvPr/>
        </p:nvSpPr>
        <p:spPr bwMode="auto">
          <a:xfrm>
            <a:off x="566928" y="5705856"/>
            <a:ext cx="11064240" cy="603504"/>
          </a:xfrm>
          <a:prstGeom prst="roundRect">
            <a:avLst>
              <a:gd name="adj" fmla="val 15152"/>
            </a:avLst>
          </a:prstGeom>
          <a:solidFill>
            <a:srgbClr val="0F2E58"/>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326815841" name="Shape 39"/>
          <p:cNvSpPr/>
          <p:nvPr/>
        </p:nvSpPr>
        <p:spPr bwMode="auto">
          <a:xfrm>
            <a:off x="896112" y="5806440"/>
            <a:ext cx="402336" cy="402336"/>
          </a:xfrm>
          <a:prstGeom prst="ellipse">
            <a:avLst/>
          </a:prstGeom>
          <a:solidFill>
            <a:srgbClr val="F59E0B"/>
          </a:solidFill>
          <a:ln/>
        </p:spPr>
      </p:sp>
      <p:pic>
        <p:nvPicPr>
          <p:cNvPr id="954056377" name="Image 9" descr="preencoded.png"/>
          <p:cNvPicPr>
            <a:picLocks noChangeAspect="1"/>
          </p:cNvPicPr>
          <p:nvPr/>
        </p:nvPicPr>
        <p:blipFill rotWithShape="1">
          <a:blip r:embed="rId12"/>
          <a:stretch/>
        </p:blipFill>
        <p:spPr bwMode="auto">
          <a:xfrm>
            <a:off x="996696" y="5907024"/>
            <a:ext cx="201168" cy="201168"/>
          </a:xfrm>
          <a:prstGeom prst="rect">
            <a:avLst/>
          </a:prstGeom>
        </p:spPr>
      </p:pic>
      <p:sp>
        <p:nvSpPr>
          <p:cNvPr id="838743576" name="Text 40"/>
          <p:cNvSpPr/>
          <p:nvPr/>
        </p:nvSpPr>
        <p:spPr bwMode="auto">
          <a:xfrm>
            <a:off x="1463040" y="5705856"/>
            <a:ext cx="10058400" cy="603504"/>
          </a:xfrm>
          <a:prstGeom prst="rect">
            <a:avLst/>
          </a:prstGeom>
          <a:noFill/>
          <a:ln/>
        </p:spPr>
        <p:txBody>
          <a:bodyPr wrap="square" lIns="0" tIns="0" rIns="0" bIns="0" rtlCol="0" anchor="ctr"/>
          <a:lstStyle/>
          <a:p>
            <a:pPr marL="0" indent="0">
              <a:buNone/>
              <a:defRPr/>
            </a:pPr>
            <a:r>
              <a:rPr lang="en-US" sz="1200" b="1">
                <a:solidFill>
                  <a:srgbClr val="FFFFFF"/>
                </a:solidFill>
                <a:latin typeface="Calibri"/>
                <a:ea typeface="Calibri"/>
                <a:cs typeface="Calibri"/>
              </a:rPr>
              <a:t>Löschkonzept:  </a:t>
            </a:r>
            <a:r>
              <a:rPr lang="en-US" sz="1200">
                <a:solidFill>
                  <a:srgbClr val="CFE0F5"/>
                </a:solidFill>
                <a:latin typeface="Calibri"/>
                <a:ea typeface="Calibri"/>
                <a:cs typeface="Calibri"/>
              </a:rPr>
              <a:t>Beschwerden max. 12 Monate nach Bearbeitung aufbewahrt, anonyme Aufnahmen direkt danach gelöscht (im Prototyp als Konzept festgehalten).</a:t>
            </a:r>
            <a:endParaRPr lang="en-US" sz="1200"/>
          </a:p>
        </p:txBody>
      </p:sp>
      <p:sp>
        <p:nvSpPr>
          <p:cNvPr id="1122546762" name="Text 41"/>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191760587" name="Text 42"/>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5F8FC"/>
        </a:solidFill>
      </p:bgPr>
    </p:bg>
    <p:spTree>
      <p:nvGrpSpPr>
        <p:cNvPr id="1" name=""/>
        <p:cNvGrpSpPr/>
        <p:nvPr/>
      </p:nvGrpSpPr>
      <p:grpSpPr bwMode="auto">
        <a:xfrm>
          <a:off x="0" y="0"/>
          <a:ext cx="0" cy="0"/>
          <a:chOff x="0" y="0"/>
          <a:chExt cx="0" cy="0"/>
        </a:xfrm>
      </p:grpSpPr>
      <p:sp>
        <p:nvSpPr>
          <p:cNvPr id="787594774"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UMSETZUNG · STACK</a:t>
            </a:r>
            <a:endParaRPr lang="en-US" sz="1250"/>
          </a:p>
        </p:txBody>
      </p:sp>
      <p:sp>
        <p:nvSpPr>
          <p:cNvPr id="1762183105"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Verwendete Werkzeuge, Sprachen &amp; KI</a:t>
            </a:r>
            <a:endParaRPr lang="en-US" sz="3300"/>
          </a:p>
        </p:txBody>
      </p:sp>
      <p:sp>
        <p:nvSpPr>
          <p:cNvPr id="625877701" name="Shape 2"/>
          <p:cNvSpPr/>
          <p:nvPr/>
        </p:nvSpPr>
        <p:spPr bwMode="auto">
          <a:xfrm flipH="0" flipV="0">
            <a:off x="566927" y="1737360"/>
            <a:ext cx="3584448" cy="3790541"/>
          </a:xfrm>
          <a:prstGeom prst="roundRect">
            <a:avLst>
              <a:gd name="adj" fmla="val 32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73253914" name="Shape 3"/>
          <p:cNvSpPr/>
          <p:nvPr/>
        </p:nvSpPr>
        <p:spPr bwMode="auto">
          <a:xfrm>
            <a:off x="877824" y="2029968"/>
            <a:ext cx="640080" cy="640080"/>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139117943" name="Image 0" descr="preencoded.png"/>
          <p:cNvPicPr>
            <a:picLocks noChangeAspect="1"/>
          </p:cNvPicPr>
          <p:nvPr/>
        </p:nvPicPr>
        <p:blipFill rotWithShape="1">
          <a:blip r:embed="rId3"/>
          <a:stretch/>
        </p:blipFill>
        <p:spPr bwMode="auto">
          <a:xfrm>
            <a:off x="1037844" y="2189988"/>
            <a:ext cx="320040" cy="320040"/>
          </a:xfrm>
          <a:prstGeom prst="rect">
            <a:avLst/>
          </a:prstGeom>
        </p:spPr>
      </p:pic>
      <p:sp>
        <p:nvSpPr>
          <p:cNvPr id="1842943764" name="Text 4"/>
          <p:cNvSpPr/>
          <p:nvPr/>
        </p:nvSpPr>
        <p:spPr bwMode="auto">
          <a:xfrm>
            <a:off x="1664208" y="2029968"/>
            <a:ext cx="2304288" cy="640080"/>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Frontend</a:t>
            </a:r>
            <a:endParaRPr lang="en-US" sz="1650"/>
          </a:p>
        </p:txBody>
      </p:sp>
      <p:sp>
        <p:nvSpPr>
          <p:cNvPr id="1258298685" name="Shape 5"/>
          <p:cNvSpPr/>
          <p:nvPr/>
        </p:nvSpPr>
        <p:spPr bwMode="auto">
          <a:xfrm>
            <a:off x="877824" y="2880360"/>
            <a:ext cx="2962656" cy="365760"/>
          </a:xfrm>
          <a:prstGeom prst="roundRect">
            <a:avLst>
              <a:gd name="adj" fmla="val 50000"/>
            </a:avLst>
          </a:prstGeom>
          <a:solidFill>
            <a:srgbClr val="F5F8FC"/>
          </a:solidFill>
          <a:ln w="12700">
            <a:solidFill>
              <a:srgbClr val="E1E8F1"/>
            </a:solidFill>
            <a:prstDash val="solid"/>
          </a:ln>
        </p:spPr>
      </p:sp>
      <p:sp>
        <p:nvSpPr>
          <p:cNvPr id="60429703" name="Text 6"/>
          <p:cNvSpPr/>
          <p:nvPr/>
        </p:nvSpPr>
        <p:spPr bwMode="auto">
          <a:xfrm>
            <a:off x="1060704" y="288036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TypeScript</a:t>
            </a:r>
            <a:endParaRPr lang="en-US" sz="1150"/>
          </a:p>
        </p:txBody>
      </p:sp>
      <p:sp>
        <p:nvSpPr>
          <p:cNvPr id="942520650" name="Shape 7"/>
          <p:cNvSpPr/>
          <p:nvPr/>
        </p:nvSpPr>
        <p:spPr bwMode="auto">
          <a:xfrm>
            <a:off x="877824" y="3314700"/>
            <a:ext cx="2962656" cy="365760"/>
          </a:xfrm>
          <a:prstGeom prst="roundRect">
            <a:avLst>
              <a:gd name="adj" fmla="val 50000"/>
            </a:avLst>
          </a:prstGeom>
          <a:solidFill>
            <a:srgbClr val="F5F8FC"/>
          </a:solidFill>
          <a:ln w="12700">
            <a:solidFill>
              <a:srgbClr val="E1E8F1"/>
            </a:solidFill>
            <a:prstDash val="solid"/>
          </a:ln>
        </p:spPr>
      </p:sp>
      <p:sp>
        <p:nvSpPr>
          <p:cNvPr id="631923206" name="Text 8"/>
          <p:cNvSpPr/>
          <p:nvPr/>
        </p:nvSpPr>
        <p:spPr bwMode="auto">
          <a:xfrm>
            <a:off x="1060704" y="331470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React + Vite</a:t>
            </a:r>
            <a:endParaRPr lang="en-US" sz="1150"/>
          </a:p>
        </p:txBody>
      </p:sp>
      <p:sp>
        <p:nvSpPr>
          <p:cNvPr id="1059456087" name="Shape 9"/>
          <p:cNvSpPr/>
          <p:nvPr/>
        </p:nvSpPr>
        <p:spPr bwMode="auto">
          <a:xfrm>
            <a:off x="877824" y="3749040"/>
            <a:ext cx="2962656" cy="365760"/>
          </a:xfrm>
          <a:prstGeom prst="roundRect">
            <a:avLst>
              <a:gd name="adj" fmla="val 50000"/>
            </a:avLst>
          </a:prstGeom>
          <a:solidFill>
            <a:srgbClr val="F5F8FC"/>
          </a:solidFill>
          <a:ln w="12700">
            <a:solidFill>
              <a:srgbClr val="E1E8F1"/>
            </a:solidFill>
            <a:prstDash val="solid"/>
          </a:ln>
        </p:spPr>
      </p:sp>
      <p:sp>
        <p:nvSpPr>
          <p:cNvPr id="787688810" name="Text 10"/>
          <p:cNvSpPr/>
          <p:nvPr/>
        </p:nvSpPr>
        <p:spPr bwMode="auto">
          <a:xfrm>
            <a:off x="1060704" y="374904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Tailwind CSS v4</a:t>
            </a:r>
            <a:endParaRPr lang="en-US" sz="1150"/>
          </a:p>
        </p:txBody>
      </p:sp>
      <p:sp>
        <p:nvSpPr>
          <p:cNvPr id="1321746920" name="Shape 11"/>
          <p:cNvSpPr/>
          <p:nvPr/>
        </p:nvSpPr>
        <p:spPr bwMode="auto">
          <a:xfrm>
            <a:off x="877824" y="4183380"/>
            <a:ext cx="2962656" cy="365760"/>
          </a:xfrm>
          <a:prstGeom prst="roundRect">
            <a:avLst>
              <a:gd name="adj" fmla="val 50000"/>
            </a:avLst>
          </a:prstGeom>
          <a:solidFill>
            <a:srgbClr val="F5F8FC"/>
          </a:solidFill>
          <a:ln w="12700">
            <a:solidFill>
              <a:srgbClr val="E1E8F1"/>
            </a:solidFill>
            <a:prstDash val="solid"/>
          </a:ln>
        </p:spPr>
      </p:sp>
      <p:sp>
        <p:nvSpPr>
          <p:cNvPr id="544266328" name="Text 12"/>
          <p:cNvSpPr/>
          <p:nvPr/>
        </p:nvSpPr>
        <p:spPr bwMode="auto">
          <a:xfrm>
            <a:off x="1060704" y="418338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lucide-react</a:t>
            </a:r>
            <a:endParaRPr lang="en-US" sz="1150"/>
          </a:p>
        </p:txBody>
      </p:sp>
      <p:sp>
        <p:nvSpPr>
          <p:cNvPr id="2108973916" name="Shape 13"/>
          <p:cNvSpPr/>
          <p:nvPr/>
        </p:nvSpPr>
        <p:spPr bwMode="auto">
          <a:xfrm>
            <a:off x="877824" y="4617720"/>
            <a:ext cx="2962656" cy="365760"/>
          </a:xfrm>
          <a:prstGeom prst="roundRect">
            <a:avLst>
              <a:gd name="adj" fmla="val 50000"/>
            </a:avLst>
          </a:prstGeom>
          <a:solidFill>
            <a:srgbClr val="F5F8FC"/>
          </a:solidFill>
          <a:ln w="12700">
            <a:solidFill>
              <a:srgbClr val="E1E8F1"/>
            </a:solidFill>
            <a:prstDash val="solid"/>
          </a:ln>
        </p:spPr>
      </p:sp>
      <p:sp>
        <p:nvSpPr>
          <p:cNvPr id="969915284" name="Text 14"/>
          <p:cNvSpPr/>
          <p:nvPr/>
        </p:nvSpPr>
        <p:spPr bwMode="auto">
          <a:xfrm>
            <a:off x="1060704" y="461772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Zustand</a:t>
            </a:r>
            <a:endParaRPr lang="en-US" sz="1150"/>
          </a:p>
        </p:txBody>
      </p:sp>
      <p:sp>
        <p:nvSpPr>
          <p:cNvPr id="18302380" name="Shape 15"/>
          <p:cNvSpPr/>
          <p:nvPr/>
        </p:nvSpPr>
        <p:spPr bwMode="auto">
          <a:xfrm>
            <a:off x="877824" y="5052060"/>
            <a:ext cx="2962656" cy="365760"/>
          </a:xfrm>
          <a:prstGeom prst="roundRect">
            <a:avLst>
              <a:gd name="adj" fmla="val 50000"/>
            </a:avLst>
          </a:prstGeom>
          <a:solidFill>
            <a:srgbClr val="F5F8FC"/>
          </a:solidFill>
          <a:ln w="12700">
            <a:solidFill>
              <a:srgbClr val="E1E8F1"/>
            </a:solidFill>
            <a:prstDash val="solid"/>
          </a:ln>
        </p:spPr>
      </p:sp>
      <p:sp>
        <p:nvSpPr>
          <p:cNvPr id="1546097437" name="Text 16"/>
          <p:cNvSpPr/>
          <p:nvPr/>
        </p:nvSpPr>
        <p:spPr bwMode="auto">
          <a:xfrm>
            <a:off x="1060704" y="505206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MediaRecorder</a:t>
            </a:r>
            <a:endParaRPr lang="en-US" sz="1150"/>
          </a:p>
        </p:txBody>
      </p:sp>
      <p:sp>
        <p:nvSpPr>
          <p:cNvPr id="2002418949" name="Shape 17"/>
          <p:cNvSpPr/>
          <p:nvPr/>
        </p:nvSpPr>
        <p:spPr bwMode="auto">
          <a:xfrm>
            <a:off x="877824" y="5826578"/>
            <a:ext cx="2962656" cy="365760"/>
          </a:xfrm>
          <a:prstGeom prst="roundRect">
            <a:avLst>
              <a:gd name="adj" fmla="val 50000"/>
            </a:avLst>
          </a:prstGeom>
          <a:solidFill>
            <a:srgbClr val="F5F8FC"/>
          </a:solidFill>
          <a:ln w="12700">
            <a:solidFill>
              <a:srgbClr val="E1E8F1"/>
            </a:solidFill>
            <a:prstDash val="solid"/>
          </a:ln>
        </p:spPr>
      </p:sp>
      <p:sp>
        <p:nvSpPr>
          <p:cNvPr id="202861338" name="Text 18"/>
          <p:cNvSpPr/>
          <p:nvPr/>
        </p:nvSpPr>
        <p:spPr bwMode="auto">
          <a:xfrm>
            <a:off x="1060704" y="5826578"/>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Web Speech API</a:t>
            </a:r>
            <a:endParaRPr lang="en-US" sz="1150"/>
          </a:p>
        </p:txBody>
      </p:sp>
      <p:sp>
        <p:nvSpPr>
          <p:cNvPr id="1598279298" name="Shape 19"/>
          <p:cNvSpPr/>
          <p:nvPr/>
        </p:nvSpPr>
        <p:spPr bwMode="auto">
          <a:xfrm flipH="0" flipV="0">
            <a:off x="4352544" y="1737360"/>
            <a:ext cx="3584448" cy="3790541"/>
          </a:xfrm>
          <a:prstGeom prst="roundRect">
            <a:avLst>
              <a:gd name="adj" fmla="val 32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34529363" name="Shape 20"/>
          <p:cNvSpPr/>
          <p:nvPr/>
        </p:nvSpPr>
        <p:spPr bwMode="auto">
          <a:xfrm>
            <a:off x="4663440" y="2029968"/>
            <a:ext cx="640080" cy="640080"/>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1435249033" name="Image 1" descr="preencoded.png"/>
          <p:cNvPicPr>
            <a:picLocks noChangeAspect="1"/>
          </p:cNvPicPr>
          <p:nvPr/>
        </p:nvPicPr>
        <p:blipFill rotWithShape="1">
          <a:blip r:embed="rId4"/>
          <a:stretch/>
        </p:blipFill>
        <p:spPr bwMode="auto">
          <a:xfrm>
            <a:off x="4823460" y="2189988"/>
            <a:ext cx="320040" cy="320040"/>
          </a:xfrm>
          <a:prstGeom prst="rect">
            <a:avLst/>
          </a:prstGeom>
        </p:spPr>
      </p:pic>
      <p:sp>
        <p:nvSpPr>
          <p:cNvPr id="426935737" name="Text 21"/>
          <p:cNvSpPr/>
          <p:nvPr/>
        </p:nvSpPr>
        <p:spPr bwMode="auto">
          <a:xfrm>
            <a:off x="5449823" y="2029968"/>
            <a:ext cx="2304288" cy="640080"/>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KI &amp; Backend</a:t>
            </a:r>
            <a:endParaRPr lang="en-US" sz="1650"/>
          </a:p>
        </p:txBody>
      </p:sp>
      <p:sp>
        <p:nvSpPr>
          <p:cNvPr id="394542903" name="Shape 22"/>
          <p:cNvSpPr/>
          <p:nvPr/>
        </p:nvSpPr>
        <p:spPr bwMode="auto">
          <a:xfrm>
            <a:off x="4663440" y="2880360"/>
            <a:ext cx="2962656" cy="365760"/>
          </a:xfrm>
          <a:prstGeom prst="roundRect">
            <a:avLst>
              <a:gd name="adj" fmla="val 50000"/>
            </a:avLst>
          </a:prstGeom>
          <a:solidFill>
            <a:srgbClr val="F5F8FC"/>
          </a:solidFill>
          <a:ln w="12700">
            <a:solidFill>
              <a:srgbClr val="E1E8F1"/>
            </a:solidFill>
            <a:prstDash val="solid"/>
          </a:ln>
        </p:spPr>
      </p:sp>
      <p:sp>
        <p:nvSpPr>
          <p:cNvPr id="124737269" name="Text 23"/>
          <p:cNvSpPr/>
          <p:nvPr/>
        </p:nvSpPr>
        <p:spPr bwMode="auto">
          <a:xfrm>
            <a:off x="4846320" y="288036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Whisper (whisper-base)</a:t>
            </a:r>
            <a:endParaRPr lang="en-US" sz="1150"/>
          </a:p>
        </p:txBody>
      </p:sp>
      <p:sp>
        <p:nvSpPr>
          <p:cNvPr id="294441745" name="Shape 24"/>
          <p:cNvSpPr/>
          <p:nvPr/>
        </p:nvSpPr>
        <p:spPr bwMode="auto">
          <a:xfrm>
            <a:off x="4663440" y="3314700"/>
            <a:ext cx="2962656" cy="365760"/>
          </a:xfrm>
          <a:prstGeom prst="roundRect">
            <a:avLst>
              <a:gd name="adj" fmla="val 50000"/>
            </a:avLst>
          </a:prstGeom>
          <a:solidFill>
            <a:srgbClr val="F5F8FC"/>
          </a:solidFill>
          <a:ln w="12700">
            <a:solidFill>
              <a:srgbClr val="E1E8F1"/>
            </a:solidFill>
            <a:prstDash val="solid"/>
          </a:ln>
        </p:spPr>
      </p:sp>
      <p:sp>
        <p:nvSpPr>
          <p:cNvPr id="857321973" name="Text 25"/>
          <p:cNvSpPr/>
          <p:nvPr/>
        </p:nvSpPr>
        <p:spPr bwMode="auto">
          <a:xfrm>
            <a:off x="4846320" y="331470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Transformers.js</a:t>
            </a:r>
            <a:endParaRPr lang="en-US" sz="1150"/>
          </a:p>
        </p:txBody>
      </p:sp>
      <p:sp>
        <p:nvSpPr>
          <p:cNvPr id="1367206175" name="Shape 26"/>
          <p:cNvSpPr/>
          <p:nvPr/>
        </p:nvSpPr>
        <p:spPr bwMode="auto">
          <a:xfrm>
            <a:off x="4663440" y="3749040"/>
            <a:ext cx="2962656" cy="365760"/>
          </a:xfrm>
          <a:prstGeom prst="roundRect">
            <a:avLst>
              <a:gd name="adj" fmla="val 50000"/>
            </a:avLst>
          </a:prstGeom>
          <a:solidFill>
            <a:srgbClr val="F5F8FC"/>
          </a:solidFill>
          <a:ln w="12700">
            <a:solidFill>
              <a:srgbClr val="E1E8F1"/>
            </a:solidFill>
            <a:prstDash val="solid"/>
          </a:ln>
        </p:spPr>
      </p:sp>
      <p:sp>
        <p:nvSpPr>
          <p:cNvPr id="1247476953" name="Text 27"/>
          <p:cNvSpPr/>
          <p:nvPr/>
        </p:nvSpPr>
        <p:spPr bwMode="auto">
          <a:xfrm>
            <a:off x="4846320" y="374904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Vercel Serverless</a:t>
            </a:r>
            <a:endParaRPr lang="en-US" sz="1150"/>
          </a:p>
        </p:txBody>
      </p:sp>
      <p:sp>
        <p:nvSpPr>
          <p:cNvPr id="446001540" name="Shape 28"/>
          <p:cNvSpPr/>
          <p:nvPr/>
        </p:nvSpPr>
        <p:spPr bwMode="auto">
          <a:xfrm>
            <a:off x="4663440" y="4183380"/>
            <a:ext cx="2962656" cy="365760"/>
          </a:xfrm>
          <a:prstGeom prst="roundRect">
            <a:avLst>
              <a:gd name="adj" fmla="val 50000"/>
            </a:avLst>
          </a:prstGeom>
          <a:solidFill>
            <a:srgbClr val="F5F8FC"/>
          </a:solidFill>
          <a:ln w="12700">
            <a:solidFill>
              <a:srgbClr val="E1E8F1"/>
            </a:solidFill>
            <a:prstDash val="solid"/>
          </a:ln>
        </p:spPr>
      </p:sp>
      <p:sp>
        <p:nvSpPr>
          <p:cNvPr id="1137102488" name="Text 29"/>
          <p:cNvSpPr/>
          <p:nvPr/>
        </p:nvSpPr>
        <p:spPr bwMode="auto">
          <a:xfrm>
            <a:off x="4846320" y="418338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Node / TypeScript</a:t>
            </a:r>
            <a:endParaRPr lang="en-US" sz="1150"/>
          </a:p>
        </p:txBody>
      </p:sp>
      <p:sp>
        <p:nvSpPr>
          <p:cNvPr id="420776489" name="Shape 30"/>
          <p:cNvSpPr/>
          <p:nvPr/>
        </p:nvSpPr>
        <p:spPr bwMode="auto">
          <a:xfrm flipH="0" flipV="0">
            <a:off x="8138160" y="1737360"/>
            <a:ext cx="3584448" cy="3790541"/>
          </a:xfrm>
          <a:prstGeom prst="roundRect">
            <a:avLst>
              <a:gd name="adj" fmla="val 3200"/>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775405830" name="Shape 31"/>
          <p:cNvSpPr/>
          <p:nvPr/>
        </p:nvSpPr>
        <p:spPr bwMode="auto">
          <a:xfrm>
            <a:off x="8449056" y="2029968"/>
            <a:ext cx="640080" cy="640080"/>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1790530747" name="Image 2" descr="preencoded.png"/>
          <p:cNvPicPr>
            <a:picLocks noChangeAspect="1"/>
          </p:cNvPicPr>
          <p:nvPr/>
        </p:nvPicPr>
        <p:blipFill rotWithShape="1">
          <a:blip r:embed="rId5"/>
          <a:stretch/>
        </p:blipFill>
        <p:spPr bwMode="auto">
          <a:xfrm>
            <a:off x="8609076" y="2189988"/>
            <a:ext cx="320040" cy="320040"/>
          </a:xfrm>
          <a:prstGeom prst="rect">
            <a:avLst/>
          </a:prstGeom>
        </p:spPr>
      </p:pic>
      <p:sp>
        <p:nvSpPr>
          <p:cNvPr id="1609322486" name="Text 32"/>
          <p:cNvSpPr/>
          <p:nvPr/>
        </p:nvSpPr>
        <p:spPr bwMode="auto">
          <a:xfrm>
            <a:off x="9235440" y="2029968"/>
            <a:ext cx="2304288" cy="640080"/>
          </a:xfrm>
          <a:prstGeom prst="rect">
            <a:avLst/>
          </a:prstGeom>
          <a:noFill/>
          <a:ln/>
        </p:spPr>
        <p:txBody>
          <a:bodyPr wrap="square" lIns="0" tIns="0" rIns="0" bIns="0" rtlCol="0" anchor="ctr"/>
          <a:lstStyle/>
          <a:p>
            <a:pPr marL="0" indent="0">
              <a:buNone/>
              <a:defRPr/>
            </a:pPr>
            <a:r>
              <a:rPr lang="en-US" sz="1650" b="1">
                <a:solidFill>
                  <a:srgbClr val="13233B"/>
                </a:solidFill>
                <a:latin typeface="Calibri"/>
                <a:ea typeface="Calibri"/>
                <a:cs typeface="Calibri"/>
              </a:rPr>
              <a:t>Daten &amp; Infrastruktur</a:t>
            </a:r>
            <a:endParaRPr lang="en-US" sz="1650"/>
          </a:p>
        </p:txBody>
      </p:sp>
      <p:sp>
        <p:nvSpPr>
          <p:cNvPr id="1610265453" name="Shape 33"/>
          <p:cNvSpPr/>
          <p:nvPr/>
        </p:nvSpPr>
        <p:spPr bwMode="auto">
          <a:xfrm>
            <a:off x="8449056" y="2880360"/>
            <a:ext cx="2962656" cy="365760"/>
          </a:xfrm>
          <a:prstGeom prst="roundRect">
            <a:avLst>
              <a:gd name="adj" fmla="val 50000"/>
            </a:avLst>
          </a:prstGeom>
          <a:solidFill>
            <a:srgbClr val="F5F8FC"/>
          </a:solidFill>
          <a:ln w="12700">
            <a:solidFill>
              <a:srgbClr val="E1E8F1"/>
            </a:solidFill>
            <a:prstDash val="solid"/>
          </a:ln>
        </p:spPr>
      </p:sp>
      <p:sp>
        <p:nvSpPr>
          <p:cNvPr id="72692920" name="Text 34"/>
          <p:cNvSpPr/>
          <p:nvPr/>
        </p:nvSpPr>
        <p:spPr bwMode="auto">
          <a:xfrm>
            <a:off x="8631936" y="288036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Supabase (PostgreSQL)</a:t>
            </a:r>
            <a:endParaRPr lang="en-US" sz="1150"/>
          </a:p>
        </p:txBody>
      </p:sp>
      <p:sp>
        <p:nvSpPr>
          <p:cNvPr id="1768105832" name="Shape 35"/>
          <p:cNvSpPr/>
          <p:nvPr/>
        </p:nvSpPr>
        <p:spPr bwMode="auto">
          <a:xfrm>
            <a:off x="8449056" y="3314700"/>
            <a:ext cx="2962656" cy="365760"/>
          </a:xfrm>
          <a:prstGeom prst="roundRect">
            <a:avLst>
              <a:gd name="adj" fmla="val 50000"/>
            </a:avLst>
          </a:prstGeom>
          <a:solidFill>
            <a:srgbClr val="F5F8FC"/>
          </a:solidFill>
          <a:ln w="12700">
            <a:solidFill>
              <a:srgbClr val="E1E8F1"/>
            </a:solidFill>
            <a:prstDash val="solid"/>
          </a:ln>
        </p:spPr>
      </p:sp>
      <p:sp>
        <p:nvSpPr>
          <p:cNvPr id="1538560157" name="Text 36"/>
          <p:cNvSpPr/>
          <p:nvPr/>
        </p:nvSpPr>
        <p:spPr bwMode="auto">
          <a:xfrm>
            <a:off x="8631936" y="331470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Row-Level-Security</a:t>
            </a:r>
            <a:endParaRPr lang="en-US" sz="1150"/>
          </a:p>
        </p:txBody>
      </p:sp>
      <p:sp>
        <p:nvSpPr>
          <p:cNvPr id="1551210670" name="Shape 37"/>
          <p:cNvSpPr/>
          <p:nvPr/>
        </p:nvSpPr>
        <p:spPr bwMode="auto">
          <a:xfrm>
            <a:off x="8449056" y="3749040"/>
            <a:ext cx="2962656" cy="365760"/>
          </a:xfrm>
          <a:prstGeom prst="roundRect">
            <a:avLst>
              <a:gd name="adj" fmla="val 50000"/>
            </a:avLst>
          </a:prstGeom>
          <a:solidFill>
            <a:srgbClr val="F5F8FC"/>
          </a:solidFill>
          <a:ln w="12700">
            <a:solidFill>
              <a:srgbClr val="E1E8F1"/>
            </a:solidFill>
            <a:prstDash val="solid"/>
          </a:ln>
        </p:spPr>
      </p:sp>
      <p:sp>
        <p:nvSpPr>
          <p:cNvPr id="383180547" name="Text 38"/>
          <p:cNvSpPr/>
          <p:nvPr/>
        </p:nvSpPr>
        <p:spPr bwMode="auto">
          <a:xfrm>
            <a:off x="8631936" y="374904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Privater Storage</a:t>
            </a:r>
            <a:endParaRPr lang="en-US" sz="1150"/>
          </a:p>
        </p:txBody>
      </p:sp>
      <p:sp>
        <p:nvSpPr>
          <p:cNvPr id="1792497961" name="Shape 39"/>
          <p:cNvSpPr/>
          <p:nvPr/>
        </p:nvSpPr>
        <p:spPr bwMode="auto">
          <a:xfrm>
            <a:off x="8449056" y="4183380"/>
            <a:ext cx="2962656" cy="365760"/>
          </a:xfrm>
          <a:prstGeom prst="roundRect">
            <a:avLst>
              <a:gd name="adj" fmla="val 50000"/>
            </a:avLst>
          </a:prstGeom>
          <a:solidFill>
            <a:srgbClr val="F5F8FC"/>
          </a:solidFill>
          <a:ln w="12700">
            <a:solidFill>
              <a:srgbClr val="E1E8F1"/>
            </a:solidFill>
            <a:prstDash val="solid"/>
          </a:ln>
        </p:spPr>
      </p:sp>
      <p:sp>
        <p:nvSpPr>
          <p:cNvPr id="1496880537" name="Text 40"/>
          <p:cNvSpPr/>
          <p:nvPr/>
        </p:nvSpPr>
        <p:spPr bwMode="auto">
          <a:xfrm>
            <a:off x="8631936" y="418338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Resend (E-Mail)</a:t>
            </a:r>
            <a:endParaRPr lang="en-US" sz="1150"/>
          </a:p>
        </p:txBody>
      </p:sp>
      <p:sp>
        <p:nvSpPr>
          <p:cNvPr id="1420494632" name="Shape 41"/>
          <p:cNvSpPr/>
          <p:nvPr/>
        </p:nvSpPr>
        <p:spPr bwMode="auto">
          <a:xfrm>
            <a:off x="8449056" y="4617720"/>
            <a:ext cx="2962656" cy="365760"/>
          </a:xfrm>
          <a:prstGeom prst="roundRect">
            <a:avLst>
              <a:gd name="adj" fmla="val 50000"/>
            </a:avLst>
          </a:prstGeom>
          <a:solidFill>
            <a:srgbClr val="F5F8FC"/>
          </a:solidFill>
          <a:ln w="12700">
            <a:solidFill>
              <a:srgbClr val="E1E8F1"/>
            </a:solidFill>
            <a:prstDash val="solid"/>
          </a:ln>
        </p:spPr>
      </p:sp>
      <p:sp>
        <p:nvSpPr>
          <p:cNvPr id="1467655529" name="Text 42"/>
          <p:cNvSpPr/>
          <p:nvPr/>
        </p:nvSpPr>
        <p:spPr bwMode="auto">
          <a:xfrm>
            <a:off x="8631936" y="4617720"/>
            <a:ext cx="2670048" cy="365760"/>
          </a:xfrm>
          <a:prstGeom prst="rect">
            <a:avLst/>
          </a:prstGeom>
          <a:noFill/>
          <a:ln/>
        </p:spPr>
        <p:txBody>
          <a:bodyPr wrap="square" lIns="0" tIns="0" rIns="0" bIns="0" rtlCol="0" anchor="ctr"/>
          <a:lstStyle/>
          <a:p>
            <a:pPr marL="0" indent="0">
              <a:buNone/>
              <a:defRPr/>
            </a:pPr>
            <a:r>
              <a:rPr lang="en-US" sz="1150" b="1">
                <a:solidFill>
                  <a:srgbClr val="1B4F8F"/>
                </a:solidFill>
                <a:latin typeface="Calibri"/>
                <a:ea typeface="Calibri"/>
                <a:cs typeface="Calibri"/>
              </a:rPr>
              <a:t>Vercel Hosting</a:t>
            </a:r>
            <a:endParaRPr lang="en-US" sz="1150"/>
          </a:p>
        </p:txBody>
      </p:sp>
      <p:sp>
        <p:nvSpPr>
          <p:cNvPr id="871023204" name="Shape 43"/>
          <p:cNvSpPr/>
          <p:nvPr/>
        </p:nvSpPr>
        <p:spPr bwMode="auto">
          <a:xfrm>
            <a:off x="566928" y="5625410"/>
            <a:ext cx="11064240" cy="731520"/>
          </a:xfrm>
          <a:prstGeom prst="roundRect">
            <a:avLst>
              <a:gd name="adj" fmla="val 12500"/>
            </a:avLst>
          </a:prstGeom>
          <a:solidFill>
            <a:srgbClr val="FDEBCB"/>
          </a:solidFill>
          <a:ln w="12700">
            <a:solidFill>
              <a:srgbClr val="E1E8F1"/>
            </a:solidFill>
            <a:prstDash val="solid"/>
          </a:ln>
        </p:spPr>
      </p:sp>
      <p:sp>
        <p:nvSpPr>
          <p:cNvPr id="230781848" name="Shape 44"/>
          <p:cNvSpPr/>
          <p:nvPr/>
        </p:nvSpPr>
        <p:spPr bwMode="auto">
          <a:xfrm>
            <a:off x="914400" y="5780858"/>
            <a:ext cx="420624" cy="420624"/>
          </a:xfrm>
          <a:prstGeom prst="ellipse">
            <a:avLst/>
          </a:prstGeom>
          <a:solidFill>
            <a:srgbClr val="B9770A"/>
          </a:solidFill>
          <a:ln/>
        </p:spPr>
      </p:sp>
      <p:pic>
        <p:nvPicPr>
          <p:cNvPr id="1340081966" name="Image 3" descr="preencoded.png"/>
          <p:cNvPicPr>
            <a:picLocks noChangeAspect="1"/>
          </p:cNvPicPr>
          <p:nvPr/>
        </p:nvPicPr>
        <p:blipFill rotWithShape="1">
          <a:blip r:embed="rId6"/>
          <a:stretch/>
        </p:blipFill>
        <p:spPr bwMode="auto">
          <a:xfrm>
            <a:off x="1019556" y="5886014"/>
            <a:ext cx="210312" cy="210312"/>
          </a:xfrm>
          <a:prstGeom prst="rect">
            <a:avLst/>
          </a:prstGeom>
        </p:spPr>
      </p:pic>
      <p:sp>
        <p:nvSpPr>
          <p:cNvPr id="688422291" name="Text 45"/>
          <p:cNvSpPr/>
          <p:nvPr/>
        </p:nvSpPr>
        <p:spPr bwMode="auto">
          <a:xfrm>
            <a:off x="1508759" y="5625410"/>
            <a:ext cx="9966960" cy="731520"/>
          </a:xfrm>
          <a:prstGeom prst="rect">
            <a:avLst/>
          </a:prstGeom>
          <a:noFill/>
          <a:ln/>
        </p:spPr>
        <p:txBody>
          <a:bodyPr wrap="square" lIns="0" tIns="0" rIns="0" bIns="0" rtlCol="0" anchor="ctr"/>
          <a:lstStyle/>
          <a:p>
            <a:pPr marL="0" indent="0">
              <a:lnSpc>
                <a:spcPct val="103000"/>
              </a:lnSpc>
              <a:buNone/>
              <a:defRPr/>
            </a:pPr>
            <a:r>
              <a:rPr lang="en-US" sz="1250" b="1">
                <a:solidFill>
                  <a:srgbClr val="B9770A"/>
                </a:solidFill>
                <a:latin typeface="Calibri"/>
                <a:ea typeface="Calibri"/>
                <a:cs typeface="Calibri"/>
              </a:rPr>
              <a:t>KI-Offenlegung (Pflicht):  </a:t>
            </a:r>
            <a:r>
              <a:rPr lang="en-US" sz="1250">
                <a:solidFill>
                  <a:srgbClr val="5C3D08"/>
                </a:solidFill>
                <a:latin typeface="Calibri"/>
                <a:ea typeface="Calibri"/>
                <a:cs typeface="Calibri"/>
              </a:rPr>
              <a:t>Whisper (OpenAI / Xenova) ist die eingesetzte App-KI (Spracherkennung).  Claude (Anthropic) diente als Entwicklungs-Assistent für Code, Architektur &amp; Doku.</a:t>
            </a:r>
            <a:endParaRPr lang="en-US" sz="1250"/>
          </a:p>
        </p:txBody>
      </p:sp>
      <p:sp>
        <p:nvSpPr>
          <p:cNvPr id="1660009517" name="Text 46"/>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159425399" name="Text 47"/>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F5F8FC"/>
        </a:solidFill>
      </p:bgPr>
    </p:bg>
    <p:spTree>
      <p:nvGrpSpPr>
        <p:cNvPr id="1" name=""/>
        <p:cNvGrpSpPr/>
        <p:nvPr/>
      </p:nvGrpSpPr>
      <p:grpSpPr bwMode="auto">
        <a:xfrm>
          <a:off x="0" y="0"/>
          <a:ext cx="0" cy="0"/>
          <a:chOff x="0" y="0"/>
          <a:chExt cx="0" cy="0"/>
        </a:xfrm>
      </p:grpSpPr>
      <p:sp>
        <p:nvSpPr>
          <p:cNvPr id="298750444"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3 · ENTWICKLUNGSPROZESS</a:t>
            </a:r>
            <a:endParaRPr lang="en-US" sz="1250"/>
          </a:p>
        </p:txBody>
      </p:sp>
      <p:sp>
        <p:nvSpPr>
          <p:cNvPr id="1029426620"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Eine Woche, Tag für Tag</a:t>
            </a:r>
            <a:endParaRPr lang="en-US" sz="3300"/>
          </a:p>
        </p:txBody>
      </p:sp>
      <p:sp>
        <p:nvSpPr>
          <p:cNvPr id="1310854394" name="Text 2"/>
          <p:cNvSpPr/>
          <p:nvPr/>
        </p:nvSpPr>
        <p:spPr bwMode="auto">
          <a:xfrm>
            <a:off x="566928" y="1554480"/>
            <a:ext cx="10972800" cy="320040"/>
          </a:xfrm>
          <a:prstGeom prst="rect">
            <a:avLst/>
          </a:prstGeom>
          <a:noFill/>
          <a:ln/>
        </p:spPr>
        <p:txBody>
          <a:bodyPr wrap="square" lIns="0" tIns="0" rIns="0" bIns="0" rtlCol="0" anchor="ctr"/>
          <a:lstStyle/>
          <a:p>
            <a:pPr marL="0" indent="0">
              <a:buNone/>
              <a:defRPr/>
            </a:pPr>
            <a:r>
              <a:rPr lang="en-US" sz="1300" i="1">
                <a:solidFill>
                  <a:srgbClr val="5A6B82"/>
                </a:solidFill>
                <a:latin typeface="Calibri"/>
                <a:ea typeface="Calibri"/>
                <a:cs typeface="Calibri"/>
              </a:rPr>
              <a:t>Tägliches Logbuch (docs/Fortschritt.md) und nachvollziehbare Git-Commit-Historie.</a:t>
            </a:r>
            <a:endParaRPr lang="en-US" sz="1300"/>
          </a:p>
        </p:txBody>
      </p:sp>
      <p:sp>
        <p:nvSpPr>
          <p:cNvPr id="777282777" name="Shape 3"/>
          <p:cNvSpPr/>
          <p:nvPr/>
        </p:nvSpPr>
        <p:spPr bwMode="auto">
          <a:xfrm>
            <a:off x="141704" y="2148840"/>
            <a:ext cx="2148840" cy="3840480"/>
          </a:xfrm>
          <a:prstGeom prst="roundRect">
            <a:avLst>
              <a:gd name="adj" fmla="val 425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540924277" name="Shape 4"/>
          <p:cNvSpPr/>
          <p:nvPr/>
        </p:nvSpPr>
        <p:spPr bwMode="auto">
          <a:xfrm>
            <a:off x="832076" y="2404872"/>
            <a:ext cx="768096" cy="768096"/>
          </a:xfrm>
          <a:prstGeom prst="ellipse">
            <a:avLst/>
          </a:prstGeom>
          <a:solidFill>
            <a:srgbClr val="1B4F8F"/>
          </a:solidFill>
          <a:ln/>
          <a:effectLst>
            <a:outerShdw blurRad="63500" dist="25400" dir="5400000" sx="100000" sy="100000" kx="0" ky="0" algn="bl" rotWithShape="0">
              <a:srgbClr val="1B2A44">
                <a:alpha val="16000"/>
              </a:srgbClr>
            </a:outerShdw>
          </a:effectLst>
        </p:spPr>
      </p:sp>
      <p:sp>
        <p:nvSpPr>
          <p:cNvPr id="2111870506" name="Text 5"/>
          <p:cNvSpPr/>
          <p:nvPr/>
        </p:nvSpPr>
        <p:spPr bwMode="auto">
          <a:xfrm>
            <a:off x="832076" y="2404872"/>
            <a:ext cx="768096" cy="768096"/>
          </a:xfrm>
          <a:prstGeom prst="rect">
            <a:avLst/>
          </a:prstGeom>
          <a:noFill/>
          <a:ln/>
        </p:spPr>
        <p:txBody>
          <a:bodyPr wrap="square" lIns="0" tIns="0" rIns="0" bIns="0" rtlCol="0" anchor="ctr"/>
          <a:lstStyle/>
          <a:p>
            <a:pPr marL="0" indent="0" algn="ctr">
              <a:buNone/>
              <a:defRPr/>
            </a:pPr>
            <a:r>
              <a:rPr lang="en-US" sz="2400" b="1">
                <a:solidFill>
                  <a:srgbClr val="FFFFFF"/>
                </a:solidFill>
                <a:latin typeface="Cambria"/>
                <a:ea typeface="Cambria"/>
                <a:cs typeface="Cambria"/>
              </a:rPr>
              <a:t>Mo</a:t>
            </a:r>
            <a:endParaRPr lang="en-US" sz="2400"/>
          </a:p>
        </p:txBody>
      </p:sp>
      <p:sp>
        <p:nvSpPr>
          <p:cNvPr id="788551924" name="Text 6"/>
          <p:cNvSpPr/>
          <p:nvPr/>
        </p:nvSpPr>
        <p:spPr bwMode="auto">
          <a:xfrm>
            <a:off x="278864" y="3264408"/>
            <a:ext cx="1874520" cy="548640"/>
          </a:xfrm>
          <a:prstGeom prst="rect">
            <a:avLst/>
          </a:prstGeom>
          <a:noFill/>
          <a:ln/>
        </p:spPr>
        <p:txBody>
          <a:bodyPr wrap="square" lIns="0" tIns="0" rIns="0" bIns="0" rtlCol="0" anchor="ctr"/>
          <a:lstStyle/>
          <a:p>
            <a:pPr marL="0" indent="0" algn="ctr">
              <a:lnSpc>
                <a:spcPct val="95000"/>
              </a:lnSpc>
              <a:buNone/>
              <a:defRPr/>
            </a:pPr>
            <a:r>
              <a:rPr lang="en-US" sz="1350" b="1">
                <a:solidFill>
                  <a:srgbClr val="13233B"/>
                </a:solidFill>
                <a:latin typeface="Calibri"/>
                <a:ea typeface="Calibri"/>
                <a:cs typeface="Calibri"/>
              </a:rPr>
              <a:t>Setup &amp; Konzept</a:t>
            </a:r>
            <a:endParaRPr lang="en-US" sz="1350"/>
          </a:p>
        </p:txBody>
      </p:sp>
      <p:sp>
        <p:nvSpPr>
          <p:cNvPr id="1776105029" name="Text 7"/>
          <p:cNvSpPr/>
          <p:nvPr/>
        </p:nvSpPr>
        <p:spPr bwMode="auto">
          <a:xfrm>
            <a:off x="342872" y="3931920"/>
            <a:ext cx="1783080" cy="1965960"/>
          </a:xfrm>
          <a:prstGeom prst="rect">
            <a:avLst/>
          </a:prstGeom>
          <a:noFill/>
          <a:ln/>
        </p:spPr>
        <p:txBody>
          <a:bodyPr wrap="square" lIns="0" tIns="0" rIns="0" bIns="0" rtlCol="0" anchor="t"/>
          <a:lstStyle/>
          <a:p>
            <a:pPr marL="152400" indent="-152400">
              <a:spcAft>
                <a:spcPts val="500"/>
              </a:spcAft>
              <a:buSzPct val="100000"/>
              <a:buChar char="•"/>
              <a:defRPr/>
            </a:pPr>
            <a:r>
              <a:rPr lang="en-US" sz="1050">
                <a:solidFill>
                  <a:srgbClr val="5A6B82"/>
                </a:solidFill>
                <a:latin typeface="Calibri"/>
                <a:ea typeface="Calibri"/>
                <a:cs typeface="Calibri"/>
              </a:rPr>
              <a:t>Problem geschärft</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Wireframes 6 Screens</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Monorepo + Supabase-Schema + RLS</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Screens als Klick-Dummy</a:t>
            </a:r>
            <a:endParaRPr lang="en-US" sz="1050"/>
          </a:p>
        </p:txBody>
      </p:sp>
      <p:sp>
        <p:nvSpPr>
          <p:cNvPr id="408534253" name="Shape 8"/>
          <p:cNvSpPr/>
          <p:nvPr/>
        </p:nvSpPr>
        <p:spPr bwMode="auto">
          <a:xfrm>
            <a:off x="2308832" y="2788920"/>
            <a:ext cx="237744" cy="0"/>
          </a:xfrm>
          <a:prstGeom prst="line">
            <a:avLst/>
          </a:prstGeom>
          <a:noFill/>
          <a:ln w="25400">
            <a:solidFill>
              <a:srgbClr val="F59E0B"/>
            </a:solidFill>
            <a:prstDash val="solid"/>
            <a:tailEnd type="triangle"/>
          </a:ln>
        </p:spPr>
      </p:sp>
      <p:sp>
        <p:nvSpPr>
          <p:cNvPr id="1196142702" name="Shape 9"/>
          <p:cNvSpPr/>
          <p:nvPr/>
        </p:nvSpPr>
        <p:spPr bwMode="auto">
          <a:xfrm>
            <a:off x="2564863" y="2148840"/>
            <a:ext cx="2148840" cy="3840480"/>
          </a:xfrm>
          <a:prstGeom prst="roundRect">
            <a:avLst>
              <a:gd name="adj" fmla="val 425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878217525" name="Shape 10"/>
          <p:cNvSpPr/>
          <p:nvPr/>
        </p:nvSpPr>
        <p:spPr bwMode="auto">
          <a:xfrm>
            <a:off x="3255236" y="2404872"/>
            <a:ext cx="768096" cy="768096"/>
          </a:xfrm>
          <a:prstGeom prst="ellipse">
            <a:avLst/>
          </a:prstGeom>
          <a:solidFill>
            <a:srgbClr val="1B4F8F"/>
          </a:solidFill>
          <a:ln/>
          <a:effectLst>
            <a:outerShdw blurRad="63500" dist="25400" dir="5400000" sx="100000" sy="100000" kx="0" ky="0" algn="bl" rotWithShape="0">
              <a:srgbClr val="1B2A44">
                <a:alpha val="16000"/>
              </a:srgbClr>
            </a:outerShdw>
          </a:effectLst>
        </p:spPr>
      </p:sp>
      <p:sp>
        <p:nvSpPr>
          <p:cNvPr id="952327170" name="Text 11"/>
          <p:cNvSpPr/>
          <p:nvPr/>
        </p:nvSpPr>
        <p:spPr bwMode="auto">
          <a:xfrm>
            <a:off x="3255236" y="2404872"/>
            <a:ext cx="768096" cy="768096"/>
          </a:xfrm>
          <a:prstGeom prst="rect">
            <a:avLst/>
          </a:prstGeom>
          <a:noFill/>
          <a:ln/>
        </p:spPr>
        <p:txBody>
          <a:bodyPr wrap="square" lIns="0" tIns="0" rIns="0" bIns="0" rtlCol="0" anchor="ctr"/>
          <a:lstStyle/>
          <a:p>
            <a:pPr marL="0" indent="0" algn="ctr">
              <a:buNone/>
              <a:defRPr/>
            </a:pPr>
            <a:r>
              <a:rPr lang="en-US" sz="2400" b="1">
                <a:solidFill>
                  <a:srgbClr val="FFFFFF"/>
                </a:solidFill>
                <a:latin typeface="Cambria"/>
                <a:ea typeface="Cambria"/>
                <a:cs typeface="Cambria"/>
              </a:rPr>
              <a:t>Di</a:t>
            </a:r>
            <a:endParaRPr lang="en-US" sz="2400"/>
          </a:p>
        </p:txBody>
      </p:sp>
      <p:sp>
        <p:nvSpPr>
          <p:cNvPr id="1219947923" name="Text 12"/>
          <p:cNvSpPr/>
          <p:nvPr/>
        </p:nvSpPr>
        <p:spPr bwMode="auto">
          <a:xfrm>
            <a:off x="2702024" y="3264408"/>
            <a:ext cx="1874520" cy="548640"/>
          </a:xfrm>
          <a:prstGeom prst="rect">
            <a:avLst/>
          </a:prstGeom>
          <a:noFill/>
          <a:ln/>
        </p:spPr>
        <p:txBody>
          <a:bodyPr wrap="square" lIns="0" tIns="0" rIns="0" bIns="0" rtlCol="0" anchor="ctr"/>
          <a:lstStyle/>
          <a:p>
            <a:pPr marL="0" indent="0" algn="ctr">
              <a:lnSpc>
                <a:spcPct val="95000"/>
              </a:lnSpc>
              <a:buNone/>
              <a:defRPr/>
            </a:pPr>
            <a:r>
              <a:rPr lang="en-US" sz="1350" b="1">
                <a:solidFill>
                  <a:srgbClr val="13233B"/>
                </a:solidFill>
                <a:latin typeface="Calibri"/>
                <a:ea typeface="Calibri"/>
                <a:cs typeface="Calibri"/>
              </a:rPr>
              <a:t>Aufnahme &amp; KI</a:t>
            </a:r>
            <a:endParaRPr lang="en-US" sz="1350"/>
          </a:p>
        </p:txBody>
      </p:sp>
      <p:sp>
        <p:nvSpPr>
          <p:cNvPr id="1865755742" name="Text 13"/>
          <p:cNvSpPr/>
          <p:nvPr/>
        </p:nvSpPr>
        <p:spPr bwMode="auto">
          <a:xfrm>
            <a:off x="2766032" y="3931920"/>
            <a:ext cx="1783080" cy="1965960"/>
          </a:xfrm>
          <a:prstGeom prst="rect">
            <a:avLst/>
          </a:prstGeom>
          <a:noFill/>
          <a:ln/>
        </p:spPr>
        <p:txBody>
          <a:bodyPr wrap="square" lIns="0" tIns="0" rIns="0" bIns="0" rtlCol="0" anchor="t"/>
          <a:lstStyle/>
          <a:p>
            <a:pPr marL="152400" indent="-152400">
              <a:spcAft>
                <a:spcPts val="500"/>
              </a:spcAft>
              <a:buSzPct val="100000"/>
              <a:buChar char="•"/>
              <a:defRPr/>
            </a:pPr>
            <a:r>
              <a:rPr lang="en-US" sz="1050">
                <a:solidFill>
                  <a:srgbClr val="5A6B82"/>
                </a:solidFill>
                <a:latin typeface="Calibri"/>
                <a:ea typeface="Calibri"/>
                <a:cs typeface="Calibri"/>
              </a:rPr>
              <a:t>Vorlesen + echte Aufnahme</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Oberfläche nach Wireframes</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Whisper integriert</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Text editierbar + Tastatur</a:t>
            </a:r>
            <a:endParaRPr lang="en-US" sz="1050"/>
          </a:p>
        </p:txBody>
      </p:sp>
      <p:sp>
        <p:nvSpPr>
          <p:cNvPr id="117194099" name="Shape 14"/>
          <p:cNvSpPr/>
          <p:nvPr/>
        </p:nvSpPr>
        <p:spPr bwMode="auto">
          <a:xfrm>
            <a:off x="4731991" y="2788920"/>
            <a:ext cx="237744" cy="0"/>
          </a:xfrm>
          <a:prstGeom prst="line">
            <a:avLst/>
          </a:prstGeom>
          <a:noFill/>
          <a:ln w="25400">
            <a:solidFill>
              <a:srgbClr val="F59E0B"/>
            </a:solidFill>
            <a:prstDash val="solid"/>
            <a:tailEnd type="triangle"/>
          </a:ln>
        </p:spPr>
      </p:sp>
      <p:sp>
        <p:nvSpPr>
          <p:cNvPr id="1526336953" name="Shape 15"/>
          <p:cNvSpPr/>
          <p:nvPr/>
        </p:nvSpPr>
        <p:spPr bwMode="auto">
          <a:xfrm>
            <a:off x="4988024" y="2148840"/>
            <a:ext cx="2148840" cy="3840480"/>
          </a:xfrm>
          <a:prstGeom prst="roundRect">
            <a:avLst>
              <a:gd name="adj" fmla="val 425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860074268" name="Shape 16"/>
          <p:cNvSpPr/>
          <p:nvPr/>
        </p:nvSpPr>
        <p:spPr bwMode="auto">
          <a:xfrm>
            <a:off x="5678396" y="2404872"/>
            <a:ext cx="768096" cy="768096"/>
          </a:xfrm>
          <a:prstGeom prst="ellipse">
            <a:avLst/>
          </a:prstGeom>
          <a:solidFill>
            <a:srgbClr val="1B4F8F"/>
          </a:solidFill>
          <a:ln/>
          <a:effectLst>
            <a:outerShdw blurRad="63500" dist="25400" dir="5400000" sx="100000" sy="100000" kx="0" ky="0" algn="bl" rotWithShape="0">
              <a:srgbClr val="1B2A44">
                <a:alpha val="16000"/>
              </a:srgbClr>
            </a:outerShdw>
          </a:effectLst>
        </p:spPr>
      </p:sp>
      <p:sp>
        <p:nvSpPr>
          <p:cNvPr id="977656844" name="Text 17"/>
          <p:cNvSpPr/>
          <p:nvPr/>
        </p:nvSpPr>
        <p:spPr bwMode="auto">
          <a:xfrm>
            <a:off x="5678396" y="2404872"/>
            <a:ext cx="768096" cy="768096"/>
          </a:xfrm>
          <a:prstGeom prst="rect">
            <a:avLst/>
          </a:prstGeom>
          <a:noFill/>
          <a:ln/>
        </p:spPr>
        <p:txBody>
          <a:bodyPr wrap="square" lIns="0" tIns="0" rIns="0" bIns="0" rtlCol="0" anchor="ctr"/>
          <a:lstStyle/>
          <a:p>
            <a:pPr marL="0" indent="0" algn="ctr">
              <a:buNone/>
              <a:defRPr/>
            </a:pPr>
            <a:r>
              <a:rPr lang="en-US" sz="2400" b="1">
                <a:solidFill>
                  <a:srgbClr val="FFFFFF"/>
                </a:solidFill>
                <a:latin typeface="Cambria"/>
                <a:ea typeface="Cambria"/>
                <a:cs typeface="Cambria"/>
              </a:rPr>
              <a:t>Mi</a:t>
            </a:r>
            <a:endParaRPr lang="en-US" sz="2400"/>
          </a:p>
        </p:txBody>
      </p:sp>
      <p:sp>
        <p:nvSpPr>
          <p:cNvPr id="1881617358" name="Text 18"/>
          <p:cNvSpPr/>
          <p:nvPr/>
        </p:nvSpPr>
        <p:spPr bwMode="auto">
          <a:xfrm>
            <a:off x="5125184" y="3264408"/>
            <a:ext cx="1874520" cy="548640"/>
          </a:xfrm>
          <a:prstGeom prst="rect">
            <a:avLst/>
          </a:prstGeom>
          <a:noFill/>
          <a:ln/>
        </p:spPr>
        <p:txBody>
          <a:bodyPr wrap="square" lIns="0" tIns="0" rIns="0" bIns="0" rtlCol="0" anchor="ctr"/>
          <a:lstStyle/>
          <a:p>
            <a:pPr marL="0" indent="0" algn="ctr">
              <a:lnSpc>
                <a:spcPct val="95000"/>
              </a:lnSpc>
              <a:buNone/>
              <a:defRPr/>
            </a:pPr>
            <a:r>
              <a:rPr lang="en-US" sz="1350" b="1">
                <a:solidFill>
                  <a:srgbClr val="13233B"/>
                </a:solidFill>
                <a:latin typeface="Calibri"/>
                <a:ea typeface="Calibri"/>
                <a:cs typeface="Calibri"/>
              </a:rPr>
              <a:t>Backend end-to-end</a:t>
            </a:r>
            <a:endParaRPr lang="en-US" sz="1350"/>
          </a:p>
        </p:txBody>
      </p:sp>
      <p:sp>
        <p:nvSpPr>
          <p:cNvPr id="1617905544" name="Text 19"/>
          <p:cNvSpPr/>
          <p:nvPr/>
        </p:nvSpPr>
        <p:spPr bwMode="auto">
          <a:xfrm>
            <a:off x="5189192" y="3931920"/>
            <a:ext cx="1783080" cy="1965960"/>
          </a:xfrm>
          <a:prstGeom prst="rect">
            <a:avLst/>
          </a:prstGeom>
          <a:noFill/>
          <a:ln/>
        </p:spPr>
        <p:txBody>
          <a:bodyPr wrap="square" lIns="0" tIns="0" rIns="0" bIns="0" rtlCol="0" anchor="t"/>
          <a:lstStyle/>
          <a:p>
            <a:pPr marL="152400" indent="-152400">
              <a:spcAft>
                <a:spcPts val="500"/>
              </a:spcAft>
              <a:buSzPct val="100000"/>
              <a:buChar char="•"/>
              <a:defRPr/>
            </a:pPr>
            <a:r>
              <a:rPr lang="en-US" sz="1050">
                <a:solidFill>
                  <a:srgbClr val="5A6B82"/>
                </a:solidFill>
                <a:latin typeface="Calibri"/>
                <a:ea typeface="Calibri"/>
                <a:cs typeface="Calibri"/>
              </a:rPr>
              <a:t>POST /api/complaints</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Upload + DB-Insert + Mail</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Frontend angebunden</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Gegen echte Dienste getestet</a:t>
            </a:r>
            <a:endParaRPr lang="en-US" sz="1050"/>
          </a:p>
        </p:txBody>
      </p:sp>
      <p:sp>
        <p:nvSpPr>
          <p:cNvPr id="2114749439" name="Shape 20"/>
          <p:cNvSpPr/>
          <p:nvPr/>
        </p:nvSpPr>
        <p:spPr bwMode="auto">
          <a:xfrm>
            <a:off x="7155152" y="2788920"/>
            <a:ext cx="237744" cy="0"/>
          </a:xfrm>
          <a:prstGeom prst="line">
            <a:avLst/>
          </a:prstGeom>
          <a:noFill/>
          <a:ln w="25400">
            <a:solidFill>
              <a:srgbClr val="F59E0B"/>
            </a:solidFill>
            <a:prstDash val="solid"/>
            <a:tailEnd type="triangle"/>
          </a:ln>
        </p:spPr>
      </p:sp>
      <p:sp>
        <p:nvSpPr>
          <p:cNvPr id="2100341236" name="Shape 21"/>
          <p:cNvSpPr/>
          <p:nvPr/>
        </p:nvSpPr>
        <p:spPr bwMode="auto">
          <a:xfrm>
            <a:off x="7411184" y="2148840"/>
            <a:ext cx="2148840" cy="3840480"/>
          </a:xfrm>
          <a:prstGeom prst="roundRect">
            <a:avLst>
              <a:gd name="adj" fmla="val 425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11151046" name="Shape 22"/>
          <p:cNvSpPr/>
          <p:nvPr/>
        </p:nvSpPr>
        <p:spPr bwMode="auto">
          <a:xfrm>
            <a:off x="8101556" y="2404872"/>
            <a:ext cx="768096" cy="768096"/>
          </a:xfrm>
          <a:prstGeom prst="ellipse">
            <a:avLst/>
          </a:prstGeom>
          <a:solidFill>
            <a:srgbClr val="1B4F8F"/>
          </a:solidFill>
          <a:ln/>
          <a:effectLst>
            <a:outerShdw blurRad="63500" dist="25400" dir="5400000" sx="100000" sy="100000" kx="0" ky="0" algn="bl" rotWithShape="0">
              <a:srgbClr val="1B2A44">
                <a:alpha val="16000"/>
              </a:srgbClr>
            </a:outerShdw>
          </a:effectLst>
        </p:spPr>
      </p:sp>
      <p:sp>
        <p:nvSpPr>
          <p:cNvPr id="1262592765" name="Text 23"/>
          <p:cNvSpPr/>
          <p:nvPr/>
        </p:nvSpPr>
        <p:spPr bwMode="auto">
          <a:xfrm>
            <a:off x="8101556" y="2404872"/>
            <a:ext cx="768096" cy="768096"/>
          </a:xfrm>
          <a:prstGeom prst="rect">
            <a:avLst/>
          </a:prstGeom>
          <a:noFill/>
          <a:ln/>
        </p:spPr>
        <p:txBody>
          <a:bodyPr wrap="square" lIns="0" tIns="0" rIns="0" bIns="0" rtlCol="0" anchor="ctr"/>
          <a:lstStyle/>
          <a:p>
            <a:pPr marL="0" indent="0" algn="ctr">
              <a:buNone/>
              <a:defRPr/>
            </a:pPr>
            <a:r>
              <a:rPr lang="en-US" sz="2400" b="1">
                <a:solidFill>
                  <a:srgbClr val="FFFFFF"/>
                </a:solidFill>
                <a:latin typeface="Cambria"/>
                <a:ea typeface="Cambria"/>
                <a:cs typeface="Cambria"/>
              </a:rPr>
              <a:t>Do</a:t>
            </a:r>
            <a:endParaRPr lang="en-US" sz="2400"/>
          </a:p>
        </p:txBody>
      </p:sp>
      <p:sp>
        <p:nvSpPr>
          <p:cNvPr id="1897453941" name="Text 24"/>
          <p:cNvSpPr/>
          <p:nvPr/>
        </p:nvSpPr>
        <p:spPr bwMode="auto">
          <a:xfrm>
            <a:off x="7548344" y="3264408"/>
            <a:ext cx="1874520" cy="548640"/>
          </a:xfrm>
          <a:prstGeom prst="rect">
            <a:avLst/>
          </a:prstGeom>
          <a:noFill/>
          <a:ln/>
        </p:spPr>
        <p:txBody>
          <a:bodyPr wrap="square" lIns="0" tIns="0" rIns="0" bIns="0" rtlCol="0" anchor="ctr"/>
          <a:lstStyle/>
          <a:p>
            <a:pPr marL="0" indent="0" algn="ctr">
              <a:lnSpc>
                <a:spcPct val="95000"/>
              </a:lnSpc>
              <a:buNone/>
              <a:defRPr/>
            </a:pPr>
            <a:r>
              <a:rPr lang="en-US" sz="1350" b="1">
                <a:solidFill>
                  <a:srgbClr val="13233B"/>
                </a:solidFill>
                <a:latin typeface="Calibri"/>
                <a:ea typeface="Calibri"/>
                <a:cs typeface="Calibri"/>
              </a:rPr>
              <a:t>Verwaltung &amp; Sicherheit</a:t>
            </a:r>
            <a:endParaRPr lang="en-US" sz="1350"/>
          </a:p>
        </p:txBody>
      </p:sp>
      <p:sp>
        <p:nvSpPr>
          <p:cNvPr id="819357757" name="Text 25"/>
          <p:cNvSpPr/>
          <p:nvPr/>
        </p:nvSpPr>
        <p:spPr bwMode="auto">
          <a:xfrm>
            <a:off x="7612352" y="3931920"/>
            <a:ext cx="1783080" cy="1965960"/>
          </a:xfrm>
          <a:prstGeom prst="rect">
            <a:avLst/>
          </a:prstGeom>
          <a:noFill/>
          <a:ln/>
        </p:spPr>
        <p:txBody>
          <a:bodyPr wrap="square" lIns="0" tIns="0" rIns="0" bIns="0" rtlCol="0" anchor="t"/>
          <a:lstStyle/>
          <a:p>
            <a:pPr marL="152400" indent="-152400">
              <a:spcAft>
                <a:spcPts val="500"/>
              </a:spcAft>
              <a:buSzPct val="100000"/>
              <a:buChar char="•"/>
              <a:defRPr/>
            </a:pPr>
            <a:r>
              <a:rPr lang="en-US" sz="1050">
                <a:solidFill>
                  <a:srgbClr val="5A6B82"/>
                </a:solidFill>
                <a:latin typeface="Calibri"/>
                <a:ea typeface="Calibri"/>
                <a:cs typeface="Calibri"/>
              </a:rPr>
              <a:t>Login (Supabase Auth)</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Liste + Status-Filter</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Detail + Status ändern</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Audio inkl. Anonym-Sperre</a:t>
            </a:r>
            <a:endParaRPr lang="en-US" sz="1050"/>
          </a:p>
        </p:txBody>
      </p:sp>
      <p:sp>
        <p:nvSpPr>
          <p:cNvPr id="621711512" name="Shape 26"/>
          <p:cNvSpPr/>
          <p:nvPr/>
        </p:nvSpPr>
        <p:spPr bwMode="auto">
          <a:xfrm>
            <a:off x="9578312" y="2788920"/>
            <a:ext cx="237744" cy="0"/>
          </a:xfrm>
          <a:prstGeom prst="line">
            <a:avLst/>
          </a:prstGeom>
          <a:noFill/>
          <a:ln w="25400">
            <a:solidFill>
              <a:srgbClr val="F59E0B"/>
            </a:solidFill>
            <a:prstDash val="solid"/>
            <a:tailEnd type="triangle"/>
          </a:ln>
        </p:spPr>
      </p:sp>
      <p:sp>
        <p:nvSpPr>
          <p:cNvPr id="1668225606" name="Shape 27"/>
          <p:cNvSpPr/>
          <p:nvPr/>
        </p:nvSpPr>
        <p:spPr bwMode="auto">
          <a:xfrm>
            <a:off x="9834344" y="2148840"/>
            <a:ext cx="2148840" cy="3840480"/>
          </a:xfrm>
          <a:prstGeom prst="roundRect">
            <a:avLst>
              <a:gd name="adj" fmla="val 4255"/>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66223667" name="Shape 28"/>
          <p:cNvSpPr/>
          <p:nvPr/>
        </p:nvSpPr>
        <p:spPr bwMode="auto">
          <a:xfrm>
            <a:off x="10524716" y="2404872"/>
            <a:ext cx="768096" cy="768096"/>
          </a:xfrm>
          <a:prstGeom prst="ellipse">
            <a:avLst/>
          </a:prstGeom>
          <a:solidFill>
            <a:srgbClr val="F59E0B"/>
          </a:solidFill>
          <a:ln/>
          <a:effectLst>
            <a:outerShdw blurRad="63500" dist="25400" dir="5400000" sx="100000" sy="100000" kx="0" ky="0" algn="bl" rotWithShape="0">
              <a:srgbClr val="1B2A44">
                <a:alpha val="16000"/>
              </a:srgbClr>
            </a:outerShdw>
          </a:effectLst>
        </p:spPr>
      </p:sp>
      <p:sp>
        <p:nvSpPr>
          <p:cNvPr id="3219001" name="Text 29"/>
          <p:cNvSpPr/>
          <p:nvPr/>
        </p:nvSpPr>
        <p:spPr bwMode="auto">
          <a:xfrm>
            <a:off x="10524716" y="2404872"/>
            <a:ext cx="768096" cy="768096"/>
          </a:xfrm>
          <a:prstGeom prst="rect">
            <a:avLst/>
          </a:prstGeom>
          <a:noFill/>
          <a:ln/>
        </p:spPr>
        <p:txBody>
          <a:bodyPr wrap="square" lIns="0" tIns="0" rIns="0" bIns="0" rtlCol="0" anchor="ctr"/>
          <a:lstStyle/>
          <a:p>
            <a:pPr marL="0" indent="0" algn="ctr">
              <a:buNone/>
              <a:defRPr/>
            </a:pPr>
            <a:r>
              <a:rPr lang="en-US" sz="2400" b="1">
                <a:solidFill>
                  <a:srgbClr val="FFFFFF"/>
                </a:solidFill>
                <a:latin typeface="Cambria"/>
                <a:ea typeface="Cambria"/>
                <a:cs typeface="Cambria"/>
              </a:rPr>
              <a:t>Fr</a:t>
            </a:r>
            <a:endParaRPr lang="en-US" sz="2400"/>
          </a:p>
        </p:txBody>
      </p:sp>
      <p:sp>
        <p:nvSpPr>
          <p:cNvPr id="399514124" name="Text 30"/>
          <p:cNvSpPr/>
          <p:nvPr/>
        </p:nvSpPr>
        <p:spPr bwMode="auto">
          <a:xfrm>
            <a:off x="9971504" y="3264408"/>
            <a:ext cx="1874520" cy="548640"/>
          </a:xfrm>
          <a:prstGeom prst="rect">
            <a:avLst/>
          </a:prstGeom>
          <a:noFill/>
          <a:ln/>
        </p:spPr>
        <p:txBody>
          <a:bodyPr wrap="square" lIns="0" tIns="0" rIns="0" bIns="0" rtlCol="0" anchor="ctr"/>
          <a:lstStyle/>
          <a:p>
            <a:pPr marL="0" indent="0" algn="ctr">
              <a:lnSpc>
                <a:spcPct val="95000"/>
              </a:lnSpc>
              <a:buNone/>
              <a:defRPr/>
            </a:pPr>
            <a:r>
              <a:rPr lang="en-US" sz="1350" b="1">
                <a:solidFill>
                  <a:srgbClr val="13233B"/>
                </a:solidFill>
                <a:latin typeface="Calibri"/>
                <a:ea typeface="Calibri"/>
                <a:cs typeface="Calibri"/>
              </a:rPr>
              <a:t>Deploy &amp; Doku</a:t>
            </a:r>
            <a:endParaRPr lang="en-US" sz="1350"/>
          </a:p>
        </p:txBody>
      </p:sp>
      <p:sp>
        <p:nvSpPr>
          <p:cNvPr id="1967158809" name="Text 31"/>
          <p:cNvSpPr/>
          <p:nvPr/>
        </p:nvSpPr>
        <p:spPr bwMode="auto">
          <a:xfrm>
            <a:off x="10035512" y="3931920"/>
            <a:ext cx="1783080" cy="1965960"/>
          </a:xfrm>
          <a:prstGeom prst="rect">
            <a:avLst/>
          </a:prstGeom>
          <a:noFill/>
          <a:ln/>
        </p:spPr>
        <p:txBody>
          <a:bodyPr wrap="square" lIns="0" tIns="0" rIns="0" bIns="0" rtlCol="0" anchor="t"/>
          <a:lstStyle/>
          <a:p>
            <a:pPr marL="152400" indent="-152400">
              <a:spcAft>
                <a:spcPts val="500"/>
              </a:spcAft>
              <a:buSzPct val="100000"/>
              <a:buChar char="•"/>
              <a:defRPr/>
            </a:pPr>
            <a:r>
              <a:rPr lang="en-US" sz="1050">
                <a:solidFill>
                  <a:srgbClr val="5A6B82"/>
                </a:solidFill>
                <a:latin typeface="Calibri"/>
                <a:ea typeface="Calibri"/>
                <a:cs typeface="Calibri"/>
              </a:rPr>
              <a:t>Live-Deploy auf Vercel</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Hintergrund-Transkription</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Dokumentation</a:t>
            </a:r>
            <a:endParaRPr lang="en-US" sz="1050"/>
          </a:p>
          <a:p>
            <a:pPr marL="152400" indent="-152400">
              <a:spcAft>
                <a:spcPts val="500"/>
              </a:spcAft>
              <a:buSzPct val="100000"/>
              <a:buChar char="•"/>
              <a:defRPr/>
            </a:pPr>
            <a:r>
              <a:rPr lang="en-US" sz="1050">
                <a:solidFill>
                  <a:srgbClr val="5A6B82"/>
                </a:solidFill>
                <a:latin typeface="Calibri"/>
                <a:ea typeface="Calibri"/>
                <a:cs typeface="Calibri"/>
              </a:rPr>
              <a:t>Präsentation &amp; Retro</a:t>
            </a:r>
            <a:endParaRPr lang="en-US" sz="1050"/>
          </a:p>
        </p:txBody>
      </p:sp>
      <p:sp>
        <p:nvSpPr>
          <p:cNvPr id="2041680749" name="Text 32"/>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434910696" name="Text 33"/>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5F8FC"/>
        </a:solidFill>
      </p:bgPr>
    </p:bg>
    <p:spTree>
      <p:nvGrpSpPr>
        <p:cNvPr id="1" name=""/>
        <p:cNvGrpSpPr/>
        <p:nvPr/>
      </p:nvGrpSpPr>
      <p:grpSpPr bwMode="auto">
        <a:xfrm>
          <a:off x="0" y="0"/>
          <a:ext cx="0" cy="0"/>
          <a:chOff x="0" y="0"/>
          <a:chExt cx="0" cy="0"/>
        </a:xfrm>
      </p:grpSpPr>
      <p:sp>
        <p:nvSpPr>
          <p:cNvPr id="1455612565"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HERAUSFORDERUNGEN</a:t>
            </a:r>
            <a:endParaRPr lang="en-US" sz="1250"/>
          </a:p>
        </p:txBody>
      </p:sp>
      <p:sp>
        <p:nvSpPr>
          <p:cNvPr id="1211647224"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Probleme — und wie wir sie gelöst haben</a:t>
            </a:r>
            <a:endParaRPr lang="en-US" sz="3300"/>
          </a:p>
        </p:txBody>
      </p:sp>
      <p:sp>
        <p:nvSpPr>
          <p:cNvPr id="1029488662" name="Shape 2"/>
          <p:cNvSpPr/>
          <p:nvPr/>
        </p:nvSpPr>
        <p:spPr bwMode="auto">
          <a:xfrm>
            <a:off x="566928" y="1737360"/>
            <a:ext cx="11064240" cy="713232"/>
          </a:xfrm>
          <a:prstGeom prst="roundRect">
            <a:avLst>
              <a:gd name="adj" fmla="val 10256"/>
            </a:avLst>
          </a:prstGeom>
          <a:solidFill>
            <a:srgbClr val="F5F8FC"/>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813329217" name="Shape 3"/>
          <p:cNvSpPr/>
          <p:nvPr/>
        </p:nvSpPr>
        <p:spPr bwMode="auto">
          <a:xfrm>
            <a:off x="786384" y="1911096"/>
            <a:ext cx="365760" cy="365760"/>
          </a:xfrm>
          <a:prstGeom prst="ellipse">
            <a:avLst/>
          </a:prstGeom>
          <a:solidFill>
            <a:srgbClr val="B9770A"/>
          </a:solidFill>
          <a:ln/>
        </p:spPr>
      </p:sp>
      <p:pic>
        <p:nvPicPr>
          <p:cNvPr id="1083955087" name="Image 0" descr="preencoded.png"/>
          <p:cNvPicPr>
            <a:picLocks noChangeAspect="1"/>
          </p:cNvPicPr>
          <p:nvPr/>
        </p:nvPicPr>
        <p:blipFill rotWithShape="1">
          <a:blip r:embed="rId3"/>
          <a:stretch/>
        </p:blipFill>
        <p:spPr bwMode="auto">
          <a:xfrm>
            <a:off x="877824" y="2002536"/>
            <a:ext cx="182880" cy="182880"/>
          </a:xfrm>
          <a:prstGeom prst="rect">
            <a:avLst/>
          </a:prstGeom>
        </p:spPr>
      </p:pic>
      <p:sp>
        <p:nvSpPr>
          <p:cNvPr id="265205297" name="Text 4"/>
          <p:cNvSpPr/>
          <p:nvPr/>
        </p:nvSpPr>
        <p:spPr bwMode="auto">
          <a:xfrm>
            <a:off x="1261872" y="1737360"/>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Spracherkennung ungenau, besonders bei Namen</a:t>
            </a:r>
            <a:endParaRPr lang="en-US" sz="1250"/>
          </a:p>
        </p:txBody>
      </p:sp>
      <p:sp>
        <p:nvSpPr>
          <p:cNvPr id="1400919436" name="Shape 5"/>
          <p:cNvSpPr/>
          <p:nvPr/>
        </p:nvSpPr>
        <p:spPr bwMode="auto">
          <a:xfrm>
            <a:off x="6080760" y="1911096"/>
            <a:ext cx="365760" cy="365760"/>
          </a:xfrm>
          <a:prstGeom prst="ellipse">
            <a:avLst/>
          </a:prstGeom>
          <a:solidFill>
            <a:srgbClr val="2E8B57"/>
          </a:solidFill>
          <a:ln/>
        </p:spPr>
      </p:sp>
      <p:pic>
        <p:nvPicPr>
          <p:cNvPr id="603388732" name="Image 1" descr="preencoded.png"/>
          <p:cNvPicPr>
            <a:picLocks noChangeAspect="1"/>
          </p:cNvPicPr>
          <p:nvPr/>
        </p:nvPicPr>
        <p:blipFill rotWithShape="1">
          <a:blip r:embed="rId4"/>
          <a:stretch/>
        </p:blipFill>
        <p:spPr bwMode="auto">
          <a:xfrm>
            <a:off x="6172200" y="2002536"/>
            <a:ext cx="182880" cy="182880"/>
          </a:xfrm>
          <a:prstGeom prst="rect">
            <a:avLst/>
          </a:prstGeom>
        </p:spPr>
      </p:pic>
      <p:sp>
        <p:nvSpPr>
          <p:cNvPr id="179134795" name="Text 6"/>
          <p:cNvSpPr/>
          <p:nvPr/>
        </p:nvSpPr>
        <p:spPr bwMode="auto">
          <a:xfrm>
            <a:off x="6537960" y="1737360"/>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Modell von whisper-tiny → whisper-base; Text editierbar + Tastatur-Alternative.</a:t>
            </a:r>
            <a:endParaRPr lang="en-US" sz="1200"/>
          </a:p>
        </p:txBody>
      </p:sp>
      <p:sp>
        <p:nvSpPr>
          <p:cNvPr id="1889037727" name="Shape 7"/>
          <p:cNvSpPr/>
          <p:nvPr/>
        </p:nvSpPr>
        <p:spPr bwMode="auto">
          <a:xfrm>
            <a:off x="566928" y="2523744"/>
            <a:ext cx="11064240" cy="713232"/>
          </a:xfrm>
          <a:prstGeom prst="roundRect">
            <a:avLst>
              <a:gd name="adj" fmla="val 10256"/>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712088727" name="Shape 8"/>
          <p:cNvSpPr/>
          <p:nvPr/>
        </p:nvSpPr>
        <p:spPr bwMode="auto">
          <a:xfrm>
            <a:off x="786384" y="2697480"/>
            <a:ext cx="365760" cy="365760"/>
          </a:xfrm>
          <a:prstGeom prst="ellipse">
            <a:avLst/>
          </a:prstGeom>
          <a:solidFill>
            <a:srgbClr val="B9770A"/>
          </a:solidFill>
          <a:ln/>
        </p:spPr>
      </p:sp>
      <p:pic>
        <p:nvPicPr>
          <p:cNvPr id="474701542" name="Image 2" descr="preencoded.png"/>
          <p:cNvPicPr>
            <a:picLocks noChangeAspect="1"/>
          </p:cNvPicPr>
          <p:nvPr/>
        </p:nvPicPr>
        <p:blipFill rotWithShape="1">
          <a:blip r:embed="rId5"/>
          <a:stretch/>
        </p:blipFill>
        <p:spPr bwMode="auto">
          <a:xfrm>
            <a:off x="877824" y="2788920"/>
            <a:ext cx="182880" cy="182880"/>
          </a:xfrm>
          <a:prstGeom prst="rect">
            <a:avLst/>
          </a:prstGeom>
        </p:spPr>
      </p:pic>
      <p:sp>
        <p:nvSpPr>
          <p:cNvPr id="1796130178" name="Text 9"/>
          <p:cNvSpPr/>
          <p:nvPr/>
        </p:nvSpPr>
        <p:spPr bwMode="auto">
          <a:xfrm>
            <a:off x="1261872" y="2523744"/>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Identität ohne Cookies (Kiosk löscht Cookies)</a:t>
            </a:r>
            <a:endParaRPr lang="en-US" sz="1250"/>
          </a:p>
        </p:txBody>
      </p:sp>
      <p:sp>
        <p:nvSpPr>
          <p:cNvPr id="795355724" name="Shape 10"/>
          <p:cNvSpPr/>
          <p:nvPr/>
        </p:nvSpPr>
        <p:spPr bwMode="auto">
          <a:xfrm>
            <a:off x="6080760" y="2697480"/>
            <a:ext cx="365760" cy="365760"/>
          </a:xfrm>
          <a:prstGeom prst="ellipse">
            <a:avLst/>
          </a:prstGeom>
          <a:solidFill>
            <a:srgbClr val="2E8B57"/>
          </a:solidFill>
          <a:ln/>
        </p:spPr>
      </p:sp>
      <p:pic>
        <p:nvPicPr>
          <p:cNvPr id="17257819" name="Image 3" descr="preencoded.png"/>
          <p:cNvPicPr>
            <a:picLocks noChangeAspect="1"/>
          </p:cNvPicPr>
          <p:nvPr/>
        </p:nvPicPr>
        <p:blipFill rotWithShape="1">
          <a:blip r:embed="rId6"/>
          <a:stretch/>
        </p:blipFill>
        <p:spPr bwMode="auto">
          <a:xfrm>
            <a:off x="6172200" y="2788920"/>
            <a:ext cx="182880" cy="182880"/>
          </a:xfrm>
          <a:prstGeom prst="rect">
            <a:avLst/>
          </a:prstGeom>
        </p:spPr>
      </p:pic>
      <p:sp>
        <p:nvSpPr>
          <p:cNvPr id="639020340" name="Text 11"/>
          <p:cNvSpPr/>
          <p:nvPr/>
        </p:nvSpPr>
        <p:spPr bwMode="auto">
          <a:xfrm>
            <a:off x="6537960" y="2523744"/>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Einrichtung kommt aus der Start-URL, frisch bei jedem Laden gelesen.</a:t>
            </a:r>
            <a:endParaRPr lang="en-US" sz="1200"/>
          </a:p>
        </p:txBody>
      </p:sp>
      <p:sp>
        <p:nvSpPr>
          <p:cNvPr id="985070091" name="Shape 12"/>
          <p:cNvSpPr/>
          <p:nvPr/>
        </p:nvSpPr>
        <p:spPr bwMode="auto">
          <a:xfrm>
            <a:off x="566928" y="3310127"/>
            <a:ext cx="11064240" cy="713232"/>
          </a:xfrm>
          <a:prstGeom prst="roundRect">
            <a:avLst>
              <a:gd name="adj" fmla="val 10256"/>
            </a:avLst>
          </a:prstGeom>
          <a:solidFill>
            <a:srgbClr val="F5F8FC"/>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94639345" name="Shape 13"/>
          <p:cNvSpPr/>
          <p:nvPr/>
        </p:nvSpPr>
        <p:spPr bwMode="auto">
          <a:xfrm>
            <a:off x="786384" y="3483864"/>
            <a:ext cx="365760" cy="365760"/>
          </a:xfrm>
          <a:prstGeom prst="ellipse">
            <a:avLst/>
          </a:prstGeom>
          <a:solidFill>
            <a:srgbClr val="B9770A"/>
          </a:solidFill>
          <a:ln/>
        </p:spPr>
      </p:sp>
      <p:pic>
        <p:nvPicPr>
          <p:cNvPr id="1170731207" name="Image 4" descr="preencoded.png"/>
          <p:cNvPicPr>
            <a:picLocks noChangeAspect="1"/>
          </p:cNvPicPr>
          <p:nvPr/>
        </p:nvPicPr>
        <p:blipFill rotWithShape="1">
          <a:blip r:embed="rId7"/>
          <a:stretch/>
        </p:blipFill>
        <p:spPr bwMode="auto">
          <a:xfrm>
            <a:off x="877824" y="3575303"/>
            <a:ext cx="182880" cy="182880"/>
          </a:xfrm>
          <a:prstGeom prst="rect">
            <a:avLst/>
          </a:prstGeom>
        </p:spPr>
      </p:pic>
      <p:sp>
        <p:nvSpPr>
          <p:cNvPr id="1725392901" name="Text 14"/>
          <p:cNvSpPr/>
          <p:nvPr/>
        </p:nvSpPr>
        <p:spPr bwMode="auto">
          <a:xfrm>
            <a:off x="1261872" y="3310127"/>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Datenbank nur über IPv6 erreichbar</a:t>
            </a:r>
            <a:endParaRPr lang="en-US" sz="1250"/>
          </a:p>
        </p:txBody>
      </p:sp>
      <p:sp>
        <p:nvSpPr>
          <p:cNvPr id="783789760" name="Shape 15"/>
          <p:cNvSpPr/>
          <p:nvPr/>
        </p:nvSpPr>
        <p:spPr bwMode="auto">
          <a:xfrm>
            <a:off x="6080760" y="3483864"/>
            <a:ext cx="365760" cy="365760"/>
          </a:xfrm>
          <a:prstGeom prst="ellipse">
            <a:avLst/>
          </a:prstGeom>
          <a:solidFill>
            <a:srgbClr val="2E8B57"/>
          </a:solidFill>
          <a:ln/>
        </p:spPr>
      </p:sp>
      <p:pic>
        <p:nvPicPr>
          <p:cNvPr id="2106878629" name="Image 5" descr="preencoded.png"/>
          <p:cNvPicPr>
            <a:picLocks noChangeAspect="1"/>
          </p:cNvPicPr>
          <p:nvPr/>
        </p:nvPicPr>
        <p:blipFill rotWithShape="1">
          <a:blip r:embed="rId8"/>
          <a:stretch/>
        </p:blipFill>
        <p:spPr bwMode="auto">
          <a:xfrm>
            <a:off x="6172200" y="3575303"/>
            <a:ext cx="182880" cy="182880"/>
          </a:xfrm>
          <a:prstGeom prst="rect">
            <a:avLst/>
          </a:prstGeom>
        </p:spPr>
      </p:pic>
      <p:sp>
        <p:nvSpPr>
          <p:cNvPr id="1089166085" name="Text 16"/>
          <p:cNvSpPr/>
          <p:nvPr/>
        </p:nvSpPr>
        <p:spPr bwMode="auto">
          <a:xfrm>
            <a:off x="6537960" y="3310127"/>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Schema-Migration über den Supabase-MCP-Server ausgeführt.</a:t>
            </a:r>
            <a:endParaRPr lang="en-US" sz="1200"/>
          </a:p>
        </p:txBody>
      </p:sp>
      <p:sp>
        <p:nvSpPr>
          <p:cNvPr id="1713353475" name="Shape 17"/>
          <p:cNvSpPr/>
          <p:nvPr/>
        </p:nvSpPr>
        <p:spPr bwMode="auto">
          <a:xfrm>
            <a:off x="566928" y="4096512"/>
            <a:ext cx="11064240" cy="713232"/>
          </a:xfrm>
          <a:prstGeom prst="roundRect">
            <a:avLst>
              <a:gd name="adj" fmla="val 10256"/>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31176071" name="Shape 18"/>
          <p:cNvSpPr/>
          <p:nvPr/>
        </p:nvSpPr>
        <p:spPr bwMode="auto">
          <a:xfrm>
            <a:off x="786384" y="4270248"/>
            <a:ext cx="365760" cy="365760"/>
          </a:xfrm>
          <a:prstGeom prst="ellipse">
            <a:avLst/>
          </a:prstGeom>
          <a:solidFill>
            <a:srgbClr val="B9770A"/>
          </a:solidFill>
          <a:ln/>
        </p:spPr>
      </p:sp>
      <p:pic>
        <p:nvPicPr>
          <p:cNvPr id="1557794537" name="Image 6" descr="preencoded.png"/>
          <p:cNvPicPr>
            <a:picLocks noChangeAspect="1"/>
          </p:cNvPicPr>
          <p:nvPr/>
        </p:nvPicPr>
        <p:blipFill rotWithShape="1">
          <a:blip r:embed="rId9"/>
          <a:stretch/>
        </p:blipFill>
        <p:spPr bwMode="auto">
          <a:xfrm>
            <a:off x="877824" y="4361688"/>
            <a:ext cx="182880" cy="182880"/>
          </a:xfrm>
          <a:prstGeom prst="rect">
            <a:avLst/>
          </a:prstGeom>
        </p:spPr>
      </p:pic>
      <p:sp>
        <p:nvSpPr>
          <p:cNvPr id="1186975141" name="Text 19"/>
          <p:cNvSpPr/>
          <p:nvPr/>
        </p:nvSpPr>
        <p:spPr bwMode="auto">
          <a:xfrm>
            <a:off x="1261872" y="4096512"/>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Login trotz korrektem Passwort abgelehnt</a:t>
            </a:r>
            <a:endParaRPr lang="en-US" sz="1250"/>
          </a:p>
        </p:txBody>
      </p:sp>
      <p:sp>
        <p:nvSpPr>
          <p:cNvPr id="333335873" name="Shape 20"/>
          <p:cNvSpPr/>
          <p:nvPr/>
        </p:nvSpPr>
        <p:spPr bwMode="auto">
          <a:xfrm>
            <a:off x="6080760" y="4270248"/>
            <a:ext cx="365760" cy="365760"/>
          </a:xfrm>
          <a:prstGeom prst="ellipse">
            <a:avLst/>
          </a:prstGeom>
          <a:solidFill>
            <a:srgbClr val="2E8B57"/>
          </a:solidFill>
          <a:ln/>
        </p:spPr>
      </p:sp>
      <p:pic>
        <p:nvPicPr>
          <p:cNvPr id="649436590" name="Image 7" descr="preencoded.png"/>
          <p:cNvPicPr>
            <a:picLocks noChangeAspect="1"/>
          </p:cNvPicPr>
          <p:nvPr/>
        </p:nvPicPr>
        <p:blipFill rotWithShape="1">
          <a:blip r:embed="rId10"/>
          <a:stretch/>
        </p:blipFill>
        <p:spPr bwMode="auto">
          <a:xfrm>
            <a:off x="6172200" y="4361688"/>
            <a:ext cx="182880" cy="182880"/>
          </a:xfrm>
          <a:prstGeom prst="rect">
            <a:avLst/>
          </a:prstGeom>
        </p:spPr>
      </p:pic>
      <p:sp>
        <p:nvSpPr>
          <p:cNvPr id="1440793452" name="Text 21"/>
          <p:cNvSpPr/>
          <p:nvPr/>
        </p:nvSpPr>
        <p:spPr bwMode="auto">
          <a:xfrm>
            <a:off x="6537960" y="4096512"/>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Ursache: fehlende instance_id bei per-SQL angelegtem Nutzer → Accounts über Studio/Admin-API anlegen.</a:t>
            </a:r>
            <a:endParaRPr lang="en-US" sz="1200"/>
          </a:p>
        </p:txBody>
      </p:sp>
      <p:sp>
        <p:nvSpPr>
          <p:cNvPr id="1155845220" name="Shape 22"/>
          <p:cNvSpPr/>
          <p:nvPr/>
        </p:nvSpPr>
        <p:spPr bwMode="auto">
          <a:xfrm>
            <a:off x="566928" y="4882896"/>
            <a:ext cx="11064240" cy="713232"/>
          </a:xfrm>
          <a:prstGeom prst="roundRect">
            <a:avLst>
              <a:gd name="adj" fmla="val 10256"/>
            </a:avLst>
          </a:prstGeom>
          <a:solidFill>
            <a:srgbClr val="F5F8FC"/>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202106025" name="Shape 23"/>
          <p:cNvSpPr/>
          <p:nvPr/>
        </p:nvSpPr>
        <p:spPr bwMode="auto">
          <a:xfrm>
            <a:off x="786384" y="5056632"/>
            <a:ext cx="365760" cy="365760"/>
          </a:xfrm>
          <a:prstGeom prst="ellipse">
            <a:avLst/>
          </a:prstGeom>
          <a:solidFill>
            <a:srgbClr val="B9770A"/>
          </a:solidFill>
          <a:ln/>
        </p:spPr>
      </p:sp>
      <p:pic>
        <p:nvPicPr>
          <p:cNvPr id="118205671" name="Image 8" descr="preencoded.png"/>
          <p:cNvPicPr>
            <a:picLocks noChangeAspect="1"/>
          </p:cNvPicPr>
          <p:nvPr/>
        </p:nvPicPr>
        <p:blipFill rotWithShape="1">
          <a:blip r:embed="rId11"/>
          <a:stretch/>
        </p:blipFill>
        <p:spPr bwMode="auto">
          <a:xfrm>
            <a:off x="877824" y="5148072"/>
            <a:ext cx="182880" cy="182880"/>
          </a:xfrm>
          <a:prstGeom prst="rect">
            <a:avLst/>
          </a:prstGeom>
        </p:spPr>
      </p:pic>
      <p:sp>
        <p:nvSpPr>
          <p:cNvPr id="1581557852" name="Text 24"/>
          <p:cNvSpPr/>
          <p:nvPr/>
        </p:nvSpPr>
        <p:spPr bwMode="auto">
          <a:xfrm>
            <a:off x="1261872" y="4882896"/>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E-Mail-Versand zeitweise geblockt (Blacklist)</a:t>
            </a:r>
            <a:endParaRPr lang="en-US" sz="1250"/>
          </a:p>
        </p:txBody>
      </p:sp>
      <p:sp>
        <p:nvSpPr>
          <p:cNvPr id="1811912299" name="Shape 25"/>
          <p:cNvSpPr/>
          <p:nvPr/>
        </p:nvSpPr>
        <p:spPr bwMode="auto">
          <a:xfrm>
            <a:off x="6080760" y="5056632"/>
            <a:ext cx="365760" cy="365760"/>
          </a:xfrm>
          <a:prstGeom prst="ellipse">
            <a:avLst/>
          </a:prstGeom>
          <a:solidFill>
            <a:srgbClr val="2E8B57"/>
          </a:solidFill>
          <a:ln/>
        </p:spPr>
      </p:sp>
      <p:pic>
        <p:nvPicPr>
          <p:cNvPr id="799778307" name="Image 9" descr="preencoded.png"/>
          <p:cNvPicPr>
            <a:picLocks noChangeAspect="1"/>
          </p:cNvPicPr>
          <p:nvPr/>
        </p:nvPicPr>
        <p:blipFill rotWithShape="1">
          <a:blip r:embed="rId12"/>
          <a:stretch/>
        </p:blipFill>
        <p:spPr bwMode="auto">
          <a:xfrm>
            <a:off x="6172200" y="5148072"/>
            <a:ext cx="182880" cy="182880"/>
          </a:xfrm>
          <a:prstGeom prst="rect">
            <a:avLst/>
          </a:prstGeom>
        </p:spPr>
      </p:pic>
      <p:sp>
        <p:nvSpPr>
          <p:cNvPr id="383302081" name="Text 26"/>
          <p:cNvSpPr/>
          <p:nvPr/>
        </p:nvSpPr>
        <p:spPr bwMode="auto">
          <a:xfrm>
            <a:off x="6537960" y="4882896"/>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Für die Demo toleranteren Empfänger; produktiv eigene verifizierte Absender-Domain.</a:t>
            </a:r>
            <a:endParaRPr lang="en-US" sz="1200"/>
          </a:p>
        </p:txBody>
      </p:sp>
      <p:sp>
        <p:nvSpPr>
          <p:cNvPr id="2028755523" name="Shape 27"/>
          <p:cNvSpPr/>
          <p:nvPr/>
        </p:nvSpPr>
        <p:spPr bwMode="auto">
          <a:xfrm>
            <a:off x="566928" y="5669280"/>
            <a:ext cx="11064240" cy="713232"/>
          </a:xfrm>
          <a:prstGeom prst="roundRect">
            <a:avLst>
              <a:gd name="adj" fmla="val 10256"/>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95877382" name="Shape 28"/>
          <p:cNvSpPr/>
          <p:nvPr/>
        </p:nvSpPr>
        <p:spPr bwMode="auto">
          <a:xfrm>
            <a:off x="786384" y="5843016"/>
            <a:ext cx="365760" cy="365760"/>
          </a:xfrm>
          <a:prstGeom prst="ellipse">
            <a:avLst/>
          </a:prstGeom>
          <a:solidFill>
            <a:srgbClr val="B9770A"/>
          </a:solidFill>
          <a:ln/>
        </p:spPr>
      </p:sp>
      <p:pic>
        <p:nvPicPr>
          <p:cNvPr id="90984099" name="Image 10" descr="preencoded.png"/>
          <p:cNvPicPr>
            <a:picLocks noChangeAspect="1"/>
          </p:cNvPicPr>
          <p:nvPr/>
        </p:nvPicPr>
        <p:blipFill rotWithShape="1">
          <a:blip r:embed="rId13"/>
          <a:stretch/>
        </p:blipFill>
        <p:spPr bwMode="auto">
          <a:xfrm>
            <a:off x="877824" y="5934456"/>
            <a:ext cx="182880" cy="182880"/>
          </a:xfrm>
          <a:prstGeom prst="rect">
            <a:avLst/>
          </a:prstGeom>
        </p:spPr>
      </p:pic>
      <p:sp>
        <p:nvSpPr>
          <p:cNvPr id="1498979984" name="Text 29"/>
          <p:cNvSpPr/>
          <p:nvPr/>
        </p:nvSpPr>
        <p:spPr bwMode="auto">
          <a:xfrm>
            <a:off x="1261872" y="5669280"/>
            <a:ext cx="4572000" cy="713232"/>
          </a:xfrm>
          <a:prstGeom prst="rect">
            <a:avLst/>
          </a:prstGeom>
          <a:noFill/>
          <a:ln/>
        </p:spPr>
        <p:txBody>
          <a:bodyPr wrap="square" lIns="0" tIns="0" rIns="0" bIns="0" rtlCol="0" anchor="ctr"/>
          <a:lstStyle/>
          <a:p>
            <a:pPr marL="0" indent="0">
              <a:lnSpc>
                <a:spcPct val="98000"/>
              </a:lnSpc>
              <a:buNone/>
              <a:defRPr/>
            </a:pPr>
            <a:r>
              <a:rPr lang="en-US" sz="1250" b="1">
                <a:solidFill>
                  <a:srgbClr val="13233B"/>
                </a:solidFill>
                <a:latin typeface="Calibri"/>
                <a:ea typeface="Calibri"/>
                <a:cs typeface="Calibri"/>
              </a:rPr>
              <a:t>Wartezeit auf die KI störte den Flow</a:t>
            </a:r>
            <a:endParaRPr lang="en-US" sz="1250"/>
          </a:p>
        </p:txBody>
      </p:sp>
      <p:sp>
        <p:nvSpPr>
          <p:cNvPr id="1336402897" name="Shape 30"/>
          <p:cNvSpPr/>
          <p:nvPr/>
        </p:nvSpPr>
        <p:spPr bwMode="auto">
          <a:xfrm>
            <a:off x="6080760" y="5843016"/>
            <a:ext cx="365760" cy="365760"/>
          </a:xfrm>
          <a:prstGeom prst="ellipse">
            <a:avLst/>
          </a:prstGeom>
          <a:solidFill>
            <a:srgbClr val="2E8B57"/>
          </a:solidFill>
          <a:ln/>
        </p:spPr>
      </p:sp>
      <p:pic>
        <p:nvPicPr>
          <p:cNvPr id="2078327974" name="Image 11" descr="preencoded.png"/>
          <p:cNvPicPr>
            <a:picLocks noChangeAspect="1"/>
          </p:cNvPicPr>
          <p:nvPr/>
        </p:nvPicPr>
        <p:blipFill rotWithShape="1">
          <a:blip r:embed="rId14"/>
          <a:stretch/>
        </p:blipFill>
        <p:spPr bwMode="auto">
          <a:xfrm>
            <a:off x="6172200" y="5934456"/>
            <a:ext cx="182880" cy="182880"/>
          </a:xfrm>
          <a:prstGeom prst="rect">
            <a:avLst/>
          </a:prstGeom>
        </p:spPr>
      </p:pic>
      <p:sp>
        <p:nvSpPr>
          <p:cNvPr id="1937828266" name="Text 31"/>
          <p:cNvSpPr/>
          <p:nvPr/>
        </p:nvSpPr>
        <p:spPr bwMode="auto">
          <a:xfrm>
            <a:off x="6537960" y="5669280"/>
            <a:ext cx="4937760" cy="713232"/>
          </a:xfrm>
          <a:prstGeom prst="rect">
            <a:avLst/>
          </a:prstGeom>
          <a:noFill/>
          <a:ln/>
        </p:spPr>
        <p:txBody>
          <a:bodyPr wrap="square" lIns="0" tIns="0" rIns="0" bIns="0" rtlCol="0" anchor="ctr"/>
          <a:lstStyle/>
          <a:p>
            <a:pPr marL="0" indent="0">
              <a:lnSpc>
                <a:spcPct val="98000"/>
              </a:lnSpc>
              <a:buNone/>
              <a:defRPr/>
            </a:pPr>
            <a:r>
              <a:rPr lang="en-US" sz="1200">
                <a:solidFill>
                  <a:srgbClr val="5A6B82"/>
                </a:solidFill>
                <a:latin typeface="Calibri"/>
                <a:ea typeface="Calibri"/>
                <a:cs typeface="Calibri"/>
              </a:rPr>
              <a:t>Hintergrund-Transkription mit Token-System + awaitTranscriptions() beim Senden.</a:t>
            </a:r>
            <a:endParaRPr lang="en-US" sz="1200"/>
          </a:p>
        </p:txBody>
      </p:sp>
      <p:sp>
        <p:nvSpPr>
          <p:cNvPr id="2141024276" name="Text 32"/>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272738305" name="Text 33"/>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19</a:t>
            </a:r>
            <a:endParaRPr lang="en-US" sz="900"/>
          </a:p>
        </p:txBody>
      </p:sp>
      <p:sp>
        <p:nvSpPr>
          <p:cNvPr id="1507383301" name=""/>
          <p:cNvSpPr txBox="1"/>
          <p:nvPr/>
        </p:nvSpPr>
        <p:spPr bwMode="auto">
          <a:xfrm rot="0" flipH="0" flipV="0">
            <a:off x="5901087" y="3246120"/>
            <a:ext cx="389824" cy="3657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F5F8FC"/>
        </a:solidFill>
      </p:bgPr>
    </p:bg>
    <p:spTree>
      <p:nvGrpSpPr>
        <p:cNvPr id="1" name=""/>
        <p:cNvGrpSpPr/>
        <p:nvPr/>
      </p:nvGrpSpPr>
      <p:grpSpPr bwMode="auto">
        <a:xfrm>
          <a:off x="0" y="0"/>
          <a:ext cx="0" cy="0"/>
          <a:chOff x="0" y="0"/>
          <a:chExt cx="0" cy="0"/>
        </a:xfrm>
      </p:grpSpPr>
      <p:sp>
        <p:nvSpPr>
          <p:cNvPr id="131074047"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TEAMARBEIT</a:t>
            </a:r>
            <a:endParaRPr lang="en-US" sz="1250"/>
          </a:p>
        </p:txBody>
      </p:sp>
      <p:sp>
        <p:nvSpPr>
          <p:cNvPr id="542842296"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Drei Stränge, klare Schnittstellen</a:t>
            </a:r>
            <a:endParaRPr lang="en-US" sz="3300"/>
          </a:p>
        </p:txBody>
      </p:sp>
      <p:sp>
        <p:nvSpPr>
          <p:cNvPr id="59084006" name="Shape 2"/>
          <p:cNvSpPr/>
          <p:nvPr/>
        </p:nvSpPr>
        <p:spPr bwMode="auto">
          <a:xfrm>
            <a:off x="566928" y="1783080"/>
            <a:ext cx="3584448" cy="2514600"/>
          </a:xfrm>
          <a:prstGeom prst="roundRect">
            <a:avLst>
              <a:gd name="adj" fmla="val 4364"/>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478139746" name="Shape 3"/>
          <p:cNvSpPr/>
          <p:nvPr/>
        </p:nvSpPr>
        <p:spPr bwMode="auto">
          <a:xfrm>
            <a:off x="1901952" y="2103120"/>
            <a:ext cx="914400" cy="914400"/>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1790119091" name="Image 0" descr="preencoded.png"/>
          <p:cNvPicPr>
            <a:picLocks noChangeAspect="1"/>
          </p:cNvPicPr>
          <p:nvPr/>
        </p:nvPicPr>
        <p:blipFill rotWithShape="1">
          <a:blip r:embed="rId3"/>
          <a:stretch/>
        </p:blipFill>
        <p:spPr bwMode="auto">
          <a:xfrm>
            <a:off x="2130552" y="2331720"/>
            <a:ext cx="457200" cy="457200"/>
          </a:xfrm>
          <a:prstGeom prst="rect">
            <a:avLst/>
          </a:prstGeom>
        </p:spPr>
      </p:pic>
      <p:sp>
        <p:nvSpPr>
          <p:cNvPr id="755603702" name="Text 4"/>
          <p:cNvSpPr/>
          <p:nvPr/>
        </p:nvSpPr>
        <p:spPr bwMode="auto">
          <a:xfrm>
            <a:off x="795528" y="3154680"/>
            <a:ext cx="3127248" cy="502920"/>
          </a:xfrm>
          <a:prstGeom prst="rect">
            <a:avLst/>
          </a:prstGeom>
          <a:noFill/>
          <a:ln/>
        </p:spPr>
        <p:txBody>
          <a:bodyPr wrap="square" lIns="0" tIns="0" rIns="0" bIns="0" rtlCol="0" anchor="ctr"/>
          <a:lstStyle/>
          <a:p>
            <a:pPr marL="0" indent="0" algn="ctr">
              <a:lnSpc>
                <a:spcPct val="95000"/>
              </a:lnSpc>
              <a:buNone/>
              <a:defRPr/>
            </a:pPr>
            <a:r>
              <a:rPr lang="en-US" sz="1550" b="1">
                <a:solidFill>
                  <a:srgbClr val="13233B"/>
                </a:solidFill>
                <a:latin typeface="Calibri"/>
                <a:ea typeface="Calibri"/>
                <a:cs typeface="Calibri"/>
              </a:rPr>
              <a:t>Bewohner-Frontend</a:t>
            </a:r>
            <a:endParaRPr lang="en-US" sz="1550"/>
          </a:p>
        </p:txBody>
      </p:sp>
      <p:sp>
        <p:nvSpPr>
          <p:cNvPr id="540462684" name="Text 5"/>
          <p:cNvSpPr/>
          <p:nvPr/>
        </p:nvSpPr>
        <p:spPr bwMode="auto">
          <a:xfrm>
            <a:off x="841248" y="3657600"/>
            <a:ext cx="3035808" cy="548640"/>
          </a:xfrm>
          <a:prstGeom prst="rect">
            <a:avLst/>
          </a:prstGeom>
          <a:noFill/>
          <a:ln/>
        </p:spPr>
        <p:txBody>
          <a:bodyPr wrap="square" lIns="0" tIns="0" rIns="0" bIns="0" rtlCol="0" anchor="t"/>
          <a:lstStyle/>
          <a:p>
            <a:pPr marL="0" indent="0" algn="ctr">
              <a:lnSpc>
                <a:spcPct val="104000"/>
              </a:lnSpc>
              <a:buNone/>
              <a:defRPr/>
            </a:pPr>
            <a:r>
              <a:rPr lang="en-US" sz="1200">
                <a:solidFill>
                  <a:srgbClr val="5A6B82"/>
                </a:solidFill>
                <a:latin typeface="Calibri"/>
                <a:ea typeface="Calibri"/>
                <a:cs typeface="Calibri"/>
              </a:rPr>
              <a:t>Screens, Aufnahme, Vorlesen, Whisper-Spracherkennung.</a:t>
            </a:r>
            <a:endParaRPr lang="en-US" sz="1200"/>
          </a:p>
        </p:txBody>
      </p:sp>
      <p:sp>
        <p:nvSpPr>
          <p:cNvPr id="749365321" name="Shape 6"/>
          <p:cNvSpPr/>
          <p:nvPr/>
        </p:nvSpPr>
        <p:spPr bwMode="auto">
          <a:xfrm>
            <a:off x="4352544" y="1783080"/>
            <a:ext cx="3584448" cy="2514600"/>
          </a:xfrm>
          <a:prstGeom prst="roundRect">
            <a:avLst>
              <a:gd name="adj" fmla="val 4364"/>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386452531" name="Shape 7"/>
          <p:cNvSpPr/>
          <p:nvPr/>
        </p:nvSpPr>
        <p:spPr bwMode="auto">
          <a:xfrm>
            <a:off x="5687568" y="2103120"/>
            <a:ext cx="914400" cy="914400"/>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712348619" name="Image 1" descr="preencoded.png"/>
          <p:cNvPicPr>
            <a:picLocks noChangeAspect="1"/>
          </p:cNvPicPr>
          <p:nvPr/>
        </p:nvPicPr>
        <p:blipFill rotWithShape="1">
          <a:blip r:embed="rId4"/>
          <a:stretch/>
        </p:blipFill>
        <p:spPr bwMode="auto">
          <a:xfrm>
            <a:off x="5916168" y="2331720"/>
            <a:ext cx="457200" cy="457200"/>
          </a:xfrm>
          <a:prstGeom prst="rect">
            <a:avLst/>
          </a:prstGeom>
        </p:spPr>
      </p:pic>
      <p:sp>
        <p:nvSpPr>
          <p:cNvPr id="487240730" name="Text 8"/>
          <p:cNvSpPr/>
          <p:nvPr/>
        </p:nvSpPr>
        <p:spPr bwMode="auto">
          <a:xfrm>
            <a:off x="4581144" y="3154680"/>
            <a:ext cx="3127248" cy="502920"/>
          </a:xfrm>
          <a:prstGeom prst="rect">
            <a:avLst/>
          </a:prstGeom>
          <a:noFill/>
          <a:ln/>
        </p:spPr>
        <p:txBody>
          <a:bodyPr wrap="square" lIns="0" tIns="0" rIns="0" bIns="0" rtlCol="0" anchor="ctr"/>
          <a:lstStyle/>
          <a:p>
            <a:pPr marL="0" indent="0" algn="ctr">
              <a:lnSpc>
                <a:spcPct val="95000"/>
              </a:lnSpc>
              <a:buNone/>
              <a:defRPr/>
            </a:pPr>
            <a:r>
              <a:rPr lang="en-US" sz="1550" b="1">
                <a:solidFill>
                  <a:srgbClr val="13233B"/>
                </a:solidFill>
                <a:latin typeface="Calibri"/>
                <a:ea typeface="Calibri"/>
                <a:cs typeface="Calibri"/>
              </a:rPr>
              <a:t>Backend, DB &amp; Mail</a:t>
            </a:r>
            <a:endParaRPr lang="en-US" sz="1550"/>
          </a:p>
        </p:txBody>
      </p:sp>
      <p:sp>
        <p:nvSpPr>
          <p:cNvPr id="1122497349" name="Text 9"/>
          <p:cNvSpPr/>
          <p:nvPr/>
        </p:nvSpPr>
        <p:spPr bwMode="auto">
          <a:xfrm>
            <a:off x="4626864" y="3657600"/>
            <a:ext cx="3035808" cy="548640"/>
          </a:xfrm>
          <a:prstGeom prst="rect">
            <a:avLst/>
          </a:prstGeom>
          <a:noFill/>
          <a:ln/>
        </p:spPr>
        <p:txBody>
          <a:bodyPr wrap="square" lIns="0" tIns="0" rIns="0" bIns="0" rtlCol="0" anchor="t"/>
          <a:lstStyle/>
          <a:p>
            <a:pPr marL="0" indent="0" algn="ctr">
              <a:lnSpc>
                <a:spcPct val="104000"/>
              </a:lnSpc>
              <a:buNone/>
              <a:defRPr/>
            </a:pPr>
            <a:r>
              <a:rPr lang="en-US" sz="1200">
                <a:solidFill>
                  <a:srgbClr val="5A6B82"/>
                </a:solidFill>
                <a:latin typeface="Calibri"/>
                <a:ea typeface="Calibri"/>
                <a:cs typeface="Calibri"/>
              </a:rPr>
              <a:t>API-Endpunkte, Supabase-Schema + RLS, Resend-Versand.</a:t>
            </a:r>
            <a:endParaRPr lang="en-US" sz="1200"/>
          </a:p>
        </p:txBody>
      </p:sp>
      <p:sp>
        <p:nvSpPr>
          <p:cNvPr id="739022913" name="Shape 10"/>
          <p:cNvSpPr/>
          <p:nvPr/>
        </p:nvSpPr>
        <p:spPr bwMode="auto">
          <a:xfrm>
            <a:off x="8138160" y="1783080"/>
            <a:ext cx="3584448" cy="2514600"/>
          </a:xfrm>
          <a:prstGeom prst="roundRect">
            <a:avLst>
              <a:gd name="adj" fmla="val 4364"/>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8206992" name="Shape 11"/>
          <p:cNvSpPr/>
          <p:nvPr/>
        </p:nvSpPr>
        <p:spPr bwMode="auto">
          <a:xfrm>
            <a:off x="9473184" y="2103120"/>
            <a:ext cx="914400" cy="914400"/>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44281652" name="Image 2" descr="preencoded.png"/>
          <p:cNvPicPr>
            <a:picLocks noChangeAspect="1"/>
          </p:cNvPicPr>
          <p:nvPr/>
        </p:nvPicPr>
        <p:blipFill rotWithShape="1">
          <a:blip r:embed="rId5"/>
          <a:stretch/>
        </p:blipFill>
        <p:spPr bwMode="auto">
          <a:xfrm>
            <a:off x="9701784" y="2331720"/>
            <a:ext cx="457200" cy="457200"/>
          </a:xfrm>
          <a:prstGeom prst="rect">
            <a:avLst/>
          </a:prstGeom>
        </p:spPr>
      </p:pic>
      <p:sp>
        <p:nvSpPr>
          <p:cNvPr id="62389753" name="Text 12"/>
          <p:cNvSpPr/>
          <p:nvPr/>
        </p:nvSpPr>
        <p:spPr bwMode="auto">
          <a:xfrm>
            <a:off x="8366760" y="3154680"/>
            <a:ext cx="3127248" cy="502920"/>
          </a:xfrm>
          <a:prstGeom prst="rect">
            <a:avLst/>
          </a:prstGeom>
          <a:noFill/>
          <a:ln/>
        </p:spPr>
        <p:txBody>
          <a:bodyPr wrap="square" lIns="0" tIns="0" rIns="0" bIns="0" rtlCol="0" anchor="ctr"/>
          <a:lstStyle/>
          <a:p>
            <a:pPr marL="0" indent="0" algn="ctr">
              <a:lnSpc>
                <a:spcPct val="95000"/>
              </a:lnSpc>
              <a:buNone/>
              <a:defRPr/>
            </a:pPr>
            <a:r>
              <a:rPr lang="en-US" sz="1550" b="1">
                <a:solidFill>
                  <a:srgbClr val="13233B"/>
                </a:solidFill>
                <a:latin typeface="Calibri"/>
                <a:ea typeface="Calibri"/>
                <a:cs typeface="Calibri"/>
              </a:rPr>
              <a:t>Verwaltung, Sicherheit &amp; Doku</a:t>
            </a:r>
            <a:endParaRPr lang="en-US" sz="1550"/>
          </a:p>
        </p:txBody>
      </p:sp>
      <p:sp>
        <p:nvSpPr>
          <p:cNvPr id="1377569108" name="Text 13"/>
          <p:cNvSpPr/>
          <p:nvPr/>
        </p:nvSpPr>
        <p:spPr bwMode="auto">
          <a:xfrm>
            <a:off x="8412480" y="3657600"/>
            <a:ext cx="3035808" cy="548640"/>
          </a:xfrm>
          <a:prstGeom prst="rect">
            <a:avLst/>
          </a:prstGeom>
          <a:noFill/>
          <a:ln/>
        </p:spPr>
        <p:txBody>
          <a:bodyPr wrap="square" lIns="0" tIns="0" rIns="0" bIns="0" rtlCol="0" anchor="t"/>
          <a:lstStyle/>
          <a:p>
            <a:pPr marL="0" indent="0" algn="ctr">
              <a:lnSpc>
                <a:spcPct val="104000"/>
              </a:lnSpc>
              <a:buNone/>
              <a:defRPr/>
            </a:pPr>
            <a:r>
              <a:rPr lang="en-US" sz="1200">
                <a:solidFill>
                  <a:srgbClr val="5A6B82"/>
                </a:solidFill>
                <a:latin typeface="Calibri"/>
                <a:ea typeface="Calibri"/>
                <a:cs typeface="Calibri"/>
              </a:rPr>
              <a:t>Login, Liste/Detail, Sicherheits- &amp; Datenschutzkonzept, Dokumentation.</a:t>
            </a:r>
            <a:endParaRPr lang="en-US" sz="1200"/>
          </a:p>
        </p:txBody>
      </p:sp>
      <p:sp>
        <p:nvSpPr>
          <p:cNvPr id="1112719689" name="Shape 14"/>
          <p:cNvSpPr/>
          <p:nvPr/>
        </p:nvSpPr>
        <p:spPr bwMode="auto">
          <a:xfrm>
            <a:off x="566928" y="4617720"/>
            <a:ext cx="11064240" cy="1371600"/>
          </a:xfrm>
          <a:prstGeom prst="roundRect">
            <a:avLst>
              <a:gd name="adj" fmla="val 8000"/>
            </a:avLst>
          </a:prstGeom>
          <a:solidFill>
            <a:srgbClr val="0F2E58"/>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178651328" name="Shape 15"/>
          <p:cNvSpPr/>
          <p:nvPr/>
        </p:nvSpPr>
        <p:spPr bwMode="auto">
          <a:xfrm>
            <a:off x="960120" y="4983480"/>
            <a:ext cx="658368" cy="658368"/>
          </a:xfrm>
          <a:prstGeom prst="ellipse">
            <a:avLst/>
          </a:prstGeom>
          <a:solidFill>
            <a:srgbClr val="F59E0B"/>
          </a:solidFill>
          <a:ln/>
        </p:spPr>
      </p:sp>
      <p:pic>
        <p:nvPicPr>
          <p:cNvPr id="1857322814" name="Image 3" descr="preencoded.png"/>
          <p:cNvPicPr>
            <a:picLocks noChangeAspect="1"/>
          </p:cNvPicPr>
          <p:nvPr/>
        </p:nvPicPr>
        <p:blipFill rotWithShape="1">
          <a:blip r:embed="rId6"/>
          <a:stretch/>
        </p:blipFill>
        <p:spPr bwMode="auto">
          <a:xfrm>
            <a:off x="1124712" y="5148072"/>
            <a:ext cx="329184" cy="329184"/>
          </a:xfrm>
          <a:prstGeom prst="rect">
            <a:avLst/>
          </a:prstGeom>
        </p:spPr>
      </p:pic>
      <p:sp>
        <p:nvSpPr>
          <p:cNvPr id="1742341559" name="Text 16"/>
          <p:cNvSpPr/>
          <p:nvPr/>
        </p:nvSpPr>
        <p:spPr bwMode="auto">
          <a:xfrm>
            <a:off x="1874520" y="4754880"/>
            <a:ext cx="9509760" cy="1097280"/>
          </a:xfrm>
          <a:prstGeom prst="rect">
            <a:avLst/>
          </a:prstGeom>
          <a:noFill/>
          <a:ln/>
        </p:spPr>
        <p:txBody>
          <a:bodyPr wrap="square" lIns="0" tIns="0" rIns="0" bIns="0" rtlCol="0" anchor="ctr"/>
          <a:lstStyle/>
          <a:p>
            <a:pPr marL="0" indent="0">
              <a:lnSpc>
                <a:spcPct val="105000"/>
              </a:lnSpc>
              <a:buNone/>
              <a:defRPr/>
            </a:pPr>
            <a:r>
              <a:rPr lang="en-US" sz="1600" b="1">
                <a:solidFill>
                  <a:srgbClr val="FFFFFF"/>
                </a:solidFill>
                <a:latin typeface="Calibri"/>
                <a:ea typeface="Calibri"/>
                <a:cs typeface="Calibri"/>
              </a:rPr>
              <a:t>Der Daten-Vertrag wurde früh eingefroren.</a:t>
            </a:r>
            <a:br>
              <a:rPr lang="en-US" sz="1600" b="1">
                <a:solidFill>
                  <a:srgbClr val="FFFFFF"/>
                </a:solidFill>
                <a:latin typeface="Calibri"/>
                <a:ea typeface="Calibri"/>
                <a:cs typeface="Calibri"/>
              </a:rPr>
            </a:br>
            <a:endParaRPr lang="en-US" sz="1600"/>
          </a:p>
          <a:p>
            <a:pPr marL="0" indent="0">
              <a:lnSpc>
                <a:spcPct val="105000"/>
              </a:lnSpc>
              <a:buNone/>
              <a:defRPr/>
            </a:pPr>
            <a:r>
              <a:rPr lang="en-US" sz="1300">
                <a:solidFill>
                  <a:srgbClr val="CFE0F5"/>
                </a:solidFill>
                <a:latin typeface="Calibri"/>
                <a:ea typeface="Calibri"/>
                <a:cs typeface="Calibri"/>
              </a:rPr>
              <a:t>Die Feldnamen zwischen Frontend und Backend standen von Anfang an fest — so konnten beide Seiten unabhängig und ohne Blockaden arbeiten. Abstimmung über das gemeinsame Git-Repo und ein tägliches Fortschritts-Board.</a:t>
            </a:r>
            <a:endParaRPr lang="en-US" sz="1600"/>
          </a:p>
        </p:txBody>
      </p:sp>
      <p:sp>
        <p:nvSpPr>
          <p:cNvPr id="492536531" name="Text 17"/>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1108109155" name="Text 18"/>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20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5F8FC"/>
        </a:solidFill>
      </p:bgPr>
    </p:bg>
    <p:spTree>
      <p:nvGrpSpPr>
        <p:cNvPr id="1" name=""/>
        <p:cNvGrpSpPr/>
        <p:nvPr/>
      </p:nvGrpSpPr>
      <p:grpSpPr bwMode="auto">
        <a:xfrm>
          <a:off x="0" y="0"/>
          <a:ext cx="0" cy="0"/>
          <a:chOff x="0" y="0"/>
          <a:chExt cx="0" cy="0"/>
        </a:xfrm>
      </p:grpSpPr>
      <p:sp>
        <p:nvSpPr>
          <p:cNvPr id="1485298139"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RETROSPEKTIVE</a:t>
            </a:r>
            <a:endParaRPr lang="en-US" sz="1250"/>
          </a:p>
        </p:txBody>
      </p:sp>
      <p:sp>
        <p:nvSpPr>
          <p:cNvPr id="734663143"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Was lief gut, was nicht, was wir lernten</a:t>
            </a:r>
            <a:endParaRPr lang="en-US" sz="3300"/>
          </a:p>
        </p:txBody>
      </p:sp>
      <p:sp>
        <p:nvSpPr>
          <p:cNvPr id="1766255082" name="Shape 2"/>
          <p:cNvSpPr/>
          <p:nvPr/>
        </p:nvSpPr>
        <p:spPr bwMode="auto">
          <a:xfrm>
            <a:off x="566928" y="1783080"/>
            <a:ext cx="3584448" cy="4206240"/>
          </a:xfrm>
          <a:prstGeom prst="roundRect">
            <a:avLst>
              <a:gd name="adj" fmla="val 306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919358528" name="Shape 3"/>
          <p:cNvSpPr/>
          <p:nvPr/>
        </p:nvSpPr>
        <p:spPr bwMode="auto">
          <a:xfrm>
            <a:off x="859536" y="2075688"/>
            <a:ext cx="621792" cy="621792"/>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1902022083" name="Image 0" descr="preencoded.png"/>
          <p:cNvPicPr>
            <a:picLocks noChangeAspect="1"/>
          </p:cNvPicPr>
          <p:nvPr/>
        </p:nvPicPr>
        <p:blipFill rotWithShape="1">
          <a:blip r:embed="rId3"/>
          <a:stretch/>
        </p:blipFill>
        <p:spPr bwMode="auto">
          <a:xfrm>
            <a:off x="1014984" y="2231136"/>
            <a:ext cx="310896" cy="310896"/>
          </a:xfrm>
          <a:prstGeom prst="rect">
            <a:avLst/>
          </a:prstGeom>
        </p:spPr>
      </p:pic>
      <p:sp>
        <p:nvSpPr>
          <p:cNvPr id="1841904099" name="Text 4"/>
          <p:cNvSpPr/>
          <p:nvPr/>
        </p:nvSpPr>
        <p:spPr bwMode="auto">
          <a:xfrm>
            <a:off x="1618488" y="2075688"/>
            <a:ext cx="2395728" cy="621792"/>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Was lief gut</a:t>
            </a:r>
            <a:endParaRPr lang="en-US" sz="1500"/>
          </a:p>
        </p:txBody>
      </p:sp>
      <p:sp>
        <p:nvSpPr>
          <p:cNvPr id="1299334260" name="Shape 5"/>
          <p:cNvSpPr/>
          <p:nvPr/>
        </p:nvSpPr>
        <p:spPr bwMode="auto">
          <a:xfrm>
            <a:off x="859536" y="2880360"/>
            <a:ext cx="2999232" cy="0"/>
          </a:xfrm>
          <a:prstGeom prst="line">
            <a:avLst/>
          </a:prstGeom>
          <a:noFill/>
          <a:ln w="12700">
            <a:solidFill>
              <a:srgbClr val="E1E8F1"/>
            </a:solidFill>
            <a:prstDash val="solid"/>
          </a:ln>
        </p:spPr>
      </p:sp>
      <p:sp>
        <p:nvSpPr>
          <p:cNvPr id="1310230117" name="Text 6"/>
          <p:cNvSpPr/>
          <p:nvPr/>
        </p:nvSpPr>
        <p:spPr bwMode="auto">
          <a:xfrm>
            <a:off x="932688" y="3063240"/>
            <a:ext cx="2926080" cy="2788920"/>
          </a:xfrm>
          <a:prstGeom prst="rect">
            <a:avLst/>
          </a:prstGeom>
          <a:noFill/>
          <a:ln/>
        </p:spPr>
        <p:txBody>
          <a:bodyPr wrap="square" lIns="0" tIns="0" rIns="0" bIns="0" rtlCol="0" anchor="t"/>
          <a:lstStyle/>
          <a:p>
            <a:pPr marL="177800" indent="-177800">
              <a:lnSpc>
                <a:spcPct val="103000"/>
              </a:lnSpc>
              <a:spcAft>
                <a:spcPts val="900"/>
              </a:spcAft>
              <a:buSzPct val="100000"/>
              <a:buChar char="•"/>
              <a:defRPr/>
            </a:pPr>
            <a:r>
              <a:rPr lang="en-US" sz="1200">
                <a:solidFill>
                  <a:srgbClr val="5A6B82"/>
                </a:solidFill>
                <a:latin typeface="Calibri"/>
                <a:ea typeface="Calibri"/>
                <a:cs typeface="Calibri"/>
              </a:rPr>
              <a:t>Konzept früh &amp; klar → fokussiert</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Paralleles Arbeiten über eingefrorene Schnittstellen</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KI</a:t>
            </a:r>
            <a:r>
              <a:rPr lang="de-DE" sz="1200">
                <a:solidFill>
                  <a:srgbClr val="5A6B82"/>
                </a:solidFill>
                <a:latin typeface="Calibri"/>
                <a:ea typeface="Calibri"/>
                <a:cs typeface="Calibri"/>
              </a:rPr>
              <a:t> leistungsstark </a:t>
            </a:r>
            <a:r>
              <a:rPr lang="en-US" sz="1200" b="0" i="0" u="none" strike="noStrike" cap="none" spc="0">
                <a:solidFill>
                  <a:srgbClr val="5A6B82"/>
                </a:solidFill>
                <a:latin typeface="Calibri"/>
                <a:ea typeface="Calibri"/>
                <a:cs typeface="Calibri"/>
              </a:rPr>
              <a:t>→</a:t>
            </a:r>
            <a:r>
              <a:rPr lang="de-DE" sz="1200">
                <a:solidFill>
                  <a:srgbClr val="5A6B82"/>
                </a:solidFill>
                <a:latin typeface="Calibri"/>
                <a:ea typeface="Calibri"/>
                <a:cs typeface="Calibri"/>
              </a:rPr>
              <a:t> Schnelle Ergebnisse</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Kompletter Weg live: Tablet → Mail + DB → Verwaltung</a:t>
            </a:r>
            <a:r>
              <a:rPr lang="de-DE" sz="1200">
                <a:solidFill>
                  <a:srgbClr val="5A6B82"/>
                </a:solidFill>
                <a:latin typeface="Calibri"/>
                <a:ea typeface="Calibri"/>
                <a:cs typeface="Calibri"/>
              </a:rPr>
              <a:t> </a:t>
            </a:r>
            <a:endParaRPr lang="en-US" sz="1200"/>
          </a:p>
        </p:txBody>
      </p:sp>
      <p:sp>
        <p:nvSpPr>
          <p:cNvPr id="1053329716" name="Shape 7"/>
          <p:cNvSpPr/>
          <p:nvPr/>
        </p:nvSpPr>
        <p:spPr bwMode="auto">
          <a:xfrm>
            <a:off x="4352544" y="1783080"/>
            <a:ext cx="3584448" cy="4206240"/>
          </a:xfrm>
          <a:prstGeom prst="roundRect">
            <a:avLst>
              <a:gd name="adj" fmla="val 306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482252524" name="Shape 8"/>
          <p:cNvSpPr/>
          <p:nvPr/>
        </p:nvSpPr>
        <p:spPr bwMode="auto">
          <a:xfrm>
            <a:off x="4645152" y="2075688"/>
            <a:ext cx="621792" cy="621792"/>
          </a:xfrm>
          <a:prstGeom prst="ellipse">
            <a:avLst/>
          </a:prstGeom>
          <a:solidFill>
            <a:srgbClr val="D22F3A"/>
          </a:solidFill>
          <a:ln/>
          <a:effectLst>
            <a:outerShdw blurRad="76200" dist="25400" dir="5400000" sx="100000" sy="100000" kx="0" ky="0" algn="bl" rotWithShape="0">
              <a:srgbClr val="1B2A44">
                <a:alpha val="16000"/>
              </a:srgbClr>
            </a:outerShdw>
          </a:effectLst>
        </p:spPr>
      </p:sp>
      <p:pic>
        <p:nvPicPr>
          <p:cNvPr id="1205553929" name="Image 1" descr="preencoded.png"/>
          <p:cNvPicPr>
            <a:picLocks noChangeAspect="1"/>
          </p:cNvPicPr>
          <p:nvPr/>
        </p:nvPicPr>
        <p:blipFill rotWithShape="1">
          <a:blip r:embed="rId4"/>
          <a:stretch/>
        </p:blipFill>
        <p:spPr bwMode="auto">
          <a:xfrm>
            <a:off x="4800600" y="2231136"/>
            <a:ext cx="310896" cy="310896"/>
          </a:xfrm>
          <a:prstGeom prst="rect">
            <a:avLst/>
          </a:prstGeom>
        </p:spPr>
      </p:pic>
      <p:sp>
        <p:nvSpPr>
          <p:cNvPr id="872232423" name="Text 9"/>
          <p:cNvSpPr/>
          <p:nvPr/>
        </p:nvSpPr>
        <p:spPr bwMode="auto">
          <a:xfrm>
            <a:off x="5404104" y="2075688"/>
            <a:ext cx="2395728" cy="621792"/>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Was weniger gut lief</a:t>
            </a:r>
            <a:endParaRPr lang="en-US" sz="1500"/>
          </a:p>
        </p:txBody>
      </p:sp>
      <p:sp>
        <p:nvSpPr>
          <p:cNvPr id="69627218" name="Shape 10"/>
          <p:cNvSpPr/>
          <p:nvPr/>
        </p:nvSpPr>
        <p:spPr bwMode="auto">
          <a:xfrm>
            <a:off x="4645152" y="2880360"/>
            <a:ext cx="2999232" cy="0"/>
          </a:xfrm>
          <a:prstGeom prst="line">
            <a:avLst/>
          </a:prstGeom>
          <a:noFill/>
          <a:ln w="12700">
            <a:solidFill>
              <a:srgbClr val="E1E8F1"/>
            </a:solidFill>
            <a:prstDash val="solid"/>
          </a:ln>
        </p:spPr>
      </p:sp>
      <p:sp>
        <p:nvSpPr>
          <p:cNvPr id="1258815349" name="Text 11"/>
          <p:cNvSpPr/>
          <p:nvPr/>
        </p:nvSpPr>
        <p:spPr bwMode="auto">
          <a:xfrm>
            <a:off x="4718304" y="3063240"/>
            <a:ext cx="2926080" cy="2788920"/>
          </a:xfrm>
          <a:prstGeom prst="rect">
            <a:avLst/>
          </a:prstGeom>
          <a:noFill/>
          <a:ln/>
        </p:spPr>
        <p:txBody>
          <a:bodyPr wrap="square" lIns="0" tIns="0" rIns="0" bIns="0" rtlCol="0" anchor="t"/>
          <a:lstStyle/>
          <a:p>
            <a:pPr marL="177800" indent="-177800">
              <a:lnSpc>
                <a:spcPct val="103000"/>
              </a:lnSpc>
              <a:spcAft>
                <a:spcPts val="900"/>
              </a:spcAft>
              <a:buSzPct val="100000"/>
              <a:buChar char="•"/>
              <a:defRPr/>
            </a:pPr>
            <a:r>
              <a:rPr lang="en-US" sz="1200">
                <a:solidFill>
                  <a:srgbClr val="5A6B82"/>
                </a:solidFill>
                <a:latin typeface="Calibri"/>
                <a:ea typeface="Calibri"/>
                <a:cs typeface="Calibri"/>
              </a:rPr>
              <a:t>Whisper-Genauigkeit bei Eigennamen</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E-Mail-Zustellung (Blacklist der Absender-IP)</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Supabase-Auth-Stolperfalle (instance_id)</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Wenig Zeit auf echter Kiosk-Hardware</a:t>
            </a:r>
            <a:endParaRPr lang="en-US" sz="1200"/>
          </a:p>
        </p:txBody>
      </p:sp>
      <p:sp>
        <p:nvSpPr>
          <p:cNvPr id="1890093842" name="Shape 12"/>
          <p:cNvSpPr/>
          <p:nvPr/>
        </p:nvSpPr>
        <p:spPr bwMode="auto">
          <a:xfrm>
            <a:off x="8138160" y="1783080"/>
            <a:ext cx="3584448" cy="4206240"/>
          </a:xfrm>
          <a:prstGeom prst="roundRect">
            <a:avLst>
              <a:gd name="adj" fmla="val 3061"/>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3093791" name="Shape 13"/>
          <p:cNvSpPr/>
          <p:nvPr/>
        </p:nvSpPr>
        <p:spPr bwMode="auto">
          <a:xfrm>
            <a:off x="8430768" y="2075688"/>
            <a:ext cx="621792" cy="621792"/>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1821524444" name="Image 2" descr="preencoded.png"/>
          <p:cNvPicPr>
            <a:picLocks noChangeAspect="1"/>
          </p:cNvPicPr>
          <p:nvPr/>
        </p:nvPicPr>
        <p:blipFill rotWithShape="1">
          <a:blip r:embed="rId5"/>
          <a:stretch/>
        </p:blipFill>
        <p:spPr bwMode="auto">
          <a:xfrm>
            <a:off x="8586216" y="2231136"/>
            <a:ext cx="310896" cy="310896"/>
          </a:xfrm>
          <a:prstGeom prst="rect">
            <a:avLst/>
          </a:prstGeom>
        </p:spPr>
      </p:pic>
      <p:sp>
        <p:nvSpPr>
          <p:cNvPr id="930021198" name="Text 14"/>
          <p:cNvSpPr/>
          <p:nvPr/>
        </p:nvSpPr>
        <p:spPr bwMode="auto">
          <a:xfrm>
            <a:off x="9189720" y="2075688"/>
            <a:ext cx="2395728" cy="621792"/>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Was wir gelernt haben</a:t>
            </a:r>
            <a:endParaRPr lang="en-US" sz="1500"/>
          </a:p>
        </p:txBody>
      </p:sp>
      <p:sp>
        <p:nvSpPr>
          <p:cNvPr id="502066234" name="Shape 15"/>
          <p:cNvSpPr/>
          <p:nvPr/>
        </p:nvSpPr>
        <p:spPr bwMode="auto">
          <a:xfrm>
            <a:off x="8430768" y="2880360"/>
            <a:ext cx="2999232" cy="0"/>
          </a:xfrm>
          <a:prstGeom prst="line">
            <a:avLst/>
          </a:prstGeom>
          <a:noFill/>
          <a:ln w="12700">
            <a:solidFill>
              <a:srgbClr val="E1E8F1"/>
            </a:solidFill>
            <a:prstDash val="solid"/>
          </a:ln>
        </p:spPr>
      </p:sp>
      <p:sp>
        <p:nvSpPr>
          <p:cNvPr id="890839068" name="Text 16"/>
          <p:cNvSpPr/>
          <p:nvPr/>
        </p:nvSpPr>
        <p:spPr bwMode="auto">
          <a:xfrm>
            <a:off x="8503920" y="3063240"/>
            <a:ext cx="2926080" cy="2788920"/>
          </a:xfrm>
          <a:prstGeom prst="rect">
            <a:avLst/>
          </a:prstGeom>
          <a:noFill/>
          <a:ln/>
        </p:spPr>
        <p:txBody>
          <a:bodyPr wrap="square" lIns="0" tIns="0" rIns="0" bIns="0" rtlCol="0" anchor="t"/>
          <a:lstStyle/>
          <a:p>
            <a:pPr marL="177800" indent="-177800">
              <a:lnSpc>
                <a:spcPct val="103000"/>
              </a:lnSpc>
              <a:spcAft>
                <a:spcPts val="900"/>
              </a:spcAft>
              <a:buSzPct val="100000"/>
              <a:buChar char="•"/>
              <a:defRPr/>
            </a:pPr>
            <a:r>
              <a:rPr lang="en-US" sz="1200">
                <a:solidFill>
                  <a:srgbClr val="5A6B82"/>
                </a:solidFill>
                <a:latin typeface="Calibri"/>
                <a:ea typeface="Calibri"/>
                <a:cs typeface="Calibri"/>
              </a:rPr>
              <a:t>Schnittstellen früh einfrieren spart Konflikte</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Barrierefreiheit = radikale Reduktion</a:t>
            </a:r>
            <a:endParaRPr lang="en-US" sz="1200"/>
          </a:p>
          <a:p>
            <a:pPr marL="177800" indent="-177800">
              <a:lnSpc>
                <a:spcPct val="103000"/>
              </a:lnSpc>
              <a:spcAft>
                <a:spcPts val="900"/>
              </a:spcAft>
              <a:buSzPct val="100000"/>
              <a:buChar char="•"/>
              <a:defRPr/>
            </a:pPr>
            <a:r>
              <a:rPr lang="en-US" sz="1200">
                <a:solidFill>
                  <a:srgbClr val="5A6B82"/>
                </a:solidFill>
                <a:latin typeface="Calibri"/>
                <a:ea typeface="Calibri"/>
                <a:cs typeface="Calibri"/>
              </a:rPr>
              <a:t>Auth-Accounts über Studio/API, nicht per SQL</a:t>
            </a:r>
            <a:endParaRPr lang="en-US" sz="1200"/>
          </a:p>
        </p:txBody>
      </p:sp>
      <p:sp>
        <p:nvSpPr>
          <p:cNvPr id="1606167544" name="Text 17"/>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595315737" name="Text 18"/>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21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F5F8FC"/>
        </a:solidFill>
      </p:bgPr>
    </p:bg>
    <p:spTree>
      <p:nvGrpSpPr>
        <p:cNvPr id="1" name=""/>
        <p:cNvGrpSpPr/>
        <p:nvPr/>
      </p:nvGrpSpPr>
      <p:grpSpPr bwMode="auto">
        <a:xfrm>
          <a:off x="0" y="0"/>
          <a:ext cx="0" cy="0"/>
          <a:chOff x="0" y="0"/>
          <a:chExt cx="0" cy="0"/>
        </a:xfrm>
      </p:grpSpPr>
      <p:sp>
        <p:nvSpPr>
          <p:cNvPr id="724582844" name="Text 0"/>
          <p:cNvSpPr/>
          <p:nvPr/>
        </p:nvSpPr>
        <p:spPr bwMode="auto">
          <a:xfrm>
            <a:off x="566928" y="402336"/>
            <a:ext cx="10972800" cy="274320"/>
          </a:xfrm>
          <a:prstGeom prst="rect">
            <a:avLst/>
          </a:prstGeom>
          <a:noFill/>
          <a:ln/>
        </p:spPr>
        <p:txBody>
          <a:bodyPr wrap="square" lIns="0" tIns="0" rIns="0" bIns="0" rtlCol="0" anchor="ctr"/>
          <a:lstStyle/>
          <a:p>
            <a:pPr marL="0" indent="0">
              <a:buNone/>
              <a:defRPr/>
            </a:pPr>
            <a:r>
              <a:rPr lang="en-US" sz="1250" b="1" spc="200">
                <a:solidFill>
                  <a:srgbClr val="B9770A"/>
                </a:solidFill>
                <a:latin typeface="Calibri"/>
                <a:ea typeface="Calibri"/>
                <a:cs typeface="Calibri"/>
              </a:rPr>
              <a:t>4 · AUSBLICK</a:t>
            </a:r>
            <a:endParaRPr lang="en-US" sz="1250"/>
          </a:p>
        </p:txBody>
      </p:sp>
      <p:sp>
        <p:nvSpPr>
          <p:cNvPr id="1159849707" name="Text 1"/>
          <p:cNvSpPr/>
          <p:nvPr/>
        </p:nvSpPr>
        <p:spPr bwMode="auto">
          <a:xfrm>
            <a:off x="530352" y="694944"/>
            <a:ext cx="11155680" cy="749808"/>
          </a:xfrm>
          <a:prstGeom prst="rect">
            <a:avLst/>
          </a:prstGeom>
          <a:noFill/>
          <a:ln/>
        </p:spPr>
        <p:txBody>
          <a:bodyPr wrap="square" lIns="0" tIns="0" rIns="0" bIns="0" rtlCol="0" anchor="ctr"/>
          <a:lstStyle/>
          <a:p>
            <a:pPr marL="0" indent="0">
              <a:buNone/>
              <a:defRPr/>
            </a:pPr>
            <a:r>
              <a:rPr lang="en-US" sz="3300" b="1">
                <a:solidFill>
                  <a:srgbClr val="13233B"/>
                </a:solidFill>
                <a:latin typeface="Cambria"/>
                <a:ea typeface="Cambria"/>
                <a:cs typeface="Cambria"/>
              </a:rPr>
              <a:t>Wohin es als Nächstes geht</a:t>
            </a:r>
            <a:endParaRPr lang="en-US" sz="3300"/>
          </a:p>
        </p:txBody>
      </p:sp>
      <p:sp>
        <p:nvSpPr>
          <p:cNvPr id="1725572579" name="Shape 2"/>
          <p:cNvSpPr/>
          <p:nvPr/>
        </p:nvSpPr>
        <p:spPr bwMode="auto">
          <a:xfrm>
            <a:off x="566928" y="1828800"/>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675997173" name="Shape 3"/>
          <p:cNvSpPr/>
          <p:nvPr/>
        </p:nvSpPr>
        <p:spPr bwMode="auto">
          <a:xfrm>
            <a:off x="841248" y="2103120"/>
            <a:ext cx="621792" cy="621792"/>
          </a:xfrm>
          <a:prstGeom prst="ellipse">
            <a:avLst/>
          </a:prstGeom>
          <a:solidFill>
            <a:srgbClr val="1B4F8F"/>
          </a:solidFill>
          <a:ln/>
          <a:effectLst>
            <a:outerShdw blurRad="76200" dist="25400" dir="5400000" sx="100000" sy="100000" kx="0" ky="0" algn="bl" rotWithShape="0">
              <a:srgbClr val="1B2A44">
                <a:alpha val="16000"/>
              </a:srgbClr>
            </a:outerShdw>
          </a:effectLst>
        </p:spPr>
      </p:sp>
      <p:pic>
        <p:nvPicPr>
          <p:cNvPr id="1124621171" name="Image 0" descr="preencoded.png"/>
          <p:cNvPicPr>
            <a:picLocks noChangeAspect="1"/>
          </p:cNvPicPr>
          <p:nvPr/>
        </p:nvPicPr>
        <p:blipFill rotWithShape="1">
          <a:blip r:embed="rId3"/>
          <a:stretch/>
        </p:blipFill>
        <p:spPr bwMode="auto">
          <a:xfrm>
            <a:off x="996696" y="2258568"/>
            <a:ext cx="310896" cy="310896"/>
          </a:xfrm>
          <a:prstGeom prst="rect">
            <a:avLst/>
          </a:prstGeom>
        </p:spPr>
      </p:pic>
      <p:sp>
        <p:nvSpPr>
          <p:cNvPr id="2070673831" name="Text 4"/>
          <p:cNvSpPr/>
          <p:nvPr/>
        </p:nvSpPr>
        <p:spPr bwMode="auto">
          <a:xfrm>
            <a:off x="1664208" y="2011680"/>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KI-Auto-Kategorisierung</a:t>
            </a:r>
            <a:endParaRPr lang="en-US" sz="1500"/>
          </a:p>
        </p:txBody>
      </p:sp>
      <p:sp>
        <p:nvSpPr>
          <p:cNvPr id="152012483" name="Text 5"/>
          <p:cNvSpPr/>
          <p:nvPr/>
        </p:nvSpPr>
        <p:spPr bwMode="auto">
          <a:xfrm>
            <a:off x="1664208" y="2395728"/>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Kategorie &amp; Dringlichkeit automatisch per LLM taggen.</a:t>
            </a:r>
            <a:endParaRPr lang="en-US" sz="1200"/>
          </a:p>
        </p:txBody>
      </p:sp>
      <p:sp>
        <p:nvSpPr>
          <p:cNvPr id="2113516009" name="Shape 6"/>
          <p:cNvSpPr/>
          <p:nvPr/>
        </p:nvSpPr>
        <p:spPr bwMode="auto">
          <a:xfrm>
            <a:off x="6217920" y="1828800"/>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184326290" name="Shape 7"/>
          <p:cNvSpPr/>
          <p:nvPr/>
        </p:nvSpPr>
        <p:spPr bwMode="auto">
          <a:xfrm>
            <a:off x="6492240" y="2103120"/>
            <a:ext cx="621792" cy="621792"/>
          </a:xfrm>
          <a:prstGeom prst="ellipse">
            <a:avLst/>
          </a:prstGeom>
          <a:solidFill>
            <a:srgbClr val="B9770A"/>
          </a:solidFill>
          <a:ln/>
          <a:effectLst>
            <a:outerShdw blurRad="76200" dist="25400" dir="5400000" sx="100000" sy="100000" kx="0" ky="0" algn="bl" rotWithShape="0">
              <a:srgbClr val="1B2A44">
                <a:alpha val="16000"/>
              </a:srgbClr>
            </a:outerShdw>
          </a:effectLst>
        </p:spPr>
      </p:sp>
      <p:pic>
        <p:nvPicPr>
          <p:cNvPr id="1314052219" name="Image 1" descr="preencoded.png"/>
          <p:cNvPicPr>
            <a:picLocks noChangeAspect="1"/>
          </p:cNvPicPr>
          <p:nvPr/>
        </p:nvPicPr>
        <p:blipFill rotWithShape="1">
          <a:blip r:embed="rId4"/>
          <a:stretch/>
        </p:blipFill>
        <p:spPr bwMode="auto">
          <a:xfrm>
            <a:off x="6647687" y="2258568"/>
            <a:ext cx="310896" cy="310896"/>
          </a:xfrm>
          <a:prstGeom prst="rect">
            <a:avLst/>
          </a:prstGeom>
        </p:spPr>
      </p:pic>
      <p:sp>
        <p:nvSpPr>
          <p:cNvPr id="1541768011" name="Text 8"/>
          <p:cNvSpPr/>
          <p:nvPr/>
        </p:nvSpPr>
        <p:spPr bwMode="auto">
          <a:xfrm>
            <a:off x="7315200" y="2011680"/>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Eigene verifizierte Mail-Domain</a:t>
            </a:r>
            <a:endParaRPr lang="en-US" sz="1500"/>
          </a:p>
        </p:txBody>
      </p:sp>
      <p:sp>
        <p:nvSpPr>
          <p:cNvPr id="1927716004" name="Text 9"/>
          <p:cNvSpPr/>
          <p:nvPr/>
        </p:nvSpPr>
        <p:spPr bwMode="auto">
          <a:xfrm>
            <a:off x="7315200" y="2395728"/>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Statt Sandbox-Absender — zuverlässige Zustellung.</a:t>
            </a:r>
            <a:endParaRPr lang="en-US" sz="1200"/>
          </a:p>
        </p:txBody>
      </p:sp>
      <p:sp>
        <p:nvSpPr>
          <p:cNvPr id="1226215737" name="Shape 10"/>
          <p:cNvSpPr/>
          <p:nvPr/>
        </p:nvSpPr>
        <p:spPr bwMode="auto">
          <a:xfrm>
            <a:off x="566928" y="3163824"/>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430006899" name="Shape 11"/>
          <p:cNvSpPr/>
          <p:nvPr/>
        </p:nvSpPr>
        <p:spPr bwMode="auto">
          <a:xfrm>
            <a:off x="841248" y="3438144"/>
            <a:ext cx="621792" cy="621792"/>
          </a:xfrm>
          <a:prstGeom prst="ellipse">
            <a:avLst/>
          </a:prstGeom>
          <a:solidFill>
            <a:srgbClr val="2563C9"/>
          </a:solidFill>
          <a:ln/>
          <a:effectLst>
            <a:outerShdw blurRad="76200" dist="25400" dir="5400000" sx="100000" sy="100000" kx="0" ky="0" algn="bl" rotWithShape="0">
              <a:srgbClr val="1B2A44">
                <a:alpha val="16000"/>
              </a:srgbClr>
            </a:outerShdw>
          </a:effectLst>
        </p:spPr>
      </p:sp>
      <p:pic>
        <p:nvPicPr>
          <p:cNvPr id="2074695205" name="Image 2" descr="preencoded.png"/>
          <p:cNvPicPr>
            <a:picLocks noChangeAspect="1"/>
          </p:cNvPicPr>
          <p:nvPr/>
        </p:nvPicPr>
        <p:blipFill rotWithShape="1">
          <a:blip r:embed="rId5"/>
          <a:stretch/>
        </p:blipFill>
        <p:spPr bwMode="auto">
          <a:xfrm>
            <a:off x="996696" y="3593592"/>
            <a:ext cx="310896" cy="310896"/>
          </a:xfrm>
          <a:prstGeom prst="rect">
            <a:avLst/>
          </a:prstGeom>
        </p:spPr>
      </p:pic>
      <p:sp>
        <p:nvSpPr>
          <p:cNvPr id="1600134666" name="Text 12"/>
          <p:cNvSpPr/>
          <p:nvPr/>
        </p:nvSpPr>
        <p:spPr bwMode="auto">
          <a:xfrm>
            <a:off x="1664208" y="3346704"/>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Echte Kiosk-Hardware</a:t>
            </a:r>
            <a:endParaRPr lang="en-US" sz="1500"/>
          </a:p>
        </p:txBody>
      </p:sp>
      <p:sp>
        <p:nvSpPr>
          <p:cNvPr id="884149484" name="Text 13"/>
          <p:cNvSpPr/>
          <p:nvPr/>
        </p:nvSpPr>
        <p:spPr bwMode="auto">
          <a:xfrm>
            <a:off x="1664208" y="3730752"/>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Fully Kiosk / Geführter Zugriff; Rollout auf alle 13 Einrichtungen.</a:t>
            </a:r>
            <a:endParaRPr lang="en-US" sz="1200"/>
          </a:p>
        </p:txBody>
      </p:sp>
      <p:sp>
        <p:nvSpPr>
          <p:cNvPr id="1677265567" name="Shape 14"/>
          <p:cNvSpPr/>
          <p:nvPr/>
        </p:nvSpPr>
        <p:spPr bwMode="auto">
          <a:xfrm>
            <a:off x="6217920" y="3163824"/>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266237634" name="Shape 15"/>
          <p:cNvSpPr/>
          <p:nvPr/>
        </p:nvSpPr>
        <p:spPr bwMode="auto">
          <a:xfrm>
            <a:off x="6492240" y="3438144"/>
            <a:ext cx="621792" cy="621792"/>
          </a:xfrm>
          <a:prstGeom prst="ellipse">
            <a:avLst/>
          </a:prstGeom>
          <a:solidFill>
            <a:srgbClr val="2E8B57"/>
          </a:solidFill>
          <a:ln/>
          <a:effectLst>
            <a:outerShdw blurRad="76200" dist="25400" dir="5400000" sx="100000" sy="100000" kx="0" ky="0" algn="bl" rotWithShape="0">
              <a:srgbClr val="1B2A44">
                <a:alpha val="16000"/>
              </a:srgbClr>
            </a:outerShdw>
          </a:effectLst>
        </p:spPr>
      </p:sp>
      <p:pic>
        <p:nvPicPr>
          <p:cNvPr id="1840899665" name="Image 3" descr="preencoded.png"/>
          <p:cNvPicPr>
            <a:picLocks noChangeAspect="1"/>
          </p:cNvPicPr>
          <p:nvPr/>
        </p:nvPicPr>
        <p:blipFill rotWithShape="1">
          <a:blip r:embed="rId6"/>
          <a:stretch/>
        </p:blipFill>
        <p:spPr bwMode="auto">
          <a:xfrm>
            <a:off x="6647687" y="3593592"/>
            <a:ext cx="310896" cy="310896"/>
          </a:xfrm>
          <a:prstGeom prst="rect">
            <a:avLst/>
          </a:prstGeom>
        </p:spPr>
      </p:pic>
      <p:sp>
        <p:nvSpPr>
          <p:cNvPr id="1486513782" name="Text 16"/>
          <p:cNvSpPr/>
          <p:nvPr/>
        </p:nvSpPr>
        <p:spPr bwMode="auto">
          <a:xfrm>
            <a:off x="7315200" y="3346704"/>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Automatisierte Löschjobs</a:t>
            </a:r>
            <a:endParaRPr lang="en-US" sz="1500"/>
          </a:p>
        </p:txBody>
      </p:sp>
      <p:sp>
        <p:nvSpPr>
          <p:cNvPr id="547444072" name="Text 17"/>
          <p:cNvSpPr/>
          <p:nvPr/>
        </p:nvSpPr>
        <p:spPr bwMode="auto">
          <a:xfrm>
            <a:off x="7315200" y="3730752"/>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Entsprechend dem Löschkonzept (12 Monate).</a:t>
            </a:r>
            <a:endParaRPr lang="en-US" sz="1200"/>
          </a:p>
        </p:txBody>
      </p:sp>
      <p:sp>
        <p:nvSpPr>
          <p:cNvPr id="1612655634" name="Shape 18"/>
          <p:cNvSpPr/>
          <p:nvPr/>
        </p:nvSpPr>
        <p:spPr bwMode="auto">
          <a:xfrm>
            <a:off x="566928" y="4498848"/>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1348333592" name="Shape 19"/>
          <p:cNvSpPr/>
          <p:nvPr/>
        </p:nvSpPr>
        <p:spPr bwMode="auto">
          <a:xfrm>
            <a:off x="841248" y="4773168"/>
            <a:ext cx="621792" cy="621792"/>
          </a:xfrm>
          <a:prstGeom prst="ellipse">
            <a:avLst/>
          </a:prstGeom>
          <a:solidFill>
            <a:srgbClr val="6B5BD2"/>
          </a:solidFill>
          <a:ln/>
          <a:effectLst>
            <a:outerShdw blurRad="76200" dist="25400" dir="5400000" sx="100000" sy="100000" kx="0" ky="0" algn="bl" rotWithShape="0">
              <a:srgbClr val="1B2A44">
                <a:alpha val="16000"/>
              </a:srgbClr>
            </a:outerShdw>
          </a:effectLst>
        </p:spPr>
      </p:sp>
      <p:pic>
        <p:nvPicPr>
          <p:cNvPr id="1857772786" name="Image 4" descr="preencoded.png"/>
          <p:cNvPicPr>
            <a:picLocks noChangeAspect="1"/>
          </p:cNvPicPr>
          <p:nvPr/>
        </p:nvPicPr>
        <p:blipFill rotWithShape="1">
          <a:blip r:embed="rId7"/>
          <a:stretch/>
        </p:blipFill>
        <p:spPr bwMode="auto">
          <a:xfrm>
            <a:off x="996696" y="4928616"/>
            <a:ext cx="310896" cy="310896"/>
          </a:xfrm>
          <a:prstGeom prst="rect">
            <a:avLst/>
          </a:prstGeom>
        </p:spPr>
      </p:pic>
      <p:sp>
        <p:nvSpPr>
          <p:cNvPr id="1925512491" name="Text 20"/>
          <p:cNvSpPr/>
          <p:nvPr/>
        </p:nvSpPr>
        <p:spPr bwMode="auto">
          <a:xfrm>
            <a:off x="1664208" y="4681728"/>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Kommentar &amp; Weiterleitung</a:t>
            </a:r>
            <a:endParaRPr lang="en-US" sz="1500"/>
          </a:p>
        </p:txBody>
      </p:sp>
      <p:sp>
        <p:nvSpPr>
          <p:cNvPr id="931842019" name="Text 21"/>
          <p:cNvSpPr/>
          <p:nvPr/>
        </p:nvSpPr>
        <p:spPr bwMode="auto">
          <a:xfrm>
            <a:off x="1664208" y="5065776"/>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In der Verwaltung (derzeit nur Lesen + Status).</a:t>
            </a:r>
            <a:endParaRPr lang="en-US" sz="1200"/>
          </a:p>
        </p:txBody>
      </p:sp>
      <p:sp>
        <p:nvSpPr>
          <p:cNvPr id="2049204622" name="Shape 22"/>
          <p:cNvSpPr/>
          <p:nvPr/>
        </p:nvSpPr>
        <p:spPr bwMode="auto">
          <a:xfrm>
            <a:off x="6217920" y="4498848"/>
            <a:ext cx="5486400" cy="1170432"/>
          </a:xfrm>
          <a:prstGeom prst="roundRect">
            <a:avLst>
              <a:gd name="adj" fmla="val 7813"/>
            </a:avLst>
          </a:prstGeom>
          <a:solidFill>
            <a:srgbClr val="FFFFFF"/>
          </a:solidFill>
          <a:ln w="12700">
            <a:solidFill>
              <a:srgbClr val="E1E8F1"/>
            </a:solidFill>
            <a:prstDash val="solid"/>
          </a:ln>
          <a:effectLst>
            <a:outerShdw blurRad="88900" dist="25400" dir="5400000" sx="100000" sy="100000" kx="0" ky="0" algn="bl" rotWithShape="0">
              <a:srgbClr val="1B2A44">
                <a:alpha val="10000"/>
              </a:srgbClr>
            </a:outerShdw>
          </a:effectLst>
        </p:spPr>
      </p:sp>
      <p:sp>
        <p:nvSpPr>
          <p:cNvPr id="901760100" name="Shape 23"/>
          <p:cNvSpPr/>
          <p:nvPr/>
        </p:nvSpPr>
        <p:spPr bwMode="auto">
          <a:xfrm>
            <a:off x="6492240" y="4773168"/>
            <a:ext cx="621792" cy="621792"/>
          </a:xfrm>
          <a:prstGeom prst="ellipse">
            <a:avLst/>
          </a:prstGeom>
          <a:solidFill>
            <a:srgbClr val="0E7C86"/>
          </a:solidFill>
          <a:ln/>
          <a:effectLst>
            <a:outerShdw blurRad="76200" dist="25400" dir="5400000" sx="100000" sy="100000" kx="0" ky="0" algn="bl" rotWithShape="0">
              <a:srgbClr val="1B2A44">
                <a:alpha val="16000"/>
              </a:srgbClr>
            </a:outerShdw>
          </a:effectLst>
        </p:spPr>
      </p:sp>
      <p:pic>
        <p:nvPicPr>
          <p:cNvPr id="744985940" name="Image 5" descr="preencoded.png"/>
          <p:cNvPicPr>
            <a:picLocks noChangeAspect="1"/>
          </p:cNvPicPr>
          <p:nvPr/>
        </p:nvPicPr>
        <p:blipFill rotWithShape="1">
          <a:blip r:embed="rId8"/>
          <a:stretch/>
        </p:blipFill>
        <p:spPr bwMode="auto">
          <a:xfrm>
            <a:off x="6647687" y="4928616"/>
            <a:ext cx="310896" cy="310896"/>
          </a:xfrm>
          <a:prstGeom prst="rect">
            <a:avLst/>
          </a:prstGeom>
        </p:spPr>
      </p:pic>
      <p:sp>
        <p:nvSpPr>
          <p:cNvPr id="2099635893" name="Text 24"/>
          <p:cNvSpPr/>
          <p:nvPr/>
        </p:nvSpPr>
        <p:spPr bwMode="auto">
          <a:xfrm>
            <a:off x="7315200" y="4681728"/>
            <a:ext cx="4206240" cy="384048"/>
          </a:xfrm>
          <a:prstGeom prst="rect">
            <a:avLst/>
          </a:prstGeom>
          <a:noFill/>
          <a:ln/>
        </p:spPr>
        <p:txBody>
          <a:bodyPr wrap="square" lIns="0" tIns="0" rIns="0" bIns="0" rtlCol="0" anchor="ctr"/>
          <a:lstStyle/>
          <a:p>
            <a:pPr marL="0" indent="0">
              <a:buNone/>
              <a:defRPr/>
            </a:pPr>
            <a:r>
              <a:rPr lang="en-US" sz="1500" b="1">
                <a:solidFill>
                  <a:srgbClr val="13233B"/>
                </a:solidFill>
                <a:latin typeface="Calibri"/>
                <a:ea typeface="Calibri"/>
                <a:cs typeface="Calibri"/>
              </a:rPr>
              <a:t>Barrierefreiheits-Feinschliff</a:t>
            </a:r>
            <a:endParaRPr lang="en-US" sz="1500"/>
          </a:p>
        </p:txBody>
      </p:sp>
      <p:sp>
        <p:nvSpPr>
          <p:cNvPr id="4474657" name="Text 25"/>
          <p:cNvSpPr/>
          <p:nvPr/>
        </p:nvSpPr>
        <p:spPr bwMode="auto">
          <a:xfrm>
            <a:off x="7315200" y="5065776"/>
            <a:ext cx="4206240" cy="512064"/>
          </a:xfrm>
          <a:prstGeom prst="rect">
            <a:avLst/>
          </a:prstGeom>
          <a:noFill/>
          <a:ln/>
        </p:spPr>
        <p:txBody>
          <a:bodyPr wrap="square" lIns="0" tIns="0" rIns="0" bIns="0" rtlCol="0" anchor="t"/>
          <a:lstStyle/>
          <a:p>
            <a:pPr marL="0" indent="0">
              <a:lnSpc>
                <a:spcPct val="103000"/>
              </a:lnSpc>
              <a:buNone/>
              <a:defRPr/>
            </a:pPr>
            <a:r>
              <a:rPr lang="en-US" sz="1200">
                <a:solidFill>
                  <a:srgbClr val="5A6B82"/>
                </a:solidFill>
                <a:latin typeface="Calibri"/>
                <a:ea typeface="Calibri"/>
                <a:cs typeface="Calibri"/>
              </a:rPr>
              <a:t>Touch-Größen, Kontrast, Screenreader auf echten Tablets.</a:t>
            </a:r>
            <a:endParaRPr lang="en-US" sz="1200"/>
          </a:p>
        </p:txBody>
      </p:sp>
      <p:sp>
        <p:nvSpPr>
          <p:cNvPr id="207757875" name="Text 26"/>
          <p:cNvSpPr/>
          <p:nvPr/>
        </p:nvSpPr>
        <p:spPr bwMode="auto">
          <a:xfrm>
            <a:off x="548640" y="6446520"/>
            <a:ext cx="8229600" cy="274320"/>
          </a:xfrm>
          <a:prstGeom prst="rect">
            <a:avLst/>
          </a:prstGeom>
          <a:noFill/>
          <a:ln/>
        </p:spPr>
        <p:txBody>
          <a:bodyPr wrap="square" lIns="0" tIns="0" rIns="0" bIns="0" rtlCol="0" anchor="ctr"/>
          <a:lstStyle/>
          <a:p>
            <a:pPr marL="0" indent="0" algn="l">
              <a:buNone/>
              <a:defRPr/>
            </a:pPr>
            <a:r>
              <a:rPr lang="en-US" sz="900">
                <a:solidFill>
                  <a:srgbClr val="5A6B82"/>
                </a:solidFill>
                <a:latin typeface="Calibri"/>
                <a:ea typeface="Calibri"/>
                <a:cs typeface="Calibri"/>
              </a:rPr>
              <a:t>Meine Stimme · HIT12 · AWE mit KI · Monstroxx / TagerTi</a:t>
            </a:r>
            <a:endParaRPr lang="en-US" sz="900"/>
          </a:p>
        </p:txBody>
      </p:sp>
      <p:sp>
        <p:nvSpPr>
          <p:cNvPr id="972717543" name="Text 27"/>
          <p:cNvSpPr/>
          <p:nvPr/>
        </p:nvSpPr>
        <p:spPr bwMode="auto">
          <a:xfrm>
            <a:off x="11338560" y="6446520"/>
            <a:ext cx="457200" cy="274320"/>
          </a:xfrm>
          <a:prstGeom prst="rect">
            <a:avLst/>
          </a:prstGeom>
          <a:noFill/>
          <a:ln/>
        </p:spPr>
        <p:txBody>
          <a:bodyPr wrap="square" lIns="0" tIns="0" rIns="0" bIns="0" rtlCol="0" anchor="ctr"/>
          <a:lstStyle/>
          <a:p>
            <a:pPr marL="0" indent="0" algn="r">
              <a:buNone/>
              <a:defRPr/>
            </a:pPr>
            <a:r>
              <a:rPr lang="en-US" sz="900">
                <a:solidFill>
                  <a:srgbClr val="5A6B82"/>
                </a:solidFill>
                <a:latin typeface="Calibri"/>
                <a:ea typeface="Calibri"/>
                <a:cs typeface="Calibri"/>
              </a:rPr>
              <a:t>22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112A4E"/>
        </a:solidFill>
      </p:bgPr>
    </p:bg>
    <p:spTree>
      <p:nvGrpSpPr>
        <p:cNvPr id="1" name=""/>
        <p:cNvGrpSpPr/>
        <p:nvPr/>
      </p:nvGrpSpPr>
      <p:grpSpPr bwMode="auto">
        <a:xfrm>
          <a:off x="0" y="0"/>
          <a:ext cx="0" cy="0"/>
          <a:chOff x="0" y="0"/>
          <a:chExt cx="0" cy="0"/>
        </a:xfrm>
      </p:grpSpPr>
      <p:sp>
        <p:nvSpPr>
          <p:cNvPr id="230289558" name="Shape 0"/>
          <p:cNvSpPr/>
          <p:nvPr/>
        </p:nvSpPr>
        <p:spPr bwMode="auto">
          <a:xfrm>
            <a:off x="777240" y="1057046"/>
            <a:ext cx="106680" cy="217627"/>
          </a:xfrm>
          <a:prstGeom prst="roundRect">
            <a:avLst>
              <a:gd name="adj" fmla="val 50000"/>
            </a:avLst>
          </a:prstGeom>
          <a:solidFill>
            <a:srgbClr val="2563C9"/>
          </a:solidFill>
          <a:ln/>
        </p:spPr>
      </p:sp>
      <p:sp>
        <p:nvSpPr>
          <p:cNvPr id="1621971167" name="Shape 1"/>
          <p:cNvSpPr/>
          <p:nvPr/>
        </p:nvSpPr>
        <p:spPr bwMode="auto">
          <a:xfrm>
            <a:off x="973756" y="952119"/>
            <a:ext cx="106680" cy="427482"/>
          </a:xfrm>
          <a:prstGeom prst="roundRect">
            <a:avLst>
              <a:gd name="adj" fmla="val 50000"/>
            </a:avLst>
          </a:prstGeom>
          <a:solidFill>
            <a:srgbClr val="F59E0B"/>
          </a:solidFill>
          <a:ln/>
        </p:spPr>
      </p:sp>
      <p:sp>
        <p:nvSpPr>
          <p:cNvPr id="1427633297" name="Shape 2"/>
          <p:cNvSpPr/>
          <p:nvPr/>
        </p:nvSpPr>
        <p:spPr bwMode="auto">
          <a:xfrm>
            <a:off x="1170272" y="835533"/>
            <a:ext cx="106680" cy="660654"/>
          </a:xfrm>
          <a:prstGeom prst="roundRect">
            <a:avLst>
              <a:gd name="adj" fmla="val 50000"/>
            </a:avLst>
          </a:prstGeom>
          <a:solidFill>
            <a:srgbClr val="3E6FD1"/>
          </a:solidFill>
          <a:ln/>
        </p:spPr>
      </p:sp>
      <p:sp>
        <p:nvSpPr>
          <p:cNvPr id="1852551093" name="Shape 3"/>
          <p:cNvSpPr/>
          <p:nvPr/>
        </p:nvSpPr>
        <p:spPr bwMode="auto">
          <a:xfrm>
            <a:off x="1366787" y="990981"/>
            <a:ext cx="106680" cy="349758"/>
          </a:xfrm>
          <a:prstGeom prst="roundRect">
            <a:avLst>
              <a:gd name="adj" fmla="val 50000"/>
            </a:avLst>
          </a:prstGeom>
          <a:solidFill>
            <a:srgbClr val="2E8B57"/>
          </a:solidFill>
          <a:ln/>
        </p:spPr>
      </p:sp>
      <p:sp>
        <p:nvSpPr>
          <p:cNvPr id="619102459" name="Shape 4"/>
          <p:cNvSpPr/>
          <p:nvPr/>
        </p:nvSpPr>
        <p:spPr bwMode="auto">
          <a:xfrm>
            <a:off x="1563303" y="777240"/>
            <a:ext cx="106680" cy="777240"/>
          </a:xfrm>
          <a:prstGeom prst="roundRect">
            <a:avLst>
              <a:gd name="adj" fmla="val 50000"/>
            </a:avLst>
          </a:prstGeom>
          <a:solidFill>
            <a:srgbClr val="2563C9"/>
          </a:solidFill>
          <a:ln/>
        </p:spPr>
      </p:sp>
      <p:sp>
        <p:nvSpPr>
          <p:cNvPr id="1065786268" name="Shape 5"/>
          <p:cNvSpPr/>
          <p:nvPr/>
        </p:nvSpPr>
        <p:spPr bwMode="auto">
          <a:xfrm>
            <a:off x="1759819" y="924916"/>
            <a:ext cx="106680" cy="481889"/>
          </a:xfrm>
          <a:prstGeom prst="roundRect">
            <a:avLst>
              <a:gd name="adj" fmla="val 50000"/>
            </a:avLst>
          </a:prstGeom>
          <a:solidFill>
            <a:srgbClr val="F59E0B"/>
          </a:solidFill>
          <a:ln/>
        </p:spPr>
      </p:sp>
      <p:sp>
        <p:nvSpPr>
          <p:cNvPr id="1434311329" name="Shape 6"/>
          <p:cNvSpPr/>
          <p:nvPr/>
        </p:nvSpPr>
        <p:spPr bwMode="auto">
          <a:xfrm>
            <a:off x="1956335" y="1029843"/>
            <a:ext cx="106680" cy="272034"/>
          </a:xfrm>
          <a:prstGeom prst="roundRect">
            <a:avLst>
              <a:gd name="adj" fmla="val 50000"/>
            </a:avLst>
          </a:prstGeom>
          <a:solidFill>
            <a:srgbClr val="3E6FD1"/>
          </a:solidFill>
          <a:ln/>
        </p:spPr>
      </p:sp>
      <p:sp>
        <p:nvSpPr>
          <p:cNvPr id="804284641" name="Shape 7"/>
          <p:cNvSpPr/>
          <p:nvPr/>
        </p:nvSpPr>
        <p:spPr bwMode="auto">
          <a:xfrm>
            <a:off x="2152851" y="874395"/>
            <a:ext cx="106680" cy="582930"/>
          </a:xfrm>
          <a:prstGeom prst="roundRect">
            <a:avLst>
              <a:gd name="adj" fmla="val 50000"/>
            </a:avLst>
          </a:prstGeom>
          <a:solidFill>
            <a:srgbClr val="2E8B57"/>
          </a:solidFill>
          <a:ln/>
        </p:spPr>
      </p:sp>
      <p:sp>
        <p:nvSpPr>
          <p:cNvPr id="147262559" name="Shape 8"/>
          <p:cNvSpPr/>
          <p:nvPr/>
        </p:nvSpPr>
        <p:spPr bwMode="auto">
          <a:xfrm>
            <a:off x="2349366" y="971550"/>
            <a:ext cx="106680" cy="388620"/>
          </a:xfrm>
          <a:prstGeom prst="roundRect">
            <a:avLst>
              <a:gd name="adj" fmla="val 50000"/>
            </a:avLst>
          </a:prstGeom>
          <a:solidFill>
            <a:srgbClr val="2563C9"/>
          </a:solidFill>
          <a:ln/>
        </p:spPr>
      </p:sp>
      <p:sp>
        <p:nvSpPr>
          <p:cNvPr id="867257748" name="Shape 9"/>
          <p:cNvSpPr/>
          <p:nvPr/>
        </p:nvSpPr>
        <p:spPr bwMode="auto">
          <a:xfrm>
            <a:off x="2545882" y="816102"/>
            <a:ext cx="106680" cy="699516"/>
          </a:xfrm>
          <a:prstGeom prst="roundRect">
            <a:avLst>
              <a:gd name="adj" fmla="val 50000"/>
            </a:avLst>
          </a:prstGeom>
          <a:solidFill>
            <a:srgbClr val="F59E0B"/>
          </a:solidFill>
          <a:ln/>
        </p:spPr>
      </p:sp>
      <p:sp>
        <p:nvSpPr>
          <p:cNvPr id="139627206" name="Shape 10"/>
          <p:cNvSpPr/>
          <p:nvPr/>
        </p:nvSpPr>
        <p:spPr bwMode="auto">
          <a:xfrm>
            <a:off x="2742398" y="1010412"/>
            <a:ext cx="106680" cy="310896"/>
          </a:xfrm>
          <a:prstGeom prst="roundRect">
            <a:avLst>
              <a:gd name="adj" fmla="val 50000"/>
            </a:avLst>
          </a:prstGeom>
          <a:solidFill>
            <a:srgbClr val="3E6FD1"/>
          </a:solidFill>
          <a:ln/>
        </p:spPr>
      </p:sp>
      <p:sp>
        <p:nvSpPr>
          <p:cNvPr id="227144326" name="Shape 11"/>
          <p:cNvSpPr/>
          <p:nvPr/>
        </p:nvSpPr>
        <p:spPr bwMode="auto">
          <a:xfrm>
            <a:off x="2938914" y="901598"/>
            <a:ext cx="106680" cy="528523"/>
          </a:xfrm>
          <a:prstGeom prst="roundRect">
            <a:avLst>
              <a:gd name="adj" fmla="val 50000"/>
            </a:avLst>
          </a:prstGeom>
          <a:solidFill>
            <a:srgbClr val="2E8B57"/>
          </a:solidFill>
          <a:ln/>
        </p:spPr>
      </p:sp>
      <p:sp>
        <p:nvSpPr>
          <p:cNvPr id="101023955" name="Shape 12"/>
          <p:cNvSpPr/>
          <p:nvPr/>
        </p:nvSpPr>
        <p:spPr bwMode="auto">
          <a:xfrm>
            <a:off x="3135428" y="1049274"/>
            <a:ext cx="106680" cy="233172"/>
          </a:xfrm>
          <a:prstGeom prst="roundRect">
            <a:avLst>
              <a:gd name="adj" fmla="val 50000"/>
            </a:avLst>
          </a:prstGeom>
          <a:solidFill>
            <a:srgbClr val="2563C9"/>
          </a:solidFill>
          <a:ln/>
        </p:spPr>
      </p:sp>
      <p:sp>
        <p:nvSpPr>
          <p:cNvPr id="236529584" name="Shape 13"/>
          <p:cNvSpPr/>
          <p:nvPr/>
        </p:nvSpPr>
        <p:spPr bwMode="auto">
          <a:xfrm>
            <a:off x="3331945" y="847192"/>
            <a:ext cx="106680" cy="637337"/>
          </a:xfrm>
          <a:prstGeom prst="roundRect">
            <a:avLst>
              <a:gd name="adj" fmla="val 50000"/>
            </a:avLst>
          </a:prstGeom>
          <a:solidFill>
            <a:srgbClr val="F59E0B"/>
          </a:solidFill>
          <a:ln/>
        </p:spPr>
      </p:sp>
      <p:sp>
        <p:nvSpPr>
          <p:cNvPr id="1702556815" name="Shape 14"/>
          <p:cNvSpPr/>
          <p:nvPr/>
        </p:nvSpPr>
        <p:spPr bwMode="auto">
          <a:xfrm>
            <a:off x="3528461" y="963778"/>
            <a:ext cx="106680" cy="404165"/>
          </a:xfrm>
          <a:prstGeom prst="roundRect">
            <a:avLst>
              <a:gd name="adj" fmla="val 50000"/>
            </a:avLst>
          </a:prstGeom>
          <a:solidFill>
            <a:srgbClr val="3E6FD1"/>
          </a:solidFill>
          <a:ln/>
        </p:spPr>
      </p:sp>
      <p:sp>
        <p:nvSpPr>
          <p:cNvPr id="414228898" name="Shape 15"/>
          <p:cNvSpPr/>
          <p:nvPr/>
        </p:nvSpPr>
        <p:spPr bwMode="auto">
          <a:xfrm>
            <a:off x="3724977" y="796671"/>
            <a:ext cx="106680" cy="738378"/>
          </a:xfrm>
          <a:prstGeom prst="roundRect">
            <a:avLst>
              <a:gd name="adj" fmla="val 50000"/>
            </a:avLst>
          </a:prstGeom>
          <a:solidFill>
            <a:srgbClr val="2E8B57"/>
          </a:solidFill>
          <a:ln/>
        </p:spPr>
      </p:sp>
      <p:sp>
        <p:nvSpPr>
          <p:cNvPr id="171680638" name="Shape 16"/>
          <p:cNvSpPr/>
          <p:nvPr/>
        </p:nvSpPr>
        <p:spPr bwMode="auto">
          <a:xfrm>
            <a:off x="3921493" y="994867"/>
            <a:ext cx="106680" cy="341986"/>
          </a:xfrm>
          <a:prstGeom prst="roundRect">
            <a:avLst>
              <a:gd name="adj" fmla="val 50000"/>
            </a:avLst>
          </a:prstGeom>
          <a:solidFill>
            <a:srgbClr val="2563C9"/>
          </a:solidFill>
          <a:ln/>
        </p:spPr>
      </p:sp>
      <p:sp>
        <p:nvSpPr>
          <p:cNvPr id="1955518087" name="Shape 17"/>
          <p:cNvSpPr/>
          <p:nvPr/>
        </p:nvSpPr>
        <p:spPr bwMode="auto">
          <a:xfrm>
            <a:off x="4118008" y="932688"/>
            <a:ext cx="106680" cy="466344"/>
          </a:xfrm>
          <a:prstGeom prst="roundRect">
            <a:avLst>
              <a:gd name="adj" fmla="val 50000"/>
            </a:avLst>
          </a:prstGeom>
          <a:solidFill>
            <a:srgbClr val="F59E0B"/>
          </a:solidFill>
          <a:ln/>
        </p:spPr>
      </p:sp>
      <p:sp>
        <p:nvSpPr>
          <p:cNvPr id="479166635" name="Shape 18"/>
          <p:cNvSpPr/>
          <p:nvPr/>
        </p:nvSpPr>
        <p:spPr bwMode="auto">
          <a:xfrm>
            <a:off x="4314524" y="1033729"/>
            <a:ext cx="106680" cy="264262"/>
          </a:xfrm>
          <a:prstGeom prst="roundRect">
            <a:avLst>
              <a:gd name="adj" fmla="val 50000"/>
            </a:avLst>
          </a:prstGeom>
          <a:solidFill>
            <a:srgbClr val="3E6FD1"/>
          </a:solidFill>
          <a:ln/>
        </p:spPr>
      </p:sp>
      <p:sp>
        <p:nvSpPr>
          <p:cNvPr id="116907460" name="Shape 19"/>
          <p:cNvSpPr/>
          <p:nvPr/>
        </p:nvSpPr>
        <p:spPr bwMode="auto">
          <a:xfrm>
            <a:off x="4511040" y="893825"/>
            <a:ext cx="106680" cy="544068"/>
          </a:xfrm>
          <a:prstGeom prst="roundRect">
            <a:avLst>
              <a:gd name="adj" fmla="val 50000"/>
            </a:avLst>
          </a:prstGeom>
          <a:solidFill>
            <a:srgbClr val="2E8B57"/>
          </a:solidFill>
          <a:ln/>
        </p:spPr>
      </p:sp>
      <p:sp>
        <p:nvSpPr>
          <p:cNvPr id="931311689" name="Text 20"/>
          <p:cNvSpPr/>
          <p:nvPr/>
        </p:nvSpPr>
        <p:spPr bwMode="auto">
          <a:xfrm>
            <a:off x="777240" y="1691640"/>
            <a:ext cx="10607040" cy="1097280"/>
          </a:xfrm>
          <a:prstGeom prst="rect">
            <a:avLst/>
          </a:prstGeom>
          <a:noFill/>
          <a:ln/>
        </p:spPr>
        <p:txBody>
          <a:bodyPr wrap="square" lIns="0" tIns="0" rIns="0" bIns="0" rtlCol="0" anchor="ctr"/>
          <a:lstStyle/>
          <a:p>
            <a:pPr marL="0" indent="0">
              <a:buNone/>
              <a:defRPr/>
            </a:pPr>
            <a:r>
              <a:rPr lang="en-US" sz="6000" b="1">
                <a:solidFill>
                  <a:srgbClr val="FFFFFF"/>
                </a:solidFill>
                <a:latin typeface="Cambria"/>
                <a:ea typeface="Cambria"/>
                <a:cs typeface="Cambria"/>
              </a:rPr>
              <a:t>Vielen Dank</a:t>
            </a:r>
            <a:endParaRPr lang="en-US" sz="6000"/>
          </a:p>
        </p:txBody>
      </p:sp>
      <p:sp>
        <p:nvSpPr>
          <p:cNvPr id="719766904" name="Text 21"/>
          <p:cNvSpPr/>
          <p:nvPr/>
        </p:nvSpPr>
        <p:spPr bwMode="auto">
          <a:xfrm>
            <a:off x="777240" y="2880360"/>
            <a:ext cx="9875520" cy="777240"/>
          </a:xfrm>
          <a:prstGeom prst="rect">
            <a:avLst/>
          </a:prstGeom>
          <a:noFill/>
          <a:ln/>
        </p:spPr>
        <p:txBody>
          <a:bodyPr wrap="square" lIns="0" tIns="0" rIns="0" bIns="0" rtlCol="0" anchor="ctr"/>
          <a:lstStyle/>
          <a:p>
            <a:pPr marL="0" indent="0">
              <a:lnSpc>
                <a:spcPct val="110000"/>
              </a:lnSpc>
              <a:buNone/>
              <a:defRPr/>
            </a:pPr>
            <a:r>
              <a:rPr lang="en-US" sz="1700">
                <a:solidFill>
                  <a:srgbClr val="C7D6EE"/>
                </a:solidFill>
                <a:latin typeface="Calibri"/>
                <a:ea typeface="Calibri"/>
                <a:cs typeface="Calibri"/>
              </a:rPr>
              <a:t>Meine Stimme gibt Menschen, die sonst überhört werden, eine niederschwellige, sichere und selbstbestimmte Möglichkeit, sich zu beschweren.</a:t>
            </a:r>
            <a:endParaRPr lang="en-US" sz="1700"/>
          </a:p>
        </p:txBody>
      </p:sp>
      <p:sp>
        <p:nvSpPr>
          <p:cNvPr id="822532220" name="Shape 22"/>
          <p:cNvSpPr/>
          <p:nvPr/>
        </p:nvSpPr>
        <p:spPr bwMode="auto">
          <a:xfrm>
            <a:off x="777240" y="3886200"/>
            <a:ext cx="5120640" cy="658368"/>
          </a:xfrm>
          <a:prstGeom prst="roundRect">
            <a:avLst>
              <a:gd name="adj" fmla="val 13889"/>
            </a:avLst>
          </a:prstGeom>
          <a:solidFill>
            <a:srgbClr val="1B3763"/>
          </a:solidFill>
          <a:ln w="12700">
            <a:solidFill>
              <a:srgbClr val="2E4F82"/>
            </a:solidFill>
            <a:prstDash val="solid"/>
          </a:ln>
        </p:spPr>
      </p:sp>
      <p:pic>
        <p:nvPicPr>
          <p:cNvPr id="1837151240" name="Image 0" descr="preencoded.png"/>
          <p:cNvPicPr>
            <a:picLocks noChangeAspect="1"/>
          </p:cNvPicPr>
          <p:nvPr/>
        </p:nvPicPr>
        <p:blipFill rotWithShape="1">
          <a:blip r:embed="rId3"/>
          <a:stretch/>
        </p:blipFill>
        <p:spPr bwMode="auto">
          <a:xfrm>
            <a:off x="996696" y="4050792"/>
            <a:ext cx="329184" cy="329184"/>
          </a:xfrm>
          <a:prstGeom prst="rect">
            <a:avLst/>
          </a:prstGeom>
        </p:spPr>
      </p:pic>
      <p:sp>
        <p:nvSpPr>
          <p:cNvPr id="2012719301" name="Text 23"/>
          <p:cNvSpPr/>
          <p:nvPr/>
        </p:nvSpPr>
        <p:spPr bwMode="auto">
          <a:xfrm>
            <a:off x="1453896" y="3886200"/>
            <a:ext cx="4297680" cy="658368"/>
          </a:xfrm>
          <a:prstGeom prst="rect">
            <a:avLst/>
          </a:prstGeom>
          <a:noFill/>
          <a:ln/>
        </p:spPr>
        <p:txBody>
          <a:bodyPr wrap="square" lIns="0" tIns="0" rIns="0" bIns="0" rtlCol="0" anchor="ctr"/>
          <a:lstStyle/>
          <a:p>
            <a:pPr marL="0" indent="0">
              <a:buNone/>
              <a:defRPr/>
            </a:pPr>
            <a:r>
              <a:rPr lang="en-US" sz="1300" b="1">
                <a:solidFill>
                  <a:srgbClr val="9FB6DD"/>
                </a:solidFill>
                <a:latin typeface="Calibri"/>
                <a:ea typeface="Calibri"/>
                <a:cs typeface="Calibri"/>
              </a:rPr>
              <a:t>Live-Demo  </a:t>
            </a:r>
            <a:r>
              <a:rPr lang="en-US" sz="1300">
                <a:solidFill>
                  <a:srgbClr val="FFFFFF"/>
                </a:solidFill>
                <a:latin typeface="Calibri"/>
                <a:ea typeface="Calibri"/>
                <a:cs typeface="Calibri"/>
              </a:rPr>
              <a:t>meine-stimme.jutio.org/</a:t>
            </a:r>
            <a:r>
              <a:rPr lang="de-DE" sz="1300">
                <a:solidFill>
                  <a:srgbClr val="FFFFFF"/>
                </a:solidFill>
                <a:latin typeface="Calibri"/>
                <a:ea typeface="Calibri"/>
                <a:cs typeface="Calibri"/>
              </a:rPr>
              <a:t>test</a:t>
            </a:r>
            <a:endParaRPr lang="en-US" sz="1300"/>
          </a:p>
        </p:txBody>
      </p:sp>
      <p:sp>
        <p:nvSpPr>
          <p:cNvPr id="1255155848" name="Shape 24"/>
          <p:cNvSpPr/>
          <p:nvPr/>
        </p:nvSpPr>
        <p:spPr bwMode="auto">
          <a:xfrm>
            <a:off x="6080760" y="3886200"/>
            <a:ext cx="5120640" cy="658368"/>
          </a:xfrm>
          <a:prstGeom prst="roundRect">
            <a:avLst>
              <a:gd name="adj" fmla="val 13889"/>
            </a:avLst>
          </a:prstGeom>
          <a:solidFill>
            <a:srgbClr val="1B3763"/>
          </a:solidFill>
          <a:ln w="12700">
            <a:solidFill>
              <a:srgbClr val="2E4F82"/>
            </a:solidFill>
            <a:prstDash val="solid"/>
          </a:ln>
        </p:spPr>
      </p:sp>
      <p:pic>
        <p:nvPicPr>
          <p:cNvPr id="1847971742" name="Image 1" descr="preencoded.png"/>
          <p:cNvPicPr>
            <a:picLocks noChangeAspect="1"/>
          </p:cNvPicPr>
          <p:nvPr/>
        </p:nvPicPr>
        <p:blipFill rotWithShape="1">
          <a:blip r:embed="rId4"/>
          <a:stretch/>
        </p:blipFill>
        <p:spPr bwMode="auto">
          <a:xfrm>
            <a:off x="6300216" y="4050792"/>
            <a:ext cx="329184" cy="329184"/>
          </a:xfrm>
          <a:prstGeom prst="rect">
            <a:avLst/>
          </a:prstGeom>
        </p:spPr>
      </p:pic>
      <p:sp>
        <p:nvSpPr>
          <p:cNvPr id="177082411" name="Text 25"/>
          <p:cNvSpPr/>
          <p:nvPr/>
        </p:nvSpPr>
        <p:spPr bwMode="auto">
          <a:xfrm>
            <a:off x="6757416" y="3886200"/>
            <a:ext cx="4297680" cy="658368"/>
          </a:xfrm>
          <a:prstGeom prst="rect">
            <a:avLst/>
          </a:prstGeom>
          <a:noFill/>
          <a:ln/>
        </p:spPr>
        <p:txBody>
          <a:bodyPr wrap="square" lIns="0" tIns="0" rIns="0" bIns="0" rtlCol="0" anchor="ctr"/>
          <a:lstStyle/>
          <a:p>
            <a:pPr marL="0" indent="0">
              <a:buNone/>
              <a:defRPr/>
            </a:pPr>
            <a:r>
              <a:rPr lang="en-US" sz="1300" b="1">
                <a:solidFill>
                  <a:srgbClr val="9FB6DD"/>
                </a:solidFill>
                <a:latin typeface="Calibri"/>
                <a:ea typeface="Calibri"/>
                <a:cs typeface="Calibri"/>
              </a:rPr>
              <a:t>Code  </a:t>
            </a:r>
            <a:r>
              <a:rPr lang="en-US" sz="1300">
                <a:solidFill>
                  <a:srgbClr val="FFFFFF"/>
                </a:solidFill>
                <a:latin typeface="Calibri"/>
                <a:ea typeface="Calibri"/>
                <a:cs typeface="Calibri"/>
              </a:rPr>
              <a:t>github.com/Monstroxx/Meine_Stimme</a:t>
            </a:r>
            <a:endParaRPr lang="en-US" sz="1300"/>
          </a:p>
        </p:txBody>
      </p:sp>
      <p:sp>
        <p:nvSpPr>
          <p:cNvPr id="1438633511" name="Text 26"/>
          <p:cNvSpPr/>
          <p:nvPr/>
        </p:nvSpPr>
        <p:spPr bwMode="auto">
          <a:xfrm>
            <a:off x="777240" y="4892039"/>
            <a:ext cx="10058400" cy="274320"/>
          </a:xfrm>
          <a:prstGeom prst="rect">
            <a:avLst/>
          </a:prstGeom>
          <a:noFill/>
          <a:ln/>
        </p:spPr>
        <p:txBody>
          <a:bodyPr wrap="square" lIns="0" tIns="0" rIns="0" bIns="0" rtlCol="0" anchor="ctr"/>
          <a:lstStyle/>
          <a:p>
            <a:pPr marL="0" indent="0">
              <a:buNone/>
              <a:defRPr/>
            </a:pPr>
            <a:r>
              <a:rPr lang="en-US" sz="1150" b="1" spc="150">
                <a:solidFill>
                  <a:srgbClr val="F59E0B"/>
                </a:solidFill>
                <a:latin typeface="Calibri"/>
                <a:ea typeface="Calibri"/>
                <a:cs typeface="Calibri"/>
              </a:rPr>
              <a:t>QUELLEN &amp; VORBILDER</a:t>
            </a:r>
            <a:endParaRPr lang="en-US" sz="1150"/>
          </a:p>
        </p:txBody>
      </p:sp>
      <p:sp>
        <p:nvSpPr>
          <p:cNvPr id="1685686062" name="Text 27"/>
          <p:cNvSpPr/>
          <p:nvPr/>
        </p:nvSpPr>
        <p:spPr bwMode="auto">
          <a:xfrm>
            <a:off x="777240" y="5193792"/>
            <a:ext cx="10607040" cy="868680"/>
          </a:xfrm>
          <a:prstGeom prst="rect">
            <a:avLst/>
          </a:prstGeom>
          <a:noFill/>
          <a:ln/>
        </p:spPr>
        <p:txBody>
          <a:bodyPr wrap="square" lIns="0" tIns="0" rIns="0" bIns="0" rtlCol="0" anchor="ctr"/>
          <a:lstStyle/>
          <a:p>
            <a:pPr marL="0" indent="0">
              <a:lnSpc>
                <a:spcPct val="112000"/>
              </a:lnSpc>
              <a:buNone/>
              <a:defRPr/>
            </a:pPr>
            <a:r>
              <a:rPr lang="en-US" sz="1150">
                <a:solidFill>
                  <a:srgbClr val="9FB6DD"/>
                </a:solidFill>
                <a:latin typeface="Calibri"/>
                <a:ea typeface="Calibri"/>
                <a:cs typeface="Calibri"/>
              </a:rPr>
              <a:t>Mebis (barrierefreie Bedienung)  ·  Papierbogen „Besser werden“ (Lebenshilfe NRW)  ·  METACOM-Symbole  ·  Whisper / Transformers.js (OpenAI, Xenova)  ·  React · Vite · Tailwind · Zustand · lucide-react  ·  Supabase · Resend · Vercel  ·  MDN (MediaRecorder, Web Speech)  ·  BTHG §§ 7, 8</a:t>
            </a:r>
            <a:endParaRPr lang="en-US" sz="1150"/>
          </a:p>
        </p:txBody>
      </p:sp>
      <p:sp>
        <p:nvSpPr>
          <p:cNvPr id="1629831382" name="Text 28"/>
          <p:cNvSpPr/>
          <p:nvPr/>
        </p:nvSpPr>
        <p:spPr bwMode="auto">
          <a:xfrm>
            <a:off x="777240" y="6144768"/>
            <a:ext cx="10607040" cy="320040"/>
          </a:xfrm>
          <a:prstGeom prst="rect">
            <a:avLst/>
          </a:prstGeom>
          <a:noFill/>
          <a:ln/>
        </p:spPr>
        <p:txBody>
          <a:bodyPr wrap="square" lIns="0" tIns="0" rIns="0" bIns="0" rtlCol="0" anchor="ctr"/>
          <a:lstStyle/>
          <a:p>
            <a:pPr marL="0" indent="0">
              <a:buNone/>
              <a:defRPr/>
            </a:pPr>
            <a:r>
              <a:rPr lang="en-US" sz="1100" b="1" i="1">
                <a:solidFill>
                  <a:srgbClr val="8FA6CE"/>
                </a:solidFill>
                <a:latin typeface="Calibri"/>
                <a:ea typeface="Calibri"/>
                <a:cs typeface="Calibri"/>
              </a:rPr>
              <a:t>KI-Assistenz bei der Entwicklung:  </a:t>
            </a:r>
            <a:r>
              <a:rPr lang="en-US" sz="1100" i="1">
                <a:solidFill>
                  <a:srgbClr val="8FA6CE"/>
                </a:solidFill>
                <a:latin typeface="Calibri"/>
                <a:ea typeface="Calibri"/>
                <a:cs typeface="Calibri"/>
              </a:rPr>
              <a:t>Claude (Anthropic)</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Meine Stimme</dc:title>
  <dc:subject>PptxGenJS Presentation</dc:subject>
  <dc:creator>Monstroxx / TagerTi</dc:creator>
  <cp:lastModifiedBy/>
  <cp:revision>3</cp:revision>
  <dcterms:created xsi:type="dcterms:W3CDTF">2026-07-01T07:02:48Z</dcterms:created>
  <dcterms:modified xsi:type="dcterms:W3CDTF">2026-07-01T08:34:17Z</dcterms:modified>
</cp:coreProperties>
</file>